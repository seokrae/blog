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Jev는 TypeSafe AI가 2026-09-15에 발표한 모델입니다. 오늘은 처음 접하는 개발자를 위한 입문으로, 무엇이고 어떻게 동작하고 어디에 맞는지를 설계 의도의 순서대로 따라가 보겠습니다. 화면의 세 단어 Choice, Score, Noul은 Jev가 받는 질문의 세 유형이에요. 발표 중간에 다시 나옵니다. 원문은 블로그의 입문편이고, 이 발표는 그 글을 슬라이드로 옮긴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TypeSafe AI가 Jev를 발표하면서 회사 블로그 첫머리에 던진 질문입니다. 모델 성능이 아니라 자동화가 따라오지 않는 이유를 묻고 있어요. 벤더의 답은 더 똑똑한 대화 모델이 아니라 다른 인터페이스였습니다. 같은 글의 결말부는 회사를 세운 이유를 "AI needs an interface software could depend on"이라고 적습니다. Jev는 그 인터페이스를 위해 만든 첫 모델이에요.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이 발표의 성격을 밝혀 둡니다. 저는 Jev를 직접 호출해 보지 않았습니다. 그래서 화면에 나오는 응답 값은 전부 벤더 문서의 예시이고, 제가 호출해서 얻은 값이 아니에요. 속도나 가격처럼 벤더가 수치로 내세운 것은 벤더의 주장으로만 다루고 대부분 싣지 않았습니다. 이 발표는 설계 의도를 따라가는 데 집중합니다.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자료에는 이름이 둘 나옵니다. System One은 부류의 이름이고, Jev는 그 부류의 첫 모델이에요. 개념 문서의 정의를 보면 핵심은 두 단어입니다. 빠르고 구조화된, 그리고 소프트웨어가 곧바로 쓸 수 있는 결정입니다. 이 부류의 모델은 state(평가할 내용)를 받아 타입이 정해진 답과 확률을 돌려줍니다. 사람이 읽을 문장을 쓰는 모델이 아니라는 점이 출발점이에요.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소개 문서가 이 모델이 문장을 버린 이유를 설명합니다. LLM은 사람이 읽을 텍스트를 만들도록 설계됐는데, 코드가 소비할 판단을 텍스트로 받으면 그 텍스트를 코드가 기댈 수 있는 값으로 되돌리는 파싱과 검증이 매번 따라붙어요. 프롬프트에 JSON으로만 답하라고 적고, 돌아온 문자열을 파싱하고, 형식이 깨지면 다시 부르는 코드가 그 흔적입니다. Jev는 그 왕복을 인터페이스에서 없앴습니다. 비교표에는 비용과 속도의 우열을 적은 행도 있지만 전부 벤더의 주장이라 옮기지 않았습니다. 이 글이 기대는 것은 후보를 미리 정하고 그 안에서 답한다는 설계 사실뿐입니다.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 문서의 예시를 한 장의 그림으로 옮겼습니다. 왼쪽의 state가 고객 티켓 원문이고, 가운데가 Jev, 오른쪽이 이 답을 받는 코드예요. 요청 하나에 질문 세 개가 들어갑니다. 질문 키(department, frustration, is_urgent)는 호출하는 쪽이 지은 이름이고, 질문마다 유형이 달라요. Choice는 선택지, Score는 순서 있는 단계, Noul은 예 아니면 아니오입니다. 세 질문은 같은 state를 보고 따로 평가되어, 서로의 답을 보지 못합니다. 돌아오는 답은 같은 키 아래로 들어오고, 오른쪽 코드는 그 값을 파싱 없이 곧바로 분기에 씁니다. Choice는 경로 선택에, Score는 문턱 비교에, Noul은 if 한 줄에 대응해요. 응답의 model 필드에는 실제로 답한 버전 jev-1.13.0이 찍힙니다. 다시 말하지만 이 값들은 문서의 예시이고 직접 호출한 결과가 아닙니다. 화면의 질문 문구는 원문 영어 instructions를 우리말로 줄여 쓴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돌려받는 값은 유형마다 읽는 법이 다르지만, 셋 모두 호출하는 쪽이 적은 후보 위의 확률에서 나온 값입니다. Choice는 막대 가운데 가장 긴 것이 choice이고 막대의 합은 1이에요. Score의 1.05는 1.05라는 레벨이 있다는 뜻이 아닙니다. API 문서의 다른 예시에서 레벨 0, 1, 2의 확률이 0.0, 0.95, 0.05일 때 score가 1.05였는데, 0×0.0 + 1×0.95 + 2×0.05를 계산하면 정확히 그 값이 나옵니다. 그림에서 핀이 레벨 1 쪽으로 바짝 붙은 이유예요. Noul은 질문 유형 문서가 못을 박습니다. 0.5는 중간 정도가 아니라 반반이라고요. 확신도는 답이 이미 주는 분포에서 계산한 통계이고, Noul은 값 자체가 확률이라 확신도가 따로 없습니다. 발표 글의 비교표는 모든 답에 확신도가 붙는다고 적었지만 API 문서와 어긋나서, 여기서는 문서를 따랐습니다.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유형을 고르는 기준은 입력이 아니라 답을 받을 코드에서 나옵니다. 질문 유형 문서의 문장을 옮기면 이렇습니다. 두 유형이 다 맞아 보이면 답을 코드가 곧바로 처리할 수 있는 쪽을 고르라고요. 왼쪽이 답의 모양이고 오른쪽이 그 답을 받는 코드의 모양입니다. refund, rebook, information 사이의 Choice는 코드 경로 셋으로 갈라지고, 고객 불만 Score는 문턱 하나로 자르며, Noul은 if 하나에 대응해요. 이 발표의 제목을 여기서 가져왔습니다. 답의 모양이 곧 코드의 모양이고, 그 모양을 정하는 쪽은 호출하는 쪽입니다. 후보 목록이 모든 입력을 덮지 못할 수 있으면 other나 none of the above 선택지를 두라는 권고도 같이 기억해 두세요. 답은 언제나 적어 보낸 후보 안에서만 나옵니다. 문턱을 얼마로 둘지는 이 슬라이드에서 다루지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입문자가 의외로 여길 사실 하나가 이 분업을 선명하게 보여 줍니다. 질문에 붙인 키는 모델에게 전달되지 않아요. 그림의 왼쪽 호박색 구역이 코드이고, 청록색 구역이 모델입니다. 코드는 키와 질문 문장을 한 쌍으로 쥐고 있지만, 선을 넘어 모델로 가는 것은 질문 문장뿐이에요. 문서의 문장은 이렇습니다. Question IDs are for your code. They are not sent to the model. Write the complete question in instructions, even when the ID seems self-explanatory. quickstart 예시의 is_urgent라는 키는 사람이 보기에 질문 전체를 말해 주는 것 같지만, 모델이 받는 것은 The message conveys urgency or time-sensitivity라는 문장뿐입니다. Score의 레벨 번호도 모델에게 보이지 않는다고 문서가 적습니다. jaggedness 문서는 같은 성질을 모델 쪽에서 설명해요. jev-1.13은 당신이 쓴 질문에 답하지, 당신이 뜻한 질문에 답하지 않는다는 것입니다. 틀린 답을 보고 내가 실제로 뜻한 바를 설명하고 있다면, 그 설명이 지시문에서 빠진 절반이에요. 모델 문서는 Jev가 고객 데이터로 파인튜닝되지 않는다고도 적어서, 도메인에 맞추는 길은 요청을 통하는 것뿐입니다. 모든 계정이 같은 가중치를 쓰니 질문을 쓰는 일이 곧 도메인에 맞추는 일입니다. 답은 같은 키 아래로 돌아와서, 코드는 키로 답을 꺼냅니다.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질문의 크기에도 기준이 있습니다. 질문 유형 문서는 아는 사람이 맥락을 받으면 1초 안에 내릴 수 있는 판단을 한 질문의 크기로 잡아요. Does this message convey urgency는 좋은 질문이고, Analyze this message and determine the best course of action은 나쁜 질문입니다. 그보다 큰 판단은 쪼개라는 신호예요. 개발 가이드는 이 분해를 두고 이 가이드에서 가장 중요한 개념일 것이라고 적습니다. 왼쪽이 큰 질문 하나입니다. 스팸인가를 Noul 하나로 물으면 답은 확률 하나뿐이고, 어느 신호가 결론을 끌었는지 보이지 않아요. 오른쪽은 같은 메시지에 작은 Noul 여섯을 따로 묻는 방식입니다. 예시의 메시지는 발신자 이름이 Acme Payroll인데 주소는 rewards@claim-bonus.example이고 제목이 Urgent: claim your employee bonus예요. 여섯 신호의 답을 코드가 가중치를 달아 합치면, 스팸인가는 모델의 답이 아니라 코드가 합친 결과가 됩니다. 우선순위가 바뀌면 프롬프트를 고쳐 쓰는 대신 가중치 숫자를 바꾸면 돼요. 쪼갠다고 호출이 늘지도 않습니다. 같은 state에 대한 질문은 한 요청 안에서 병렬로 평가되기 때문입니다. 화면의 한국어 질문 문구는 질문 ID를 우리말로 풀어 쓴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가이드의 요약 상자는 일반 소프트웨어 워크플로를 만들고, AI가 필요한 곳에만 System One을 끼워 넣으라는 말로 시작합니다. 첫 항목이 화면 위쪽의 문장이에요. 제어 흐름, 결정적 규칙, 부작용은 코드에 둡니다. 가이드는 이런 구조를 AI-powered software라고 부르고, 모델은 프로그래밍 가능한 상식이 필요하거나 비정형 데이터를 해석해야 하는 자리에만 나타난다고 정의합니다. 평가 사이트의 경비 정산 예제는 이 분업을 장난감 크기로 보여 줘요. 왼쪽의 정책 문단에서 문장 하나하나가 갈라집니다. 모델에게 줄 질문이 되거나, 코드의 규칙이 되는 거예요. 영수증을 읽을 수 있는가는 Noul, 경비 종류는 Choice, 청구서 설명과 영수증의 일치도는 네 단계 Score입니다. 반면 75달러를 넘는 식비라는 조건은 판단이 아니라 계산이라서 코드에 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벤더가 공개한 보안 알림 처리 워크플로입니다. 발표 글이 공개하는 네 개 워크플로 가운데 가장 단순한 것으로 소개한 예제예요. 풀려는 문제는 알림 하나가 울리면 닫을지, 분석가에게 넘길지, 지금 막을지를 정하는 일입니다. 그림은 왼쪽 위에서 시작해 오른쪽으로 갔다가, 아래 줄에서 오른쪽에서 왼쪽으로 돌아옵니다. 청록색이 모델이 답하는 단계이고 호박색이 코드가 정하는 단계예요. 알림 읽기에서는 질문 세 개를 묻습니다. 허가받지 않은 활동인가, 그걸 설명하는 기록이 있는가, 증거가 얼마나 강한가입니다. 처리 방향은 코드가 정해요. 이 단계에는 모델 호출이 없습니다. 조치로 판정된 경우에만 두 번째 요청이 나가고, 요청을 나누는 것은 예외라고 했는데 바로 이 자리가 그 예외입니다. 두 번째 요청에는 질문 11개가 들어가고, 아홉 개는 Noul, 두 개는 Choice입니다. 마지막 대응 고르기도 코드의 몫이에요. 발표 글은 결과가 이산적인 분기이지만 거기에 이르는 과정에는 일관되게 해야 하는 도메인 특화 엔지니어링이 많이 든다고 적었습니다. 모델이 답하는 질문 14개는 전부 알림과 사고의 상태에 대한 판정이고, 동작 이름은 하나도 없어요. 17개의 동작은 전부 코드의 규칙이 고릅니다. 도메인 지식은 모델 가중치가 아니라 질문의 문장과 규칙 문자열에 들어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공개된 예시 케이스 하나를 끝까지 따라가 봅니다. 케이스 이름은 Amsi.dll renamed as WinAppXRT이고, 알림이 울린 자산은 운영 환경의 도메인 컨트롤러 DC-NW-01, tier 0입니다. 값은 평가 사이트에 기록된 Jev의 답이에요. 각 줄에서 막대가 Jev의 답이고 검은 선이 규칙의 문턱입니다. 막대가 선을 넘으면 청록색, 못 넘으면 회색이에요. 알림 읽기에서 허가받지 않은 활동의 확률이 0.82로 문턱 0.75를 넘으니 두 번째 요청이 나갑니다. 대응 고르기는 그룹을 앞에서부터 확인해요. 유출 그룹은 0.16이 문턱 0.45에 못 미치고, 접근 권한 그룹은 0.24와 0.3이 각각 0.50과 0.40에 못 미치고, 메일 그룹은 0.09가 0.50에 못 미칩니다. 호스트 그룹에서 재부팅 뒤에도 살아나는 장치의 0.68이 문턱 0.60을 넘어 처음으로 진입합니다. 그룹 안에서 가장 강한 호스트 격리는 진행 중인 활동이 0.50을 넘어야 하는데 0.36이라 성립하지 않고, 프로세스 종료는 악성 프로세스 실행 0.18이 0.60에 못 미쳐 성립하지 않아요. 남은 파일 격리가 성립해서 최종 동작은 QUARANTINE FILE입니다. 질문 키로 적으면 outbound_channel_active, session_in_attacker_hands, credentials_exposed, malicious_content_in_mailboxes, attacker_persistence_present, activity_ongoing, malicious_process_running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케이스는 벤더 평가에서 기준 답과 어긋난 사례라는 점을 함께 적어야 공정합니다. 기준 답은 두 대형 모델의 확률 평균으로 만든 합의였고, 그 답은 ISOLATE HOST였어요. Jev를 포함해 비교된 세 모델이 모두 QUARANTINE FILE을 골랐습니다. 평가 사이트의 표기는 All three miss the reference입니다. 그런데 입문자가 이 케이스에서 볼 것은 맞고 틀림보다 어긋남이 어디서 났는지를 짚을 수 있다는 점이에요. 질문 11개 중 가장 강한 조치를 떨어뜨린 것은 진행 중인 활동의 0.36과 규칙에 적힌 0.50, 이 두 숫자입니다. 다만 0.36만 넘었다면 호스트 격리가 나왔을지는 공개 기록으로 알 수 없습니다. 같은 케이스에서 비교된 Opus는 호스트 격리에 기록된 조건 두 개를 모두 넘었는데도 최종 동작이 파일 격리였어요. 평가 사이트 흐름도의 never a lone production system 같은, 공개 기록에 없는 조건이 한 번 더 거르는 것으로 보입니다. 개발 가이드가 분해의 이점으로 든 inspect, tune, and combine이 이런 뜻이라고 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맞는 자리를 한 줄로 요약한 문장은 발표 글의 비교표에 있습니다. Structured outputs slot into ordinary software as fuzzy decision rules: classify, route, score, extract, or branch where hand-written logic is too brittle. 손으로 쓴 규칙으로는 너무 깨지기 쉬운 자리에 들어가는 흐릿한 결정 규칙이라는 뜻이에요. 사용 사례 문서의 결정 모양 표는 열 가지 모양을 나열하는데, 대표적인 다섯 행만 옮겼습니다. 한국어 설명은 제가 줄여 옮긴 것입니다. 어느 행이든 답의 후보를 미리 적을 수 있고, 한 번의 판단이 짧아요. 이 점을 두 조건으로 묶은 것은 벤더가 아니라 제 해석입니다. 입문자가 놓치기 쉬운 것은 LLM과의 관계예요. 사용 사례 문서는 Jev로 각 프롬프트를 받을 LLM을 고르는 맞춤 라우터를 만들 수 있다고 설명합니다. 의도 라우팅 패턴의 예제에서는 주문 상태 문의는 결정적 코드로, 상품 질문과 반품 교환 문의는 전문 LLM으로, 확신도가 낮은 메시지는 사람에게 갑니다. Jev가 맡는 것은 어느 처리기로 보낼지라는 판단 하나이고, 답을 쓰는 일은 여전히 LLM의 몫입니다.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맞는 자리 중 입문자가 놓치기 쉬운 것은 LLM과의 관계입니다. Jev는 LLM을 밀어내는 자리보다 LLM의 앞이나 옆에 놓이는 자리가 많아요. 의도 라우팅 패턴은 이렇게 설명합니다. 모든 메시지를 비싼 LLM에 보내 어떤 요청인지 알아내는 대신, 먼저 분류하고 그에 맞춰 보낸다는 것입니다. 패턴의 예제에서 주문 상태 문의는 결정적 코드로, 상품 질문과 반품 교환 문의는 전문 LLM으로, 확신도가 낮은 메시지는 사람에게 갑니다. 그림의 왼쪽에서 들어온 메시지를 Jev가 Choice 하나와 확신도로 분류하고, 오른쪽의 세 처리기로 갈라져요. Jev가 맡는 것은 어느 처리기로 보낼지라는 판단 하나이고, 답을 쓰는 일은 여전히 LLM의 몫입니다. 사용 사례 문서는 같은 발상을 Jev로 각 프롬프트를 받을 LLM을 고르는 맞춤 라우터를 만든다고 설명합니다. LLM의 입력, 출력, 도구 호출을 검사하는 가드레일도 같은 자리예요. 발표 글의 비교표가 Verify everything이라는 이름으로 든 용도입니다.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맞지 않는 자리는 벤더가 스스로 적은 것이 1차 근거입니다. 열린 답의 공간부터 보면, jaggedness 문서는 jev-1.13이 텍스트를 생성하도록 훈련되지 않았다고 적고, 코딩 에이전트 문서는 Claude Code나 Cursor 같은 도구 뒤의 LLM을 대체하는 것이 아니라고 먼저 못을 박습니다. 코딩 에이전트로 Jev를 호출하는 코드를 짜는 관계예요. 추출이라는 단어는 오해하기 쉽습니다. 문서의 권고는 정규식이나 생성형 모델이 가능한 후보를 뽑고, Jev가 올바른 추출을 고르게 하라는 것이에요. 열린 추출을 닫힌 고르기로 바꾼 셈입니다. 판단이 아닌 일은 경계가 더 분명합니다. 실패 모드 표는 산수는 코드에 두고, 날짜는 구성 요소를 뽑아 코드에서 비교하라고 처방해요. 1초를 넘는 판단은 질문의 크기와 state의 크기 양쪽에서 문제가 됩니다. 문서는 피할 것으로 System Two tasks를 들고, Jev가 context rot를 겪어서 state에 관계없는 자료가 정확도를 깎는다고 경고합니다. 소개 문서는 질문을 더해도 context rot가 생기지 않는다고 적는데, 두 문장은 대상이 달라서 모순이 아닙니다. 질문은 늘려도 되지만 state는 줄여야 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조건과 무관하게 붙는 제품 조건도 있습니다. 한국어로 서비스를 만드는 개발자라면 언어 항목을 먼저 봐야 해요. 모델 문서는 영어가 주 학습 언어이고 현재 정확도가 가장 좋은 곳이며, CJK 문자를 포함한 다른 언어도 처리하지만 같은 정도는 아니라고 적습니다. CJK에는 한국어가 들어가니 한국어 입력의 정확도는 영어보다 낮을 수 있다고 벤더가 스스로 밝힌 셈입니다. 입력은 텍스트뿐이라 이미지나 오디오는 먼저 텍스트나 구조화된 필드로 바꿔야 해요. jaggedness 문서는 state가 데이터이고 Jev가 기본값으로 적대적으로 취급하지 않는다고 적고, 기준을 명시적으로 쓰고 배포 전에 충분히 시험하라고 권합니다. 공개 범위도 좁습니다. 발표 글의 문구는 얼리 액세스를 열고 대기자 명단의 개발자를 최대한 빨리 들이고 있다는 것이었어요. 2026-09-29 조회 기준으로 공개된 모델은 jev-1.13.0 하나이고, 별칭 jev-latest와 jev-preview가 모두 이 버전을 가리킵니다. OpenRouter와 Vercel AI Gateway 같은 제3자 경로도 있지만, 지금도 대기자 명단을 거쳐야 하는지는 확인하지 못했습니다.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정리합니다. Jev는 문장 대신 판단을 돌려받는 모델입니다. 답을 쓰지 않고, 호출하는 쪽이 적어 보낸 후보 위에 확률을 매겨 돌려주며, 그 답은 파싱 없이 조건식으로 들어가요. 그 후보와 질문 문장, 답을 합치는 규칙, 규칙이 고르는 동작은 전부 코드에 있습니다. 보안 알림 예제에서 본 것처럼 도메인 지식이 놓이는 곳도 모델 가중치가 아니라 그 설계예요. 두 성질을 겹치면 맞는 자리와 맞지 않는 자리가 갈립니다. 입문의 끝에서 남는 질문은 돌려받은 숫자를 어디에 쓰느냐입니다. 보안 알림 예제의 0.75와 0.50은 누군가 정한 문턱이고, 확신도를 받으면 그다음 줄에는 if confidence가 x보다 큰 모양의 조건식이 생겨요. 그 질문들은 같은 날 발행한 심화편이 이어받습니다. 이 발표가 서 있는 시점도 적어 둡니다. 2026-09-29에 조회한 자료의 기록이고, 인용한 jaggedness 문서는 Last reviewed 2026-09-17 판입니다. 모델 버전이 바뀌면 맞지 않는 자리의 목록은 달라질 수 있지만, 판단을 돌려받고 질문은 호출하는 쪽이 설계한다는 구조는 이 모델 부류의 정의에 속한다고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253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B25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253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B25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2.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B6A0"/>
                </a:solidFill>
                <a:latin typeface="Arial" pitchFamily="34" charset="0"/>
                <a:ea typeface="Arial" pitchFamily="34" charset="-122"/>
                <a:cs typeface="Arial" pitchFamily="34" charset="-120"/>
              </a:rPr>
              <a:t>TYPESAFE AI | SYSTEM ONE 모델 입문</a:t>
            </a:r>
            <a:endParaRPr lang="en-US" sz="1200" dirty="0"/>
          </a:p>
        </p:txBody>
      </p:sp>
      <p:sp>
        <p:nvSpPr>
          <p:cNvPr id="3" name="Text 1"/>
          <p:cNvSpPr/>
          <p:nvPr>
            <p:ph type="title"/>
          </p:nvPr>
        </p:nvSpPr>
        <p:spPr>
          <a:xfrm>
            <a:off x="812800" y="2048520"/>
            <a:ext cx="10883392" cy="1427460"/>
          </a:xfrm>
          <a:prstGeom prst="rect">
            <a:avLst/>
          </a:prstGeom>
          <a:noFill/>
          <a:ln/>
        </p:spPr>
        <p:txBody>
          <a:bodyPr wrap="square" lIns="0" tIns="0" rIns="0" bIns="0" rtlCol="0" anchor="t">
            <a:normAutofit/>
          </a:bodyPr>
          <a:lstStyle/>
          <a:p>
            <a:pPr algn="l" indent="0" marL="0">
              <a:lnSpc>
                <a:spcPts val="5520"/>
              </a:lnSpc>
              <a:buNone/>
            </a:pPr>
            <a:r>
              <a:rPr lang="en-US" sz="4800" b="1" i="0" dirty="0">
                <a:solidFill>
                  <a:srgbClr val="F6F8F7"/>
                </a:solidFill>
                <a:latin typeface="Arial" pitchFamily="34" charset="0"/>
                <a:ea typeface="Arial" pitchFamily="34" charset="-122"/>
                <a:cs typeface="Arial" pitchFamily="34" charset="-120"/>
              </a:rPr>
              <a:t>답의 모양이 곧 코드의 모양이</a:t>
            </a:r>
            <a:endParaRPr lang="en-US" sz="4800" dirty="0"/>
          </a:p>
          <a:p>
            <a:pPr algn="l" indent="0" marL="0">
              <a:lnSpc>
                <a:spcPts val="5520"/>
              </a:lnSpc>
              <a:buNone/>
            </a:pPr>
            <a:r>
              <a:rPr lang="en-US" sz="4800" b="1" i="0" dirty="0">
                <a:solidFill>
                  <a:srgbClr val="F6F8F7"/>
                </a:solidFill>
                <a:latin typeface="Arial" pitchFamily="34" charset="0"/>
                <a:ea typeface="Arial" pitchFamily="34" charset="-122"/>
                <a:cs typeface="Arial" pitchFamily="34" charset="-120"/>
              </a:rPr>
              <a:t>되는 모델, Jev</a:t>
            </a:r>
            <a:endParaRPr lang="en-US" sz="4800" dirty="0"/>
          </a:p>
        </p:txBody>
      </p:sp>
      <p:sp>
        <p:nvSpPr>
          <p:cNvPr id="4" name="Text 2"/>
          <p:cNvSpPr/>
          <p:nvPr/>
        </p:nvSpPr>
        <p:spPr>
          <a:xfrm>
            <a:off x="812800" y="36537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9B6C6"/>
                </a:solidFill>
                <a:latin typeface="Arial" pitchFamily="34" charset="0"/>
                <a:ea typeface="Arial" pitchFamily="34" charset="-122"/>
                <a:cs typeface="Arial" pitchFamily="34" charset="-120"/>
              </a:rPr>
              <a:t>처음 보는 개발자를 위한 입문: 무엇이고, 어떻게 동작하고, 어디에 맞는가</a:t>
            </a:r>
            <a:endParaRPr lang="en-US" sz="2000" dirty="0"/>
          </a:p>
        </p:txBody>
      </p:sp>
      <p:sp>
        <p:nvSpPr>
          <p:cNvPr id="5" name="Text 3"/>
          <p:cNvSpPr/>
          <p:nvPr/>
        </p:nvSpPr>
        <p:spPr>
          <a:xfrm>
            <a:off x="819150" y="5038130"/>
            <a:ext cx="1054249" cy="381000"/>
          </a:xfrm>
          <a:prstGeom prst="roundRect">
            <a:avLst>
              <a:gd name="adj" fmla="val 50000"/>
            </a:avLst>
          </a:prstGeom>
          <a:noFill/>
          <a:ln w="12700">
            <a:solidFill>
              <a:srgbClr val="4DB6A0"/>
            </a:solidFill>
            <a:prstDash val="solid"/>
          </a:ln>
        </p:spPr>
        <p:txBody>
          <a:bodyPr wrap="none" lIns="0" tIns="0" rIns="0" bIns="0" rtlCol="0" anchor="ctr">
            <a:normAutofit/>
          </a:bodyPr>
          <a:lstStyle/>
          <a:p>
            <a:pPr algn="ctr" indent="0" marL="0">
              <a:lnSpc>
                <a:spcPts val="2100"/>
              </a:lnSpc>
              <a:buNone/>
            </a:pPr>
            <a:r>
              <a:rPr lang="en-US" sz="1500" dirty="0">
                <a:solidFill>
                  <a:srgbClr val="4DB6A0"/>
                </a:solidFill>
                <a:latin typeface="Courier New" pitchFamily="49" charset="0"/>
                <a:ea typeface="Courier New" pitchFamily="49" charset="-122"/>
                <a:cs typeface="Courier New" pitchFamily="49" charset="-120"/>
              </a:rPr>
              <a:t>Choice</a:t>
            </a:r>
            <a:endParaRPr lang="en-US" sz="1500" dirty="0"/>
          </a:p>
        </p:txBody>
      </p:sp>
      <p:sp>
        <p:nvSpPr>
          <p:cNvPr id="6" name="Text 4"/>
          <p:cNvSpPr/>
          <p:nvPr/>
        </p:nvSpPr>
        <p:spPr>
          <a:xfrm>
            <a:off x="1987699" y="5038130"/>
            <a:ext cx="939899" cy="381000"/>
          </a:xfrm>
          <a:prstGeom prst="roundRect">
            <a:avLst>
              <a:gd name="adj" fmla="val 50000"/>
            </a:avLst>
          </a:prstGeom>
          <a:noFill/>
          <a:ln w="12700">
            <a:solidFill>
              <a:srgbClr val="4DB6A0"/>
            </a:solidFill>
            <a:prstDash val="solid"/>
          </a:ln>
        </p:spPr>
        <p:txBody>
          <a:bodyPr wrap="none" lIns="0" tIns="0" rIns="0" bIns="0" rtlCol="0" anchor="ctr">
            <a:normAutofit/>
          </a:bodyPr>
          <a:lstStyle/>
          <a:p>
            <a:pPr algn="ctr" indent="0" marL="0">
              <a:lnSpc>
                <a:spcPts val="2100"/>
              </a:lnSpc>
              <a:buNone/>
            </a:pPr>
            <a:r>
              <a:rPr lang="en-US" sz="1500" dirty="0">
                <a:solidFill>
                  <a:srgbClr val="4DB6A0"/>
                </a:solidFill>
                <a:latin typeface="Courier New" pitchFamily="49" charset="0"/>
                <a:ea typeface="Courier New" pitchFamily="49" charset="-122"/>
                <a:cs typeface="Courier New" pitchFamily="49" charset="-120"/>
              </a:rPr>
              <a:t>Score</a:t>
            </a:r>
            <a:endParaRPr lang="en-US" sz="1500" dirty="0"/>
          </a:p>
        </p:txBody>
      </p:sp>
      <p:sp>
        <p:nvSpPr>
          <p:cNvPr id="7" name="Text 5"/>
          <p:cNvSpPr/>
          <p:nvPr/>
        </p:nvSpPr>
        <p:spPr>
          <a:xfrm>
            <a:off x="3041898" y="5038130"/>
            <a:ext cx="825599" cy="381000"/>
          </a:xfrm>
          <a:prstGeom prst="roundRect">
            <a:avLst>
              <a:gd name="adj" fmla="val 50000"/>
            </a:avLst>
          </a:prstGeom>
          <a:noFill/>
          <a:ln w="12700">
            <a:solidFill>
              <a:srgbClr val="4DB6A0"/>
            </a:solidFill>
            <a:prstDash val="solid"/>
          </a:ln>
        </p:spPr>
        <p:txBody>
          <a:bodyPr wrap="none" lIns="0" tIns="0" rIns="0" bIns="0" rtlCol="0" anchor="ctr">
            <a:normAutofit/>
          </a:bodyPr>
          <a:lstStyle/>
          <a:p>
            <a:pPr algn="ctr" indent="0" marL="0">
              <a:lnSpc>
                <a:spcPts val="2100"/>
              </a:lnSpc>
              <a:buNone/>
            </a:pPr>
            <a:r>
              <a:rPr lang="en-US" sz="1500" dirty="0">
                <a:solidFill>
                  <a:srgbClr val="4DB6A0"/>
                </a:solidFill>
                <a:latin typeface="Courier New" pitchFamily="49" charset="0"/>
                <a:ea typeface="Courier New" pitchFamily="49" charset="-122"/>
                <a:cs typeface="Courier New" pitchFamily="49" charset="-120"/>
              </a:rPr>
              <a:t>Noul</a:t>
            </a:r>
            <a:endParaRPr lang="en-US" sz="1500" dirty="0"/>
          </a:p>
        </p:txBody>
      </p:sp>
      <p:sp>
        <p:nvSpPr>
          <p:cNvPr id="8" name="Text 6"/>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2026-09-29 기준, 공개된 벤더 자료를 읽은 기록입니다</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7964"/>
        </a:solidFill>
      </p:bgPr>
    </p:bg>
    <p:spTree>
      <p:nvGrpSpPr>
        <p:cNvPr id="1" name=""/>
        <p:cNvGrpSpPr/>
        <p:nvPr/>
      </p:nvGrpSpPr>
      <p:grpSpPr>
        <a:xfrm>
          <a:off x="0" y="0"/>
          <a:ext cx="0" cy="0"/>
          <a:chOff x="0" y="0"/>
          <a:chExt cx="0" cy="0"/>
        </a:xfrm>
      </p:grpSpPr>
      <p:sp>
        <p:nvSpPr>
          <p:cNvPr id="2" name="Text 0"/>
          <p:cNvSpPr/>
          <p:nvPr/>
        </p:nvSpPr>
        <p:spPr>
          <a:xfrm>
            <a:off x="812800" y="16865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6F8F7"/>
                </a:solidFill>
                <a:latin typeface="Arial" pitchFamily="34" charset="0"/>
                <a:ea typeface="Arial" pitchFamily="34" charset="-122"/>
                <a:cs typeface="Arial" pitchFamily="34" charset="-120"/>
              </a:rPr>
              <a:t>발표 글의 첫머리에 놓인 질문</a:t>
            </a:r>
            <a:endParaRPr lang="en-US" sz="1200" dirty="0"/>
          </a:p>
        </p:txBody>
      </p:sp>
      <p:sp>
        <p:nvSpPr>
          <p:cNvPr id="3" name="Text 1"/>
          <p:cNvSpPr/>
          <p:nvPr>
            <p:ph type="title"/>
          </p:nvPr>
        </p:nvSpPr>
        <p:spPr>
          <a:xfrm>
            <a:off x="812800" y="2204690"/>
            <a:ext cx="10883392" cy="2128490"/>
          </a:xfrm>
          <a:prstGeom prst="rect">
            <a:avLst/>
          </a:prstGeom>
          <a:noFill/>
          <a:ln/>
        </p:spPr>
        <p:txBody>
          <a:bodyPr wrap="square" lIns="0" tIns="0" rIns="0" bIns="0" rtlCol="0" anchor="t">
            <a:normAutofit/>
          </a:bodyPr>
          <a:lstStyle/>
          <a:p>
            <a:pPr algn="l" indent="0" marL="0">
              <a:lnSpc>
                <a:spcPts val="5520"/>
              </a:lnSpc>
              <a:buNone/>
            </a:pPr>
            <a:r>
              <a:rPr lang="en-US" sz="4800" b="1" i="0" dirty="0">
                <a:solidFill>
                  <a:srgbClr val="F6F8F7"/>
                </a:solidFill>
                <a:latin typeface="Arial" pitchFamily="34" charset="0"/>
                <a:ea typeface="Arial" pitchFamily="34" charset="-122"/>
                <a:cs typeface="Arial" pitchFamily="34" charset="-120"/>
              </a:rPr>
              <a:t>“Models have been superhuman at chat for years, so where is all the automation?”</a:t>
            </a:r>
            <a:endParaRPr lang="en-US" sz="4800" dirty="0"/>
          </a:p>
        </p:txBody>
      </p:sp>
      <p:sp>
        <p:nvSpPr>
          <p:cNvPr id="4" name="Text 2"/>
          <p:cNvSpPr/>
          <p:nvPr/>
        </p:nvSpPr>
        <p:spPr>
          <a:xfrm>
            <a:off x="812800" y="46125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6F8F7"/>
                </a:solidFill>
                <a:latin typeface="Arial" pitchFamily="34" charset="0"/>
                <a:ea typeface="Arial" pitchFamily="34" charset="-122"/>
                <a:cs typeface="Arial" pitchFamily="34" charset="-120"/>
              </a:rPr>
              <a:t>대화는 오래전부터 잘하는데, 자동화는 왜 그만큼 따라오지 않았느냐는 물음입니다</a:t>
            </a:r>
            <a:endParaRPr lang="en-US" sz="20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8F7"/>
                </a:solidFill>
                <a:latin typeface="Arial" pitchFamily="34" charset="0"/>
                <a:ea typeface="Arial" pitchFamily="34" charset="-122"/>
                <a:cs typeface="Arial" pitchFamily="34" charset="-120"/>
              </a:rPr>
              <a:t>출처: TypeSafe, “Introducing System One Models &amp; Jev”, 2026-09-15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시작하기 전에</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이 발표가 기대는 자료</a:t>
            </a:r>
            <a:endParaRPr lang="en-US" sz="3200" dirty="0"/>
          </a:p>
        </p:txBody>
      </p:sp>
      <p:sp>
        <p:nvSpPr>
          <p:cNvPr id="4" name="Shape 2"/>
          <p:cNvSpPr/>
          <p:nvPr/>
        </p:nvSpPr>
        <p:spPr>
          <a:xfrm>
            <a:off x="815975" y="2645370"/>
            <a:ext cx="3380284" cy="1854200"/>
          </a:xfrm>
          <a:prstGeom prst="roundRect">
            <a:avLst>
              <a:gd name="adj" fmla="val 5308"/>
            </a:avLst>
          </a:prstGeom>
          <a:solidFill>
            <a:srgbClr val="EAF0EE"/>
          </a:solidFill>
          <a:ln w="6350">
            <a:solidFill>
              <a:srgbClr val="D3DDD9"/>
            </a:solidFill>
            <a:prstDash val="solid"/>
          </a:ln>
        </p:spPr>
      </p:sp>
      <p:sp>
        <p:nvSpPr>
          <p:cNvPr id="5" name="Text 3"/>
          <p:cNvSpPr/>
          <p:nvPr/>
        </p:nvSpPr>
        <p:spPr>
          <a:xfrm>
            <a:off x="1098550" y="2927945"/>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호출 경험</a:t>
            </a:r>
            <a:endParaRPr lang="en-US" sz="2000" dirty="0"/>
          </a:p>
        </p:txBody>
      </p:sp>
      <p:sp>
        <p:nvSpPr>
          <p:cNvPr id="6" name="Text 4"/>
          <p:cNvSpPr/>
          <p:nvPr/>
        </p:nvSpPr>
        <p:spPr>
          <a:xfrm>
            <a:off x="1098550" y="3359745"/>
            <a:ext cx="2899588"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Jev를 직접 호출해 보지 않았습니다. 발표 시점의 공식 경로는 대기자 명단을 거치는 얼리 액세스였어요.</a:t>
            </a:r>
            <a:endParaRPr lang="en-US" sz="1500" dirty="0"/>
          </a:p>
        </p:txBody>
      </p:sp>
      <p:sp>
        <p:nvSpPr>
          <p:cNvPr id="7" name="Shape 5"/>
          <p:cNvSpPr/>
          <p:nvPr/>
        </p:nvSpPr>
        <p:spPr>
          <a:xfrm>
            <a:off x="4405809" y="2645370"/>
            <a:ext cx="3380333" cy="1854200"/>
          </a:xfrm>
          <a:prstGeom prst="roundRect">
            <a:avLst>
              <a:gd name="adj" fmla="val 5308"/>
            </a:avLst>
          </a:prstGeom>
          <a:solidFill>
            <a:srgbClr val="EAF0EE"/>
          </a:solidFill>
          <a:ln w="6350">
            <a:solidFill>
              <a:srgbClr val="D3DDD9"/>
            </a:solidFill>
            <a:prstDash val="solid"/>
          </a:ln>
        </p:spPr>
      </p:sp>
      <p:sp>
        <p:nvSpPr>
          <p:cNvPr id="8" name="Text 6"/>
          <p:cNvSpPr/>
          <p:nvPr/>
        </p:nvSpPr>
        <p:spPr>
          <a:xfrm>
            <a:off x="4688384" y="2927945"/>
            <a:ext cx="28996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읽은 자료</a:t>
            </a:r>
            <a:endParaRPr lang="en-US" sz="2000" dirty="0"/>
          </a:p>
        </p:txBody>
      </p:sp>
      <p:sp>
        <p:nvSpPr>
          <p:cNvPr id="9" name="Text 7"/>
          <p:cNvSpPr/>
          <p:nvPr/>
        </p:nvSpPr>
        <p:spPr>
          <a:xfrm>
            <a:off x="4688384" y="3359745"/>
            <a:ext cx="2899639"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벤더의 블로그와 개발 문서, 공개 평가 사이트입니다. 모두 2026-09-29에 조회했습니다.</a:t>
            </a:r>
            <a:endParaRPr lang="en-US" sz="1500" dirty="0"/>
          </a:p>
        </p:txBody>
      </p:sp>
      <p:sp>
        <p:nvSpPr>
          <p:cNvPr id="10" name="Shape 8"/>
          <p:cNvSpPr/>
          <p:nvPr/>
        </p:nvSpPr>
        <p:spPr>
          <a:xfrm>
            <a:off x="7995692" y="2645370"/>
            <a:ext cx="3380333" cy="1854200"/>
          </a:xfrm>
          <a:prstGeom prst="roundRect">
            <a:avLst>
              <a:gd name="adj" fmla="val 5308"/>
            </a:avLst>
          </a:prstGeom>
          <a:solidFill>
            <a:srgbClr val="EAF0EE"/>
          </a:solidFill>
          <a:ln w="6350">
            <a:solidFill>
              <a:srgbClr val="D3DDD9"/>
            </a:solidFill>
            <a:prstDash val="solid"/>
          </a:ln>
        </p:spPr>
      </p:sp>
      <p:sp>
        <p:nvSpPr>
          <p:cNvPr id="11" name="Text 9"/>
          <p:cNvSpPr/>
          <p:nvPr/>
        </p:nvSpPr>
        <p:spPr>
          <a:xfrm>
            <a:off x="8278267" y="2927945"/>
            <a:ext cx="28996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값과 수치</a:t>
            </a:r>
            <a:endParaRPr lang="en-US" sz="2000" dirty="0"/>
          </a:p>
        </p:txBody>
      </p:sp>
      <p:sp>
        <p:nvSpPr>
          <p:cNvPr id="12" name="Text 10"/>
          <p:cNvSpPr/>
          <p:nvPr/>
        </p:nvSpPr>
        <p:spPr>
          <a:xfrm>
            <a:off x="8278267" y="3359745"/>
            <a:ext cx="2899639"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응답 값은 전부 문서에 실린 예시입니다. 속도와 가격 같은 벤더의 수치 주장은 싣지 않았어요.</a:t>
            </a:r>
            <a:endParaRPr lang="en-US" sz="1500" dirty="0"/>
          </a:p>
        </p:txBody>
      </p:sp>
      <p:sp>
        <p:nvSpPr>
          <p:cNvPr id="13" name="Text 11"/>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533"/>
                </a:solidFill>
                <a:latin typeface="Arial" pitchFamily="34" charset="0"/>
                <a:ea typeface="Arial" pitchFamily="34" charset="-122"/>
                <a:cs typeface="Arial" pitchFamily="34" charset="-120"/>
              </a:rPr>
              <a:t>그래서 이 발표의 모든 값은 “문서에 이렇게 적혀 있다”는 뜻입니다</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출처: TypeSafe 블로그, 개발 문서, 평가 사이트</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문장 대신 판단을 돌려받는 모델</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System One과 Jev</a:t>
            </a:r>
            <a:endParaRPr lang="en-US" sz="3200" dirty="0"/>
          </a:p>
        </p:txBody>
      </p:sp>
      <p:sp>
        <p:nvSpPr>
          <p:cNvPr id="4" name="Shape 2"/>
          <p:cNvSpPr/>
          <p:nvPr/>
        </p:nvSpPr>
        <p:spPr>
          <a:xfrm>
            <a:off x="815975" y="2235795"/>
            <a:ext cx="3976390" cy="1104900"/>
          </a:xfrm>
          <a:prstGeom prst="roundRect">
            <a:avLst>
              <a:gd name="adj" fmla="val 8908"/>
            </a:avLst>
          </a:prstGeom>
          <a:solidFill>
            <a:srgbClr val="EAF0EE"/>
          </a:solidFill>
          <a:ln w="6350">
            <a:solidFill>
              <a:srgbClr val="D3DDD9"/>
            </a:solidFill>
            <a:prstDash val="solid"/>
          </a:ln>
        </p:spPr>
      </p:sp>
      <p:sp>
        <p:nvSpPr>
          <p:cNvPr id="5" name="Text 3"/>
          <p:cNvSpPr/>
          <p:nvPr/>
        </p:nvSpPr>
        <p:spPr>
          <a:xfrm>
            <a:off x="1047750" y="2467570"/>
            <a:ext cx="361822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System One</a:t>
            </a:r>
            <a:endParaRPr lang="en-US" sz="2000" dirty="0"/>
          </a:p>
        </p:txBody>
      </p:sp>
      <p:sp>
        <p:nvSpPr>
          <p:cNvPr id="6" name="Text 4"/>
          <p:cNvSpPr/>
          <p:nvPr/>
        </p:nvSpPr>
        <p:spPr>
          <a:xfrm>
            <a:off x="1047750" y="2823170"/>
            <a:ext cx="3618225"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모델의 부류 이름</a:t>
            </a:r>
            <a:endParaRPr lang="en-US" sz="1500" dirty="0"/>
          </a:p>
        </p:txBody>
      </p:sp>
      <p:sp>
        <p:nvSpPr>
          <p:cNvPr id="7" name="Shape 5"/>
          <p:cNvSpPr/>
          <p:nvPr/>
        </p:nvSpPr>
        <p:spPr>
          <a:xfrm>
            <a:off x="815975" y="3499445"/>
            <a:ext cx="3976390" cy="1104900"/>
          </a:xfrm>
          <a:prstGeom prst="roundRect">
            <a:avLst>
              <a:gd name="adj" fmla="val 8908"/>
            </a:avLst>
          </a:prstGeom>
          <a:solidFill>
            <a:srgbClr val="EAF0EE"/>
          </a:solidFill>
          <a:ln w="6350">
            <a:solidFill>
              <a:srgbClr val="D3DDD9"/>
            </a:solidFill>
            <a:prstDash val="solid"/>
          </a:ln>
        </p:spPr>
      </p:sp>
      <p:sp>
        <p:nvSpPr>
          <p:cNvPr id="8" name="Text 6"/>
          <p:cNvSpPr/>
          <p:nvPr/>
        </p:nvSpPr>
        <p:spPr>
          <a:xfrm>
            <a:off x="1047750" y="3731220"/>
            <a:ext cx="361822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Jev</a:t>
            </a:r>
            <a:endParaRPr lang="en-US" sz="2000" dirty="0"/>
          </a:p>
        </p:txBody>
      </p:sp>
      <p:sp>
        <p:nvSpPr>
          <p:cNvPr id="9" name="Text 7"/>
          <p:cNvSpPr/>
          <p:nvPr/>
        </p:nvSpPr>
        <p:spPr>
          <a:xfrm>
            <a:off x="1047750" y="4086820"/>
            <a:ext cx="3618225"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그 부류의 첫 모델</a:t>
            </a:r>
            <a:endParaRPr lang="en-US" sz="1500" dirty="0"/>
          </a:p>
        </p:txBody>
      </p:sp>
      <p:sp>
        <p:nvSpPr>
          <p:cNvPr id="10" name="Shape 8"/>
          <p:cNvSpPr/>
          <p:nvPr/>
        </p:nvSpPr>
        <p:spPr>
          <a:xfrm>
            <a:off x="5125740" y="2232620"/>
            <a:ext cx="0" cy="2374900"/>
          </a:xfrm>
          <a:prstGeom prst="line">
            <a:avLst/>
          </a:prstGeom>
          <a:noFill/>
          <a:ln w="50800">
            <a:solidFill>
              <a:srgbClr val="117964"/>
            </a:solidFill>
            <a:prstDash val="solid"/>
          </a:ln>
        </p:spPr>
      </p:sp>
      <p:sp>
        <p:nvSpPr>
          <p:cNvPr id="11" name="Text 9"/>
          <p:cNvSpPr/>
          <p:nvPr/>
        </p:nvSpPr>
        <p:spPr>
          <a:xfrm>
            <a:off x="5405140" y="2886670"/>
            <a:ext cx="615328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B2533"/>
                </a:solidFill>
                <a:latin typeface="Arial" pitchFamily="34" charset="0"/>
                <a:ea typeface="Arial" pitchFamily="34" charset="-122"/>
                <a:cs typeface="Arial" pitchFamily="34" charset="-120"/>
              </a:rPr>
              <a:t>“System One models are a class of AI models built to make fast, structured decisions that software can use directly.”</a:t>
            </a:r>
            <a:endParaRPr lang="en-US" sz="2000" dirty="0"/>
          </a:p>
        </p:txBody>
      </p:sp>
      <p:sp>
        <p:nvSpPr>
          <p:cNvPr id="12" name="Text 10"/>
          <p:cNvSpPr/>
          <p:nvPr/>
        </p:nvSpPr>
        <p:spPr>
          <a:xfrm>
            <a:off x="812800" y="527050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부류 이름은 Kahneman이 대중화한 System 1(빠르고 직관적인 사고)에서, Jev라는 이름은 William Stanley Jevons에서 왔다고 자료가 적습니다.</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출처: TypeSafe 문서 “System One”, 발표 글 FAQ</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A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B6A0"/>
                </a:solidFill>
                <a:latin typeface="Arial" pitchFamily="34" charset="0"/>
                <a:ea typeface="Arial" pitchFamily="34" charset="-122"/>
                <a:cs typeface="Arial" pitchFamily="34" charset="-120"/>
              </a:rPr>
              <a:t>왜 문장이 아니라 판단인가</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8F7"/>
                </a:solidFill>
                <a:latin typeface="Arial" pitchFamily="34" charset="0"/>
                <a:ea typeface="Arial" pitchFamily="34" charset="-122"/>
                <a:cs typeface="Arial" pitchFamily="34" charset="-120"/>
              </a:rPr>
              <a:t>코드가 쓸 판단 하나를 받는 길</a:t>
            </a:r>
            <a:endParaRPr lang="en-US" sz="3200" dirty="0"/>
          </a:p>
        </p:txBody>
      </p:sp>
      <p:sp>
        <p:nvSpPr>
          <p:cNvPr id="4" name="Text 2"/>
          <p:cNvSpPr/>
          <p:nvPr/>
        </p:nvSpPr>
        <p:spPr>
          <a:xfrm>
            <a:off x="812800" y="2746375"/>
            <a:ext cx="62626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LLM</a:t>
            </a:r>
            <a:endParaRPr lang="en-US" sz="2000" dirty="0"/>
          </a:p>
        </p:txBody>
      </p:sp>
      <p:sp>
        <p:nvSpPr>
          <p:cNvPr id="5" name="Shape 3"/>
          <p:cNvSpPr/>
          <p:nvPr/>
        </p:nvSpPr>
        <p:spPr>
          <a:xfrm>
            <a:off x="1679575" y="2399705"/>
            <a:ext cx="2073275" cy="1048941"/>
          </a:xfrm>
          <a:prstGeom prst="roundRect">
            <a:avLst>
              <a:gd name="adj" fmla="val 6962"/>
            </a:avLst>
          </a:prstGeom>
          <a:solidFill>
            <a:srgbClr val="1B2638"/>
          </a:solidFill>
          <a:ln w="6350">
            <a:solidFill>
              <a:srgbClr val="2E3C52"/>
            </a:solidFill>
            <a:prstDash val="solid"/>
          </a:ln>
        </p:spPr>
      </p:sp>
      <p:sp>
        <p:nvSpPr>
          <p:cNvPr id="6" name="Text 4"/>
          <p:cNvSpPr/>
          <p:nvPr/>
        </p:nvSpPr>
        <p:spPr>
          <a:xfrm>
            <a:off x="1835150" y="255528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8F7"/>
                </a:solidFill>
                <a:latin typeface="Arial" pitchFamily="34" charset="0"/>
                <a:ea typeface="Arial" pitchFamily="34" charset="-122"/>
                <a:cs typeface="Arial" pitchFamily="34" charset="-120"/>
              </a:rPr>
              <a:t>프롬프트</a:t>
            </a:r>
            <a:endParaRPr lang="en-US" sz="1500" dirty="0"/>
          </a:p>
        </p:txBody>
      </p:sp>
      <p:sp>
        <p:nvSpPr>
          <p:cNvPr id="7" name="Text 5"/>
          <p:cNvSpPr/>
          <p:nvPr/>
        </p:nvSpPr>
        <p:spPr>
          <a:xfrm>
            <a:off x="1835150" y="2853730"/>
            <a:ext cx="18149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지시와 입력을 글로 보낸다</a:t>
            </a:r>
            <a:endParaRPr lang="en-US" sz="1200" dirty="0"/>
          </a:p>
        </p:txBody>
      </p:sp>
      <p:sp>
        <p:nvSpPr>
          <p:cNvPr id="8" name="Text 6"/>
          <p:cNvSpPr/>
          <p:nvPr/>
        </p:nvSpPr>
        <p:spPr>
          <a:xfrm>
            <a:off x="3857625" y="2746375"/>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4216400" y="2399705"/>
            <a:ext cx="2073275" cy="1048941"/>
          </a:xfrm>
          <a:prstGeom prst="roundRect">
            <a:avLst>
              <a:gd name="adj" fmla="val 6962"/>
            </a:avLst>
          </a:prstGeom>
          <a:solidFill>
            <a:srgbClr val="1B2638"/>
          </a:solidFill>
          <a:ln w="6350">
            <a:solidFill>
              <a:srgbClr val="2E3C52"/>
            </a:solidFill>
            <a:prstDash val="solid"/>
          </a:ln>
        </p:spPr>
      </p:sp>
      <p:sp>
        <p:nvSpPr>
          <p:cNvPr id="10" name="Text 8"/>
          <p:cNvSpPr/>
          <p:nvPr/>
        </p:nvSpPr>
        <p:spPr>
          <a:xfrm>
            <a:off x="4371975" y="255528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8F7"/>
                </a:solidFill>
                <a:latin typeface="Arial" pitchFamily="34" charset="0"/>
                <a:ea typeface="Arial" pitchFamily="34" charset="-122"/>
                <a:cs typeface="Arial" pitchFamily="34" charset="-120"/>
              </a:rPr>
              <a:t>생성된 문자열</a:t>
            </a:r>
            <a:endParaRPr lang="en-US" sz="1500" dirty="0"/>
          </a:p>
        </p:txBody>
      </p:sp>
      <p:sp>
        <p:nvSpPr>
          <p:cNvPr id="11" name="Text 9"/>
          <p:cNvSpPr/>
          <p:nvPr/>
        </p:nvSpPr>
        <p:spPr>
          <a:xfrm>
            <a:off x="4371975" y="2853730"/>
            <a:ext cx="18149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토큰을 하나씩 이어 붙여 생성한다</a:t>
            </a:r>
            <a:endParaRPr lang="en-US" sz="1200" dirty="0"/>
          </a:p>
        </p:txBody>
      </p:sp>
      <p:sp>
        <p:nvSpPr>
          <p:cNvPr id="12" name="Text 10"/>
          <p:cNvSpPr/>
          <p:nvPr/>
        </p:nvSpPr>
        <p:spPr>
          <a:xfrm>
            <a:off x="6394450" y="2746375"/>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6756400" y="2402880"/>
            <a:ext cx="2079625" cy="1042591"/>
          </a:xfrm>
          <a:prstGeom prst="roundRect">
            <a:avLst>
              <a:gd name="adj" fmla="val 6700"/>
            </a:avLst>
          </a:prstGeom>
          <a:solidFill>
            <a:srgbClr val="2A2318"/>
          </a:solidFill>
          <a:ln w="12700">
            <a:solidFill>
              <a:srgbClr val="F0A04B"/>
            </a:solidFill>
            <a:prstDash val="solid"/>
          </a:ln>
        </p:spPr>
      </p:sp>
      <p:sp>
        <p:nvSpPr>
          <p:cNvPr id="14" name="Text 12"/>
          <p:cNvSpPr/>
          <p:nvPr/>
        </p:nvSpPr>
        <p:spPr>
          <a:xfrm>
            <a:off x="6915150" y="256163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0A04B"/>
                </a:solidFill>
                <a:latin typeface="Arial" pitchFamily="34" charset="0"/>
                <a:ea typeface="Arial" pitchFamily="34" charset="-122"/>
                <a:cs typeface="Arial" pitchFamily="34" charset="-120"/>
              </a:rPr>
              <a:t>파싱과 검증</a:t>
            </a:r>
            <a:endParaRPr lang="en-US" sz="1500" dirty="0"/>
          </a:p>
        </p:txBody>
      </p:sp>
      <p:sp>
        <p:nvSpPr>
          <p:cNvPr id="15" name="Text 13"/>
          <p:cNvSpPr/>
          <p:nvPr/>
        </p:nvSpPr>
        <p:spPr>
          <a:xfrm>
            <a:off x="6915150" y="2860080"/>
            <a:ext cx="18149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CF2"/>
                </a:solidFill>
                <a:latin typeface="Arial" pitchFamily="34" charset="0"/>
                <a:ea typeface="Arial" pitchFamily="34" charset="-122"/>
                <a:cs typeface="Arial" pitchFamily="34" charset="-120"/>
              </a:rPr>
              <a:t>문자열을 다시 값으로 되돌려야 한다</a:t>
            </a:r>
            <a:endParaRPr lang="en-US" sz="1200" dirty="0"/>
          </a:p>
        </p:txBody>
      </p:sp>
      <p:sp>
        <p:nvSpPr>
          <p:cNvPr id="16" name="Text 14"/>
          <p:cNvSpPr/>
          <p:nvPr/>
        </p:nvSpPr>
        <p:spPr>
          <a:xfrm>
            <a:off x="8943975" y="2746375"/>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9302750" y="2399705"/>
            <a:ext cx="2073275" cy="1048941"/>
          </a:xfrm>
          <a:prstGeom prst="roundRect">
            <a:avLst>
              <a:gd name="adj" fmla="val 6962"/>
            </a:avLst>
          </a:prstGeom>
          <a:solidFill>
            <a:srgbClr val="1B2638"/>
          </a:solidFill>
          <a:ln w="6350">
            <a:solidFill>
              <a:srgbClr val="2E3C52"/>
            </a:solidFill>
            <a:prstDash val="solid"/>
          </a:ln>
        </p:spPr>
      </p:sp>
      <p:sp>
        <p:nvSpPr>
          <p:cNvPr id="18" name="Text 16"/>
          <p:cNvSpPr/>
          <p:nvPr/>
        </p:nvSpPr>
        <p:spPr>
          <a:xfrm>
            <a:off x="9458325" y="255528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8F7"/>
                </a:solidFill>
                <a:latin typeface="Arial" pitchFamily="34" charset="0"/>
                <a:ea typeface="Arial" pitchFamily="34" charset="-122"/>
                <a:cs typeface="Arial" pitchFamily="34" charset="-120"/>
              </a:rPr>
              <a:t>코드</a:t>
            </a:r>
            <a:endParaRPr lang="en-US" sz="1500" dirty="0"/>
          </a:p>
        </p:txBody>
      </p:sp>
      <p:sp>
        <p:nvSpPr>
          <p:cNvPr id="19" name="Text 17"/>
          <p:cNvSpPr/>
          <p:nvPr/>
        </p:nvSpPr>
        <p:spPr>
          <a:xfrm>
            <a:off x="9458325" y="2853730"/>
            <a:ext cx="18149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꺼낸 값을 쓴다</a:t>
            </a:r>
            <a:endParaRPr lang="en-US" sz="1200" dirty="0"/>
          </a:p>
        </p:txBody>
      </p:sp>
      <p:sp>
        <p:nvSpPr>
          <p:cNvPr id="20" name="Text 18"/>
          <p:cNvSpPr/>
          <p:nvPr/>
        </p:nvSpPr>
        <p:spPr>
          <a:xfrm>
            <a:off x="812800" y="3954066"/>
            <a:ext cx="50857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Jev</a:t>
            </a:r>
            <a:endParaRPr lang="en-US" sz="2000" dirty="0"/>
          </a:p>
        </p:txBody>
      </p:sp>
      <p:sp>
        <p:nvSpPr>
          <p:cNvPr id="21" name="Shape 19"/>
          <p:cNvSpPr/>
          <p:nvPr/>
        </p:nvSpPr>
        <p:spPr>
          <a:xfrm>
            <a:off x="1679575" y="3607395"/>
            <a:ext cx="2073275" cy="1048941"/>
          </a:xfrm>
          <a:prstGeom prst="roundRect">
            <a:avLst>
              <a:gd name="adj" fmla="val 6962"/>
            </a:avLst>
          </a:prstGeom>
          <a:solidFill>
            <a:srgbClr val="1B2638"/>
          </a:solidFill>
          <a:ln w="6350">
            <a:solidFill>
              <a:srgbClr val="2E3C52"/>
            </a:solidFill>
            <a:prstDash val="solid"/>
          </a:ln>
        </p:spPr>
      </p:sp>
      <p:sp>
        <p:nvSpPr>
          <p:cNvPr id="22" name="Text 20"/>
          <p:cNvSpPr/>
          <p:nvPr/>
        </p:nvSpPr>
        <p:spPr>
          <a:xfrm>
            <a:off x="1835150" y="376297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8F7"/>
                </a:solidFill>
                <a:latin typeface="Arial" pitchFamily="34" charset="0"/>
                <a:ea typeface="Arial" pitchFamily="34" charset="-122"/>
                <a:cs typeface="Arial" pitchFamily="34" charset="-120"/>
              </a:rPr>
              <a:t>state와 질문들</a:t>
            </a:r>
            <a:endParaRPr lang="en-US" sz="1500" dirty="0"/>
          </a:p>
        </p:txBody>
      </p:sp>
      <p:sp>
        <p:nvSpPr>
          <p:cNvPr id="23" name="Text 21"/>
          <p:cNvSpPr/>
          <p:nvPr/>
        </p:nvSpPr>
        <p:spPr>
          <a:xfrm>
            <a:off x="1835150" y="4061420"/>
            <a:ext cx="18149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프로그램 상태와, 답의 후보를 미리 정한 질문</a:t>
            </a:r>
            <a:endParaRPr lang="en-US" sz="1200" dirty="0"/>
          </a:p>
        </p:txBody>
      </p:sp>
      <p:sp>
        <p:nvSpPr>
          <p:cNvPr id="24" name="Text 22"/>
          <p:cNvSpPr/>
          <p:nvPr/>
        </p:nvSpPr>
        <p:spPr>
          <a:xfrm>
            <a:off x="3857625" y="3954066"/>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a:t>
            </a:r>
            <a:endParaRPr lang="en-US" sz="2000" dirty="0"/>
          </a:p>
        </p:txBody>
      </p:sp>
      <p:sp>
        <p:nvSpPr>
          <p:cNvPr id="25" name="Shape 23"/>
          <p:cNvSpPr/>
          <p:nvPr/>
        </p:nvSpPr>
        <p:spPr>
          <a:xfrm>
            <a:off x="4216400" y="3607395"/>
            <a:ext cx="2073275" cy="1048941"/>
          </a:xfrm>
          <a:prstGeom prst="roundRect">
            <a:avLst>
              <a:gd name="adj" fmla="val 6962"/>
            </a:avLst>
          </a:prstGeom>
          <a:solidFill>
            <a:srgbClr val="1B2638"/>
          </a:solidFill>
          <a:ln w="6350">
            <a:solidFill>
              <a:srgbClr val="2E3C52"/>
            </a:solidFill>
            <a:prstDash val="solid"/>
          </a:ln>
        </p:spPr>
      </p:sp>
      <p:sp>
        <p:nvSpPr>
          <p:cNvPr id="26" name="Text 24"/>
          <p:cNvSpPr/>
          <p:nvPr/>
        </p:nvSpPr>
        <p:spPr>
          <a:xfrm>
            <a:off x="4371975" y="376297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8F7"/>
                </a:solidFill>
                <a:latin typeface="Arial" pitchFamily="34" charset="0"/>
                <a:ea typeface="Arial" pitchFamily="34" charset="-122"/>
                <a:cs typeface="Arial" pitchFamily="34" charset="-120"/>
              </a:rPr>
              <a:t>질문마다 판단</a:t>
            </a:r>
            <a:endParaRPr lang="en-US" sz="1500" dirty="0"/>
          </a:p>
        </p:txBody>
      </p:sp>
      <p:sp>
        <p:nvSpPr>
          <p:cNvPr id="27" name="Text 25"/>
          <p:cNvSpPr/>
          <p:nvPr/>
        </p:nvSpPr>
        <p:spPr>
          <a:xfrm>
            <a:off x="4371975" y="4061420"/>
            <a:ext cx="18149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같은 state를 두고 병렬로 평가한다</a:t>
            </a:r>
            <a:endParaRPr lang="en-US" sz="1200" dirty="0"/>
          </a:p>
        </p:txBody>
      </p:sp>
      <p:sp>
        <p:nvSpPr>
          <p:cNvPr id="28" name="Text 26"/>
          <p:cNvSpPr/>
          <p:nvPr/>
        </p:nvSpPr>
        <p:spPr>
          <a:xfrm>
            <a:off x="6394450" y="3954066"/>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a:t>
            </a:r>
            <a:endParaRPr lang="en-US" sz="2000" dirty="0"/>
          </a:p>
        </p:txBody>
      </p:sp>
      <p:sp>
        <p:nvSpPr>
          <p:cNvPr id="29" name="Shape 27"/>
          <p:cNvSpPr/>
          <p:nvPr/>
        </p:nvSpPr>
        <p:spPr>
          <a:xfrm>
            <a:off x="6756400" y="3610570"/>
            <a:ext cx="2079625" cy="1042591"/>
          </a:xfrm>
          <a:prstGeom prst="roundRect">
            <a:avLst>
              <a:gd name="adj" fmla="val 6700"/>
            </a:avLst>
          </a:prstGeom>
          <a:noFill/>
          <a:ln w="12700">
            <a:solidFill>
              <a:srgbClr val="4DB6A0"/>
            </a:solidFill>
            <a:prstDash val="dash"/>
          </a:ln>
        </p:spPr>
      </p:sp>
      <p:sp>
        <p:nvSpPr>
          <p:cNvPr id="30" name="Text 28"/>
          <p:cNvSpPr/>
          <p:nvPr/>
        </p:nvSpPr>
        <p:spPr>
          <a:xfrm>
            <a:off x="6915150" y="376932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4DB6A0"/>
                </a:solidFill>
                <a:latin typeface="Arial" pitchFamily="34" charset="0"/>
                <a:ea typeface="Arial" pitchFamily="34" charset="-122"/>
                <a:cs typeface="Arial" pitchFamily="34" charset="-120"/>
              </a:rPr>
              <a:t>파싱 단계 없음</a:t>
            </a:r>
            <a:endParaRPr lang="en-US" sz="1500" dirty="0"/>
          </a:p>
        </p:txBody>
      </p:sp>
      <p:sp>
        <p:nvSpPr>
          <p:cNvPr id="31" name="Text 29"/>
          <p:cNvSpPr/>
          <p:nvPr/>
        </p:nvSpPr>
        <p:spPr>
          <a:xfrm>
            <a:off x="6915150" y="4067770"/>
            <a:ext cx="18149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CF2"/>
                </a:solidFill>
                <a:latin typeface="Arial" pitchFamily="34" charset="0"/>
                <a:ea typeface="Arial" pitchFamily="34" charset="-122"/>
                <a:cs typeface="Arial" pitchFamily="34" charset="-120"/>
              </a:rPr>
              <a:t>가능한 답과 구조가 미리 정해져 있다</a:t>
            </a:r>
            <a:endParaRPr lang="en-US" sz="1200" dirty="0"/>
          </a:p>
        </p:txBody>
      </p:sp>
      <p:sp>
        <p:nvSpPr>
          <p:cNvPr id="32" name="Text 30"/>
          <p:cNvSpPr/>
          <p:nvPr/>
        </p:nvSpPr>
        <p:spPr>
          <a:xfrm>
            <a:off x="8943975" y="3954066"/>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DB6A0"/>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9302750" y="3607395"/>
            <a:ext cx="2073275" cy="1048941"/>
          </a:xfrm>
          <a:prstGeom prst="roundRect">
            <a:avLst>
              <a:gd name="adj" fmla="val 6962"/>
            </a:avLst>
          </a:prstGeom>
          <a:solidFill>
            <a:srgbClr val="1B2638"/>
          </a:solidFill>
          <a:ln w="6350">
            <a:solidFill>
              <a:srgbClr val="2E3C52"/>
            </a:solidFill>
            <a:prstDash val="solid"/>
          </a:ln>
        </p:spPr>
      </p:sp>
      <p:sp>
        <p:nvSpPr>
          <p:cNvPr id="34" name="Text 32"/>
          <p:cNvSpPr/>
          <p:nvPr/>
        </p:nvSpPr>
        <p:spPr>
          <a:xfrm>
            <a:off x="9458325" y="3762970"/>
            <a:ext cx="181498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8F7"/>
                </a:solidFill>
                <a:latin typeface="Arial" pitchFamily="34" charset="0"/>
                <a:ea typeface="Arial" pitchFamily="34" charset="-122"/>
                <a:cs typeface="Arial" pitchFamily="34" charset="-120"/>
              </a:rPr>
              <a:t>코드</a:t>
            </a:r>
            <a:endParaRPr lang="en-US" sz="1500" dirty="0"/>
          </a:p>
        </p:txBody>
      </p:sp>
      <p:sp>
        <p:nvSpPr>
          <p:cNvPr id="35" name="Text 33"/>
          <p:cNvSpPr/>
          <p:nvPr/>
        </p:nvSpPr>
        <p:spPr>
          <a:xfrm>
            <a:off x="9458325" y="4061420"/>
            <a:ext cx="18149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타입이 정해진 답과 확률로 분기, 정렬, 라우팅</a:t>
            </a:r>
            <a:endParaRPr lang="en-US" sz="1200" dirty="0"/>
          </a:p>
        </p:txBody>
      </p:sp>
      <p:sp>
        <p:nvSpPr>
          <p:cNvPr id="36" name="Text 34"/>
          <p:cNvSpPr/>
          <p:nvPr/>
        </p:nvSpPr>
        <p:spPr>
          <a:xfrm>
            <a:off x="812800" y="54864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8F7"/>
                </a:solidFill>
                <a:latin typeface="Arial" pitchFamily="34" charset="0"/>
                <a:ea typeface="Arial" pitchFamily="34" charset="-122"/>
                <a:cs typeface="Arial" pitchFamily="34" charset="-120"/>
              </a:rPr>
              <a:t>문제는 LLM의 능력이 아니라 모양의 불일치입니다</a:t>
            </a:r>
            <a:endParaRPr lang="en-US" sz="2000" dirty="0"/>
          </a:p>
        </p:txBody>
      </p:sp>
      <p:sp>
        <p:nvSpPr>
          <p:cNvPr id="37"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출처: TypeSafe 문서와 블로그 비교표를 다시 그림 (속도와 비용 수치 제외)</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고객 지원 티켓 예시</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호출 한 번의 동작 방식</a:t>
            </a:r>
            <a:endParaRPr lang="en-US" sz="3200" dirty="0"/>
          </a:p>
        </p:txBody>
      </p:sp>
      <p:sp>
        <p:nvSpPr>
          <p:cNvPr id="4" name="Shape 2"/>
          <p:cNvSpPr/>
          <p:nvPr/>
        </p:nvSpPr>
        <p:spPr>
          <a:xfrm>
            <a:off x="815975" y="1908175"/>
            <a:ext cx="2025650" cy="3803650"/>
          </a:xfrm>
          <a:prstGeom prst="roundRect">
            <a:avLst>
              <a:gd name="adj" fmla="val 4859"/>
            </a:avLst>
          </a:prstGeom>
          <a:solidFill>
            <a:srgbClr val="EAF0EE"/>
          </a:solidFill>
          <a:ln w="6350">
            <a:solidFill>
              <a:srgbClr val="D3DDD9"/>
            </a:solidFill>
            <a:prstDash val="solid"/>
          </a:ln>
        </p:spPr>
      </p:sp>
      <p:sp>
        <p:nvSpPr>
          <p:cNvPr id="5" name="Text 3"/>
          <p:cNvSpPr/>
          <p:nvPr/>
        </p:nvSpPr>
        <p:spPr>
          <a:xfrm>
            <a:off x="965200" y="2032000"/>
            <a:ext cx="177901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7964"/>
                </a:solidFill>
                <a:latin typeface="Courier New" pitchFamily="49" charset="0"/>
                <a:ea typeface="Courier New" pitchFamily="49" charset="-122"/>
                <a:cs typeface="Courier New" pitchFamily="49" charset="-120"/>
              </a:rPr>
              <a:t>state</a:t>
            </a:r>
            <a:endParaRPr lang="en-US" sz="1500" dirty="0"/>
          </a:p>
        </p:txBody>
      </p:sp>
      <p:sp>
        <p:nvSpPr>
          <p:cNvPr id="6" name="Text 4"/>
          <p:cNvSpPr/>
          <p:nvPr/>
        </p:nvSpPr>
        <p:spPr>
          <a:xfrm>
            <a:off x="965200" y="2336800"/>
            <a:ext cx="1779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평가할 내용: 고객 티켓 원문</a:t>
            </a:r>
            <a:endParaRPr lang="en-US" sz="1200" dirty="0"/>
          </a:p>
        </p:txBody>
      </p:sp>
      <p:sp>
        <p:nvSpPr>
          <p:cNvPr id="7" name="Text 5"/>
          <p:cNvSpPr/>
          <p:nvPr/>
        </p:nvSpPr>
        <p:spPr>
          <a:xfrm>
            <a:off x="965200" y="2870200"/>
            <a:ext cx="1779016" cy="1854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533"/>
                </a:solidFill>
                <a:latin typeface="Courier New" pitchFamily="49" charset="0"/>
                <a:ea typeface="Courier New" pitchFamily="49" charset="-122"/>
                <a:cs typeface="Courier New" pitchFamily="49" charset="-120"/>
              </a:rPr>
              <a:t>Hi, I've been trying to connect my Stripe account for 3 days and the integration keeps failing. I'm losing sales. Please help ASAP.</a:t>
            </a:r>
            <a:endParaRPr lang="en-US" sz="1200" dirty="0"/>
          </a:p>
        </p:txBody>
      </p:sp>
      <p:sp>
        <p:nvSpPr>
          <p:cNvPr id="8" name="Shape 6"/>
          <p:cNvSpPr/>
          <p:nvPr/>
        </p:nvSpPr>
        <p:spPr>
          <a:xfrm>
            <a:off x="3311525" y="1914525"/>
            <a:ext cx="5568950" cy="3790950"/>
          </a:xfrm>
          <a:prstGeom prst="roundRect">
            <a:avLst>
              <a:gd name="adj" fmla="val 3099"/>
            </a:avLst>
          </a:prstGeom>
          <a:solidFill>
            <a:srgbClr val="E4EEEA"/>
          </a:solidFill>
          <a:ln w="19050">
            <a:solidFill>
              <a:srgbClr val="117964"/>
            </a:solidFill>
            <a:prstDash val="solid"/>
          </a:ln>
        </p:spPr>
      </p:sp>
      <p:sp>
        <p:nvSpPr>
          <p:cNvPr id="9" name="Text 7"/>
          <p:cNvSpPr/>
          <p:nvPr/>
        </p:nvSpPr>
        <p:spPr>
          <a:xfrm>
            <a:off x="3505200" y="200660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Jev: 같은 state를 보고, 질문마다 따로 병렬로 평가</a:t>
            </a:r>
            <a:endParaRPr lang="en-US" sz="1200" dirty="0"/>
          </a:p>
        </p:txBody>
      </p:sp>
      <p:sp>
        <p:nvSpPr>
          <p:cNvPr id="10" name="Shape 8"/>
          <p:cNvSpPr/>
          <p:nvPr/>
        </p:nvSpPr>
        <p:spPr>
          <a:xfrm>
            <a:off x="9344025" y="1914525"/>
            <a:ext cx="2025650" cy="3790950"/>
          </a:xfrm>
          <a:prstGeom prst="roundRect">
            <a:avLst>
              <a:gd name="adj" fmla="val 5799"/>
            </a:avLst>
          </a:prstGeom>
          <a:solidFill>
            <a:srgbClr val="F6E9DA"/>
          </a:solidFill>
          <a:ln w="19050">
            <a:solidFill>
              <a:srgbClr val="A64B0B"/>
            </a:solidFill>
            <a:prstDash val="solid"/>
          </a:ln>
        </p:spPr>
      </p:sp>
      <p:sp>
        <p:nvSpPr>
          <p:cNvPr id="11" name="Text 9"/>
          <p:cNvSpPr/>
          <p:nvPr/>
        </p:nvSpPr>
        <p:spPr>
          <a:xfrm>
            <a:off x="9486900" y="2006600"/>
            <a:ext cx="17920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A64B0B"/>
                </a:solidFill>
                <a:latin typeface="Arial" pitchFamily="34" charset="0"/>
                <a:ea typeface="Arial" pitchFamily="34" charset="-122"/>
                <a:cs typeface="Arial" pitchFamily="34" charset="-120"/>
              </a:rPr>
              <a:t>코드</a:t>
            </a:r>
            <a:endParaRPr lang="en-US" sz="1500" dirty="0"/>
          </a:p>
        </p:txBody>
      </p:sp>
      <p:sp>
        <p:nvSpPr>
          <p:cNvPr id="12" name="Shape 10"/>
          <p:cNvSpPr/>
          <p:nvPr/>
        </p:nvSpPr>
        <p:spPr>
          <a:xfrm>
            <a:off x="3508375" y="2327275"/>
            <a:ext cx="2533650" cy="1009650"/>
          </a:xfrm>
          <a:prstGeom prst="roundRect">
            <a:avLst>
              <a:gd name="adj" fmla="val 7233"/>
            </a:avLst>
          </a:prstGeom>
          <a:solidFill>
            <a:srgbClr val="F6F8F7"/>
          </a:solidFill>
          <a:ln w="6350">
            <a:solidFill>
              <a:srgbClr val="D3DDD9"/>
            </a:solidFill>
            <a:prstDash val="solid"/>
          </a:ln>
        </p:spPr>
      </p:sp>
      <p:sp>
        <p:nvSpPr>
          <p:cNvPr id="13" name="Text 11"/>
          <p:cNvSpPr/>
          <p:nvPr/>
        </p:nvSpPr>
        <p:spPr>
          <a:xfrm>
            <a:off x="3632200" y="24130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Courier New" pitchFamily="49" charset="0"/>
                <a:ea typeface="Courier New" pitchFamily="49" charset="-122"/>
                <a:cs typeface="Courier New" pitchFamily="49" charset="-120"/>
              </a:rPr>
              <a:t>department</a:t>
            </a:r>
            <a:endParaRPr lang="en-US" sz="1200" dirty="0"/>
          </a:p>
        </p:txBody>
      </p:sp>
      <p:sp>
        <p:nvSpPr>
          <p:cNvPr id="14" name="Text 12"/>
          <p:cNvSpPr/>
          <p:nvPr/>
        </p:nvSpPr>
        <p:spPr>
          <a:xfrm>
            <a:off x="4756150" y="2419350"/>
            <a:ext cx="622300" cy="226020"/>
          </a:xfrm>
          <a:custGeom>
            <a:avLst/>
            <a:gdLst/>
            <a:ahLst/>
            <a:cxnLst/>
            <a:rect l="l" t="t" r="r" b="b"/>
            <a:pathLst>
              <a:path w="622300" h="226020">
                <a:moveTo>
                  <a:pt x="113010" y="0"/>
                </a:moveTo>
                <a:lnTo>
                  <a:pt x="509290" y="0"/>
                </a:lnTo>
                <a:arcTo hR="113010" wR="113010" stAng="16200000" swAng="5400000"/>
                <a:lnTo>
                  <a:pt x="62230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117964"/>
            </a:solidFill>
            <a:prstDash val="solid"/>
          </a:ln>
        </p:spPr>
        <p:txBody>
          <a:bodyPr wrap="square" lIns="0" tIns="6350" rIns="0" bIns="0" rtlCol="0" anchor="t">
            <a:normAutofit/>
          </a:bodyPr>
          <a:lstStyle/>
          <a:p>
            <a:pPr algn="ctr" indent="0" marL="0">
              <a:lnSpc>
                <a:spcPts val="1680"/>
              </a:lnSpc>
              <a:buNone/>
            </a:pPr>
            <a:r>
              <a:rPr lang="en-US" sz="1200" dirty="0">
                <a:solidFill>
                  <a:srgbClr val="117964"/>
                </a:solidFill>
                <a:latin typeface="Courier New" pitchFamily="49" charset="0"/>
                <a:ea typeface="Courier New" pitchFamily="49" charset="-122"/>
                <a:cs typeface="Courier New" pitchFamily="49" charset="-120"/>
              </a:rPr>
              <a:t>Choice</a:t>
            </a:r>
            <a:endParaRPr lang="en-US" sz="1200" dirty="0"/>
          </a:p>
        </p:txBody>
      </p:sp>
      <p:sp>
        <p:nvSpPr>
          <p:cNvPr id="15" name="Text 13"/>
          <p:cNvSpPr/>
          <p:nvPr/>
        </p:nvSpPr>
        <p:spPr>
          <a:xfrm>
            <a:off x="3632200" y="269240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어느 팀이 맡아야 하나</a:t>
            </a:r>
            <a:endParaRPr lang="en-US" sz="1200" dirty="0"/>
          </a:p>
        </p:txBody>
      </p:sp>
      <p:sp>
        <p:nvSpPr>
          <p:cNvPr id="16" name="Text 14"/>
          <p:cNvSpPr/>
          <p:nvPr/>
        </p:nvSpPr>
        <p:spPr>
          <a:xfrm>
            <a:off x="3632200" y="295910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billing | technical | sales</a:t>
            </a:r>
            <a:endParaRPr lang="en-US" sz="1200" dirty="0"/>
          </a:p>
        </p:txBody>
      </p:sp>
      <p:sp>
        <p:nvSpPr>
          <p:cNvPr id="17" name="Shape 15"/>
          <p:cNvSpPr/>
          <p:nvPr/>
        </p:nvSpPr>
        <p:spPr>
          <a:xfrm>
            <a:off x="3508375" y="3470275"/>
            <a:ext cx="2533650" cy="1009650"/>
          </a:xfrm>
          <a:prstGeom prst="roundRect">
            <a:avLst>
              <a:gd name="adj" fmla="val 7233"/>
            </a:avLst>
          </a:prstGeom>
          <a:solidFill>
            <a:srgbClr val="F6F8F7"/>
          </a:solidFill>
          <a:ln w="6350">
            <a:solidFill>
              <a:srgbClr val="D3DDD9"/>
            </a:solidFill>
            <a:prstDash val="solid"/>
          </a:ln>
        </p:spPr>
      </p:sp>
      <p:sp>
        <p:nvSpPr>
          <p:cNvPr id="18" name="Text 16"/>
          <p:cNvSpPr/>
          <p:nvPr/>
        </p:nvSpPr>
        <p:spPr>
          <a:xfrm>
            <a:off x="3632200" y="35560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Courier New" pitchFamily="49" charset="0"/>
                <a:ea typeface="Courier New" pitchFamily="49" charset="-122"/>
                <a:cs typeface="Courier New" pitchFamily="49" charset="-120"/>
              </a:rPr>
              <a:t>frustration</a:t>
            </a:r>
            <a:endParaRPr lang="en-US" sz="1200" dirty="0"/>
          </a:p>
        </p:txBody>
      </p:sp>
      <p:sp>
        <p:nvSpPr>
          <p:cNvPr id="19" name="Text 17"/>
          <p:cNvSpPr/>
          <p:nvPr/>
        </p:nvSpPr>
        <p:spPr>
          <a:xfrm>
            <a:off x="4756150" y="3562350"/>
            <a:ext cx="622300" cy="226020"/>
          </a:xfrm>
          <a:custGeom>
            <a:avLst/>
            <a:gdLst/>
            <a:ahLst/>
            <a:cxnLst/>
            <a:rect l="l" t="t" r="r" b="b"/>
            <a:pathLst>
              <a:path w="622300" h="226020">
                <a:moveTo>
                  <a:pt x="113010" y="0"/>
                </a:moveTo>
                <a:lnTo>
                  <a:pt x="509290" y="0"/>
                </a:lnTo>
                <a:arcTo hR="113010" wR="113010" stAng="16200000" swAng="5400000"/>
                <a:lnTo>
                  <a:pt x="62230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117964"/>
            </a:solidFill>
            <a:prstDash val="solid"/>
          </a:ln>
        </p:spPr>
        <p:txBody>
          <a:bodyPr wrap="square" lIns="0" tIns="6350" rIns="0" bIns="0" rtlCol="0" anchor="t">
            <a:normAutofit/>
          </a:bodyPr>
          <a:lstStyle/>
          <a:p>
            <a:pPr algn="ctr" indent="0" marL="0">
              <a:lnSpc>
                <a:spcPts val="1680"/>
              </a:lnSpc>
              <a:buNone/>
            </a:pPr>
            <a:r>
              <a:rPr lang="en-US" sz="1200" dirty="0">
                <a:solidFill>
                  <a:srgbClr val="117964"/>
                </a:solidFill>
                <a:latin typeface="Courier New" pitchFamily="49" charset="0"/>
                <a:ea typeface="Courier New" pitchFamily="49" charset="-122"/>
                <a:cs typeface="Courier New" pitchFamily="49" charset="-120"/>
              </a:rPr>
              <a:t>Score</a:t>
            </a:r>
            <a:endParaRPr lang="en-US" sz="1200" dirty="0"/>
          </a:p>
        </p:txBody>
      </p:sp>
      <p:sp>
        <p:nvSpPr>
          <p:cNvPr id="20" name="Text 18"/>
          <p:cNvSpPr/>
          <p:nvPr/>
        </p:nvSpPr>
        <p:spPr>
          <a:xfrm>
            <a:off x="3632200" y="383540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고객이 얼마나 화났나</a:t>
            </a:r>
            <a:endParaRPr lang="en-US" sz="1200" dirty="0"/>
          </a:p>
        </p:txBody>
      </p:sp>
      <p:sp>
        <p:nvSpPr>
          <p:cNvPr id="21" name="Text 19"/>
          <p:cNvSpPr/>
          <p:nvPr/>
        </p:nvSpPr>
        <p:spPr>
          <a:xfrm>
            <a:off x="3632200" y="410210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0 침착, 1 불만, 2 분노</a:t>
            </a:r>
            <a:endParaRPr lang="en-US" sz="1200" dirty="0"/>
          </a:p>
        </p:txBody>
      </p:sp>
      <p:sp>
        <p:nvSpPr>
          <p:cNvPr id="22" name="Shape 20"/>
          <p:cNvSpPr/>
          <p:nvPr/>
        </p:nvSpPr>
        <p:spPr>
          <a:xfrm>
            <a:off x="3508375" y="4613275"/>
            <a:ext cx="2533650" cy="1009650"/>
          </a:xfrm>
          <a:prstGeom prst="roundRect">
            <a:avLst>
              <a:gd name="adj" fmla="val 7233"/>
            </a:avLst>
          </a:prstGeom>
          <a:solidFill>
            <a:srgbClr val="F6F8F7"/>
          </a:solidFill>
          <a:ln w="6350">
            <a:solidFill>
              <a:srgbClr val="D3DDD9"/>
            </a:solidFill>
            <a:prstDash val="solid"/>
          </a:ln>
        </p:spPr>
      </p:sp>
      <p:sp>
        <p:nvSpPr>
          <p:cNvPr id="23" name="Text 21"/>
          <p:cNvSpPr/>
          <p:nvPr/>
        </p:nvSpPr>
        <p:spPr>
          <a:xfrm>
            <a:off x="3632200" y="46990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Courier New" pitchFamily="49" charset="0"/>
                <a:ea typeface="Courier New" pitchFamily="49" charset="-122"/>
                <a:cs typeface="Courier New" pitchFamily="49" charset="-120"/>
              </a:rPr>
              <a:t>is_urgent</a:t>
            </a:r>
            <a:endParaRPr lang="en-US" sz="1200" dirty="0"/>
          </a:p>
        </p:txBody>
      </p:sp>
      <p:sp>
        <p:nvSpPr>
          <p:cNvPr id="24" name="Text 22"/>
          <p:cNvSpPr/>
          <p:nvPr/>
        </p:nvSpPr>
        <p:spPr>
          <a:xfrm>
            <a:off x="4756150" y="4705350"/>
            <a:ext cx="622300" cy="226020"/>
          </a:xfrm>
          <a:custGeom>
            <a:avLst/>
            <a:gdLst/>
            <a:ahLst/>
            <a:cxnLst/>
            <a:rect l="l" t="t" r="r" b="b"/>
            <a:pathLst>
              <a:path w="622300" h="226020">
                <a:moveTo>
                  <a:pt x="113010" y="0"/>
                </a:moveTo>
                <a:lnTo>
                  <a:pt x="509290" y="0"/>
                </a:lnTo>
                <a:arcTo hR="113010" wR="113010" stAng="16200000" swAng="5400000"/>
                <a:lnTo>
                  <a:pt x="62230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117964"/>
            </a:solidFill>
            <a:prstDash val="solid"/>
          </a:ln>
        </p:spPr>
        <p:txBody>
          <a:bodyPr wrap="square" lIns="0" tIns="6350" rIns="0" bIns="0" rtlCol="0" anchor="t">
            <a:normAutofit/>
          </a:bodyPr>
          <a:lstStyle/>
          <a:p>
            <a:pPr algn="ctr" indent="0" marL="0">
              <a:lnSpc>
                <a:spcPts val="1680"/>
              </a:lnSpc>
              <a:buNone/>
            </a:pPr>
            <a:r>
              <a:rPr lang="en-US" sz="1200" dirty="0">
                <a:solidFill>
                  <a:srgbClr val="117964"/>
                </a:solidFill>
                <a:latin typeface="Courier New" pitchFamily="49" charset="0"/>
                <a:ea typeface="Courier New" pitchFamily="49" charset="-122"/>
                <a:cs typeface="Courier New" pitchFamily="49" charset="-120"/>
              </a:rPr>
              <a:t>Noul</a:t>
            </a:r>
            <a:endParaRPr lang="en-US" sz="1200" dirty="0"/>
          </a:p>
        </p:txBody>
      </p:sp>
      <p:sp>
        <p:nvSpPr>
          <p:cNvPr id="25" name="Text 23"/>
          <p:cNvSpPr/>
          <p:nvPr/>
        </p:nvSpPr>
        <p:spPr>
          <a:xfrm>
            <a:off x="3632200" y="497840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긴급하다는 내용인가</a:t>
            </a:r>
            <a:endParaRPr lang="en-US" sz="1200" dirty="0"/>
          </a:p>
        </p:txBody>
      </p:sp>
      <p:sp>
        <p:nvSpPr>
          <p:cNvPr id="26" name="Text 24"/>
          <p:cNvSpPr/>
          <p:nvPr/>
        </p:nvSpPr>
        <p:spPr>
          <a:xfrm>
            <a:off x="3632200" y="524510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예, 아니오 질문</a:t>
            </a:r>
            <a:endParaRPr lang="en-US" sz="1200" dirty="0"/>
          </a:p>
        </p:txBody>
      </p:sp>
      <p:sp>
        <p:nvSpPr>
          <p:cNvPr id="27" name="Shape 25"/>
          <p:cNvSpPr/>
          <p:nvPr/>
        </p:nvSpPr>
        <p:spPr>
          <a:xfrm>
            <a:off x="6432550" y="2330450"/>
            <a:ext cx="2247900" cy="1003300"/>
          </a:xfrm>
          <a:prstGeom prst="roundRect">
            <a:avLst>
              <a:gd name="adj" fmla="val 6962"/>
            </a:avLst>
          </a:prstGeom>
          <a:solidFill>
            <a:srgbClr val="F6F8F7"/>
          </a:solidFill>
          <a:ln w="12700">
            <a:solidFill>
              <a:srgbClr val="117964"/>
            </a:solidFill>
            <a:prstDash val="solid"/>
          </a:ln>
        </p:spPr>
      </p:sp>
      <p:sp>
        <p:nvSpPr>
          <p:cNvPr id="28" name="Text 26"/>
          <p:cNvSpPr/>
          <p:nvPr/>
        </p:nvSpPr>
        <p:spPr>
          <a:xfrm>
            <a:off x="6553200" y="2400300"/>
            <a:ext cx="20667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choice: technical</a:t>
            </a:r>
            <a:endParaRPr lang="en-US" sz="1500" dirty="0"/>
          </a:p>
        </p:txBody>
      </p:sp>
      <p:sp>
        <p:nvSpPr>
          <p:cNvPr id="29" name="Shape 27"/>
          <p:cNvSpPr/>
          <p:nvPr/>
        </p:nvSpPr>
        <p:spPr>
          <a:xfrm>
            <a:off x="6553200" y="2768600"/>
            <a:ext cx="2006600" cy="139700"/>
          </a:xfrm>
          <a:prstGeom prst="roundRect">
            <a:avLst>
              <a:gd name="adj" fmla="val 50000"/>
            </a:avLst>
          </a:prstGeom>
          <a:solidFill>
            <a:srgbClr val="D3DDD9"/>
          </a:solidFill>
          <a:ln/>
        </p:spPr>
      </p:sp>
      <p:sp>
        <p:nvSpPr>
          <p:cNvPr id="30" name="Shape 28"/>
          <p:cNvSpPr/>
          <p:nvPr/>
        </p:nvSpPr>
        <p:spPr>
          <a:xfrm>
            <a:off x="6553200" y="2768600"/>
            <a:ext cx="1708150" cy="139700"/>
          </a:xfrm>
          <a:custGeom>
            <a:avLst/>
            <a:gdLst/>
            <a:ahLst/>
            <a:cxnLst/>
            <a:rect l="l" t="t" r="r" b="b"/>
            <a:pathLst>
              <a:path w="1708150" h="139700">
                <a:moveTo>
                  <a:pt x="69850" y="0"/>
                </a:moveTo>
                <a:lnTo>
                  <a:pt x="1708150" y="0"/>
                </a:lnTo>
                <a:lnTo>
                  <a:pt x="1708150" y="139700"/>
                </a:lnTo>
                <a:lnTo>
                  <a:pt x="69850" y="139700"/>
                </a:lnTo>
                <a:arcTo hR="69850" wR="69850" stAng="5400000" swAng="5400000"/>
                <a:lnTo>
                  <a:pt x="0" y="69850"/>
                </a:lnTo>
                <a:arcTo hR="69850" wR="69850" stAng="10800000" swAng="5400000"/>
                <a:close/>
              </a:path>
            </a:pathLst>
          </a:custGeom>
          <a:solidFill>
            <a:srgbClr val="117964"/>
          </a:solidFill>
          <a:ln/>
        </p:spPr>
      </p:sp>
      <p:sp>
        <p:nvSpPr>
          <p:cNvPr id="31" name="Shape 29"/>
          <p:cNvSpPr/>
          <p:nvPr/>
        </p:nvSpPr>
        <p:spPr>
          <a:xfrm>
            <a:off x="8261350" y="2768600"/>
            <a:ext cx="298450" cy="139700"/>
          </a:xfrm>
          <a:custGeom>
            <a:avLst/>
            <a:gdLst/>
            <a:ahLst/>
            <a:cxnLst/>
            <a:rect l="l" t="t" r="r" b="b"/>
            <a:pathLst>
              <a:path w="298450" h="139700">
                <a:moveTo>
                  <a:pt x="0" y="0"/>
                </a:moveTo>
                <a:lnTo>
                  <a:pt x="228600" y="0"/>
                </a:lnTo>
                <a:arcTo hR="69850" wR="69850" stAng="16200000" swAng="5400000"/>
                <a:lnTo>
                  <a:pt x="298450" y="69850"/>
                </a:lnTo>
                <a:arcTo hR="69850" wR="69850" stAng="0" swAng="5400000"/>
                <a:lnTo>
                  <a:pt x="0" y="139700"/>
                </a:lnTo>
                <a:lnTo>
                  <a:pt x="0" y="0"/>
                </a:lnTo>
                <a:close/>
              </a:path>
            </a:pathLst>
          </a:custGeom>
          <a:solidFill>
            <a:srgbClr val="7FB8AB"/>
          </a:solidFill>
          <a:ln/>
        </p:spPr>
      </p:sp>
      <p:sp>
        <p:nvSpPr>
          <p:cNvPr id="32" name="Text 30"/>
          <p:cNvSpPr/>
          <p:nvPr/>
        </p:nvSpPr>
        <p:spPr>
          <a:xfrm>
            <a:off x="6553200" y="29972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확률 0.85 | 0.15 | 0.0</a:t>
            </a:r>
            <a:endParaRPr lang="en-US" sz="1200" dirty="0"/>
          </a:p>
        </p:txBody>
      </p:sp>
      <p:sp>
        <p:nvSpPr>
          <p:cNvPr id="33" name="Shape 31"/>
          <p:cNvSpPr/>
          <p:nvPr/>
        </p:nvSpPr>
        <p:spPr>
          <a:xfrm>
            <a:off x="6432550" y="3473450"/>
            <a:ext cx="2247900" cy="1003300"/>
          </a:xfrm>
          <a:prstGeom prst="roundRect">
            <a:avLst>
              <a:gd name="adj" fmla="val 6962"/>
            </a:avLst>
          </a:prstGeom>
          <a:solidFill>
            <a:srgbClr val="F6F8F7"/>
          </a:solidFill>
          <a:ln w="12700">
            <a:solidFill>
              <a:srgbClr val="117964"/>
            </a:solidFill>
            <a:prstDash val="solid"/>
          </a:ln>
        </p:spPr>
      </p:sp>
      <p:sp>
        <p:nvSpPr>
          <p:cNvPr id="34" name="Text 32"/>
          <p:cNvSpPr/>
          <p:nvPr/>
        </p:nvSpPr>
        <p:spPr>
          <a:xfrm>
            <a:off x="6553200" y="3543300"/>
            <a:ext cx="20667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score: 1.0</a:t>
            </a:r>
            <a:endParaRPr lang="en-US" sz="1500" dirty="0"/>
          </a:p>
        </p:txBody>
      </p:sp>
      <p:sp>
        <p:nvSpPr>
          <p:cNvPr id="35" name="Shape 33"/>
          <p:cNvSpPr/>
          <p:nvPr/>
        </p:nvSpPr>
        <p:spPr>
          <a:xfrm>
            <a:off x="6553200" y="3911600"/>
            <a:ext cx="2006600" cy="139700"/>
          </a:xfrm>
          <a:prstGeom prst="roundRect">
            <a:avLst>
              <a:gd name="adj" fmla="val 50000"/>
            </a:avLst>
          </a:prstGeom>
          <a:solidFill>
            <a:srgbClr val="D3DDD9"/>
          </a:solidFill>
          <a:ln/>
        </p:spPr>
      </p:sp>
      <p:sp>
        <p:nvSpPr>
          <p:cNvPr id="36" name="Shape 34"/>
          <p:cNvSpPr/>
          <p:nvPr/>
        </p:nvSpPr>
        <p:spPr>
          <a:xfrm>
            <a:off x="7467600" y="3892550"/>
            <a:ext cx="177800" cy="177800"/>
          </a:xfrm>
          <a:prstGeom prst="roundRect">
            <a:avLst>
              <a:gd name="adj" fmla="val 50000"/>
            </a:avLst>
          </a:prstGeom>
          <a:solidFill>
            <a:srgbClr val="117964"/>
          </a:solidFill>
          <a:ln/>
        </p:spPr>
      </p:sp>
      <p:sp>
        <p:nvSpPr>
          <p:cNvPr id="37" name="Text 35"/>
          <p:cNvSpPr/>
          <p:nvPr/>
        </p:nvSpPr>
        <p:spPr>
          <a:xfrm>
            <a:off x="6553200" y="41402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확신도 1.0</a:t>
            </a:r>
            <a:endParaRPr lang="en-US" sz="1200" dirty="0"/>
          </a:p>
        </p:txBody>
      </p:sp>
      <p:sp>
        <p:nvSpPr>
          <p:cNvPr id="38" name="Shape 36"/>
          <p:cNvSpPr/>
          <p:nvPr/>
        </p:nvSpPr>
        <p:spPr>
          <a:xfrm>
            <a:off x="6432550" y="4616450"/>
            <a:ext cx="2247900" cy="1003300"/>
          </a:xfrm>
          <a:prstGeom prst="roundRect">
            <a:avLst>
              <a:gd name="adj" fmla="val 6962"/>
            </a:avLst>
          </a:prstGeom>
          <a:solidFill>
            <a:srgbClr val="F6F8F7"/>
          </a:solidFill>
          <a:ln w="12700">
            <a:solidFill>
              <a:srgbClr val="117964"/>
            </a:solidFill>
            <a:prstDash val="solid"/>
          </a:ln>
        </p:spPr>
      </p:sp>
      <p:sp>
        <p:nvSpPr>
          <p:cNvPr id="39" name="Text 37"/>
          <p:cNvSpPr/>
          <p:nvPr/>
        </p:nvSpPr>
        <p:spPr>
          <a:xfrm>
            <a:off x="6553200" y="4686300"/>
            <a:ext cx="20667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noul: 1.0</a:t>
            </a:r>
            <a:endParaRPr lang="en-US" sz="1500" dirty="0"/>
          </a:p>
        </p:txBody>
      </p:sp>
      <p:sp>
        <p:nvSpPr>
          <p:cNvPr id="40" name="Shape 38"/>
          <p:cNvSpPr/>
          <p:nvPr/>
        </p:nvSpPr>
        <p:spPr>
          <a:xfrm>
            <a:off x="6553200" y="5054600"/>
            <a:ext cx="2006600" cy="139700"/>
          </a:xfrm>
          <a:prstGeom prst="roundRect">
            <a:avLst>
              <a:gd name="adj" fmla="val 50000"/>
            </a:avLst>
          </a:prstGeom>
          <a:solidFill>
            <a:srgbClr val="D3DDD9"/>
          </a:solidFill>
          <a:ln/>
        </p:spPr>
      </p:sp>
      <p:sp>
        <p:nvSpPr>
          <p:cNvPr id="41" name="Shape 39"/>
          <p:cNvSpPr/>
          <p:nvPr/>
        </p:nvSpPr>
        <p:spPr>
          <a:xfrm>
            <a:off x="8470900" y="5035550"/>
            <a:ext cx="177800" cy="177800"/>
          </a:xfrm>
          <a:prstGeom prst="roundRect">
            <a:avLst>
              <a:gd name="adj" fmla="val 50000"/>
            </a:avLst>
          </a:prstGeom>
          <a:solidFill>
            <a:srgbClr val="117964"/>
          </a:solidFill>
          <a:ln/>
        </p:spPr>
      </p:sp>
      <p:sp>
        <p:nvSpPr>
          <p:cNvPr id="42" name="Text 40"/>
          <p:cNvSpPr/>
          <p:nvPr/>
        </p:nvSpPr>
        <p:spPr>
          <a:xfrm>
            <a:off x="6553200" y="528320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참일 확률, 확신도 없음</a:t>
            </a:r>
            <a:endParaRPr lang="en-US" sz="1200" dirty="0"/>
          </a:p>
        </p:txBody>
      </p:sp>
      <p:sp>
        <p:nvSpPr>
          <p:cNvPr id="43" name="Text 41"/>
          <p:cNvSpPr/>
          <p:nvPr/>
        </p:nvSpPr>
        <p:spPr>
          <a:xfrm>
            <a:off x="9490075" y="2517775"/>
            <a:ext cx="1733550" cy="628650"/>
          </a:xfrm>
          <a:prstGeom prst="roundRect">
            <a:avLst>
              <a:gd name="adj" fmla="val 11616"/>
            </a:avLst>
          </a:prstGeom>
          <a:solidFill>
            <a:srgbClr val="FBF3E9"/>
          </a:solidFill>
          <a:ln w="6350">
            <a:solidFill>
              <a:srgbClr val="D9B58C"/>
            </a:solidFill>
            <a:prstDash val="solid"/>
          </a:ln>
        </p:spPr>
        <p:txBody>
          <a:bodyPr wrap="square" lIns="57987" tIns="0" rIns="57987"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경로 셋으로 분기</a:t>
            </a:r>
            <a:endParaRPr lang="en-US" sz="1200" dirty="0"/>
          </a:p>
        </p:txBody>
      </p:sp>
      <p:sp>
        <p:nvSpPr>
          <p:cNvPr id="44" name="Text 42"/>
          <p:cNvSpPr/>
          <p:nvPr/>
        </p:nvSpPr>
        <p:spPr>
          <a:xfrm>
            <a:off x="9490075" y="3660775"/>
            <a:ext cx="1733550" cy="628650"/>
          </a:xfrm>
          <a:prstGeom prst="roundRect">
            <a:avLst>
              <a:gd name="adj" fmla="val 11616"/>
            </a:avLst>
          </a:prstGeom>
          <a:solidFill>
            <a:srgbClr val="FBF3E9"/>
          </a:solidFill>
          <a:ln w="6350">
            <a:solidFill>
              <a:srgbClr val="D9B58C"/>
            </a:solidFill>
            <a:prstDash val="solid"/>
          </a:ln>
        </p:spPr>
        <p:txBody>
          <a:bodyPr wrap="square" lIns="57987" tIns="0" rIns="57987"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문턱과 비교</a:t>
            </a:r>
            <a:endParaRPr lang="en-US" sz="1200" dirty="0"/>
          </a:p>
        </p:txBody>
      </p:sp>
      <p:sp>
        <p:nvSpPr>
          <p:cNvPr id="45" name="Text 43"/>
          <p:cNvSpPr/>
          <p:nvPr/>
        </p:nvSpPr>
        <p:spPr>
          <a:xfrm>
            <a:off x="9490075" y="4803775"/>
            <a:ext cx="1733550" cy="628650"/>
          </a:xfrm>
          <a:prstGeom prst="roundRect">
            <a:avLst>
              <a:gd name="adj" fmla="val 11616"/>
            </a:avLst>
          </a:prstGeom>
          <a:solidFill>
            <a:srgbClr val="FBF3E9"/>
          </a:solidFill>
          <a:ln w="6350">
            <a:solidFill>
              <a:srgbClr val="D9B58C"/>
            </a:solidFill>
            <a:prstDash val="solid"/>
          </a:ln>
        </p:spPr>
        <p:txBody>
          <a:bodyPr wrap="square" lIns="57987" tIns="0" rIns="57987"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if 한 줄</a:t>
            </a:r>
            <a:endParaRPr lang="en-US" sz="1200" dirty="0"/>
          </a:p>
        </p:txBody>
      </p:sp>
      <p:pic>
        <p:nvPicPr>
          <p:cNvPr id="46" name="Image 0" descr="connector">    </p:cNvPr>
          <p:cNvPicPr>
            <a:picLocks noChangeAspect="1"/>
          </p:cNvPicPr>
          <p:nvPr/>
        </p:nvPicPr>
        <p:blipFill>
          <a:blip r:embed="rId1"/>
          <a:srcRect l="0" r="0" t="0" b="0"/>
          <a:stretch/>
        </p:blipFill>
        <p:spPr>
          <a:xfrm>
            <a:off x="2794000" y="3759200"/>
            <a:ext cx="558800" cy="101600"/>
          </a:xfrm>
          <a:prstGeom prst="rect">
            <a:avLst/>
          </a:prstGeom>
        </p:spPr>
      </p:pic>
      <p:pic>
        <p:nvPicPr>
          <p:cNvPr id="47" name="Image 1" descr="connector">    </p:cNvPr>
          <p:cNvPicPr>
            <a:picLocks noChangeAspect="1"/>
          </p:cNvPicPr>
          <p:nvPr/>
        </p:nvPicPr>
        <p:blipFill>
          <a:blip r:embed="rId2"/>
          <a:srcRect l="0" r="0" t="0" b="0"/>
          <a:stretch/>
        </p:blipFill>
        <p:spPr>
          <a:xfrm>
            <a:off x="5994400" y="2781300"/>
            <a:ext cx="482600" cy="101600"/>
          </a:xfrm>
          <a:prstGeom prst="rect">
            <a:avLst/>
          </a:prstGeom>
        </p:spPr>
      </p:pic>
      <p:pic>
        <p:nvPicPr>
          <p:cNvPr id="48" name="Image 2" descr="connector">    </p:cNvPr>
          <p:cNvPicPr>
            <a:picLocks noChangeAspect="1"/>
          </p:cNvPicPr>
          <p:nvPr/>
        </p:nvPicPr>
        <p:blipFill>
          <a:blip r:embed="rId3"/>
          <a:srcRect l="0" r="0" t="0" b="0"/>
          <a:stretch/>
        </p:blipFill>
        <p:spPr>
          <a:xfrm>
            <a:off x="5994400" y="3924300"/>
            <a:ext cx="482600" cy="101600"/>
          </a:xfrm>
          <a:prstGeom prst="rect">
            <a:avLst/>
          </a:prstGeom>
        </p:spPr>
      </p:pic>
      <p:pic>
        <p:nvPicPr>
          <p:cNvPr id="49" name="Image 3" descr="connector">    </p:cNvPr>
          <p:cNvPicPr>
            <a:picLocks noChangeAspect="1"/>
          </p:cNvPicPr>
          <p:nvPr/>
        </p:nvPicPr>
        <p:blipFill>
          <a:blip r:embed="rId4"/>
          <a:srcRect l="0" r="0" t="0" b="0"/>
          <a:stretch/>
        </p:blipFill>
        <p:spPr>
          <a:xfrm>
            <a:off x="5994400" y="5067300"/>
            <a:ext cx="482600" cy="101600"/>
          </a:xfrm>
          <a:prstGeom prst="rect">
            <a:avLst/>
          </a:prstGeom>
        </p:spPr>
      </p:pic>
      <p:pic>
        <p:nvPicPr>
          <p:cNvPr id="50" name="Image 4" descr="connector">    </p:cNvPr>
          <p:cNvPicPr>
            <a:picLocks noChangeAspect="1"/>
          </p:cNvPicPr>
          <p:nvPr/>
        </p:nvPicPr>
        <p:blipFill>
          <a:blip r:embed="rId5"/>
          <a:srcRect l="0" r="0" t="0" b="0"/>
          <a:stretch/>
        </p:blipFill>
        <p:spPr>
          <a:xfrm>
            <a:off x="8636000" y="2781300"/>
            <a:ext cx="901700" cy="101600"/>
          </a:xfrm>
          <a:prstGeom prst="rect">
            <a:avLst/>
          </a:prstGeom>
        </p:spPr>
      </p:pic>
      <p:pic>
        <p:nvPicPr>
          <p:cNvPr id="51" name="Image 5" descr="connector">    </p:cNvPr>
          <p:cNvPicPr>
            <a:picLocks noChangeAspect="1"/>
          </p:cNvPicPr>
          <p:nvPr/>
        </p:nvPicPr>
        <p:blipFill>
          <a:blip r:embed="rId6"/>
          <a:srcRect l="0" r="0" t="0" b="0"/>
          <a:stretch/>
        </p:blipFill>
        <p:spPr>
          <a:xfrm>
            <a:off x="8636000" y="3924300"/>
            <a:ext cx="901700" cy="101600"/>
          </a:xfrm>
          <a:prstGeom prst="rect">
            <a:avLst/>
          </a:prstGeom>
        </p:spPr>
      </p:pic>
      <p:pic>
        <p:nvPicPr>
          <p:cNvPr id="52" name="Image 6" descr="connector">    </p:cNvPr>
          <p:cNvPicPr>
            <a:picLocks noChangeAspect="1"/>
          </p:cNvPicPr>
          <p:nvPr/>
        </p:nvPicPr>
        <p:blipFill>
          <a:blip r:embed="rId7"/>
          <a:srcRect l="0" r="0" t="0" b="0"/>
          <a:stretch/>
        </p:blipFill>
        <p:spPr>
          <a:xfrm>
            <a:off x="8636000" y="5067300"/>
            <a:ext cx="901700" cy="101600"/>
          </a:xfrm>
          <a:prstGeom prst="rect">
            <a:avLst/>
          </a:prstGeom>
        </p:spPr>
      </p:pic>
      <p:sp>
        <p:nvSpPr>
          <p:cNvPr id="53" name="Text 4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TypeSafe quickstart 문서의 예시 요청과 응답이며, 직접 호출한 결과가 아닙니다</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후보 위의 확률에서 나온 값</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돌려받는 값 읽기</a:t>
            </a:r>
            <a:endParaRPr lang="en-US" sz="3200" dirty="0"/>
          </a:p>
        </p:txBody>
      </p:sp>
      <p:sp>
        <p:nvSpPr>
          <p:cNvPr id="4" name="Shape 2"/>
          <p:cNvSpPr/>
          <p:nvPr/>
        </p:nvSpPr>
        <p:spPr>
          <a:xfrm>
            <a:off x="815975" y="1908175"/>
            <a:ext cx="3295650" cy="2343150"/>
          </a:xfrm>
          <a:prstGeom prst="roundRect">
            <a:avLst>
              <a:gd name="adj" fmla="val 4201"/>
            </a:avLst>
          </a:prstGeom>
          <a:solidFill>
            <a:srgbClr val="EAF0EE"/>
          </a:solidFill>
          <a:ln w="6350">
            <a:solidFill>
              <a:srgbClr val="D3DDD9"/>
            </a:solidFill>
            <a:prstDash val="solid"/>
          </a:ln>
        </p:spPr>
      </p:sp>
      <p:sp>
        <p:nvSpPr>
          <p:cNvPr id="5" name="Text 3"/>
          <p:cNvSpPr/>
          <p:nvPr/>
        </p:nvSpPr>
        <p:spPr>
          <a:xfrm>
            <a:off x="990600" y="2006600"/>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Choice</a:t>
            </a:r>
            <a:endParaRPr lang="en-US" sz="2000" dirty="0"/>
          </a:p>
        </p:txBody>
      </p:sp>
      <p:sp>
        <p:nvSpPr>
          <p:cNvPr id="6" name="Text 4"/>
          <p:cNvSpPr/>
          <p:nvPr/>
        </p:nvSpPr>
        <p:spPr>
          <a:xfrm>
            <a:off x="990600" y="248920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technical</a:t>
            </a:r>
            <a:endParaRPr lang="en-US" sz="1200" dirty="0"/>
          </a:p>
        </p:txBody>
      </p:sp>
      <p:sp>
        <p:nvSpPr>
          <p:cNvPr id="7" name="Shape 5"/>
          <p:cNvSpPr/>
          <p:nvPr/>
        </p:nvSpPr>
        <p:spPr>
          <a:xfrm>
            <a:off x="1879600" y="2527300"/>
            <a:ext cx="1714500" cy="139700"/>
          </a:xfrm>
          <a:prstGeom prst="roundRect">
            <a:avLst>
              <a:gd name="adj" fmla="val 50000"/>
            </a:avLst>
          </a:prstGeom>
          <a:solidFill>
            <a:srgbClr val="D3DDD9"/>
          </a:solidFill>
          <a:ln/>
        </p:spPr>
      </p:sp>
      <p:sp>
        <p:nvSpPr>
          <p:cNvPr id="8" name="Shape 6"/>
          <p:cNvSpPr/>
          <p:nvPr/>
        </p:nvSpPr>
        <p:spPr>
          <a:xfrm>
            <a:off x="1879600" y="2527300"/>
            <a:ext cx="1460500" cy="139700"/>
          </a:xfrm>
          <a:prstGeom prst="roundRect">
            <a:avLst>
              <a:gd name="adj" fmla="val 50000"/>
            </a:avLst>
          </a:prstGeom>
          <a:solidFill>
            <a:srgbClr val="117964"/>
          </a:solidFill>
          <a:ln/>
        </p:spPr>
      </p:sp>
      <p:sp>
        <p:nvSpPr>
          <p:cNvPr id="9" name="Text 7"/>
          <p:cNvSpPr/>
          <p:nvPr/>
        </p:nvSpPr>
        <p:spPr>
          <a:xfrm>
            <a:off x="3657600" y="24892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0.85</a:t>
            </a:r>
            <a:endParaRPr lang="en-US" sz="1200" dirty="0"/>
          </a:p>
        </p:txBody>
      </p:sp>
      <p:sp>
        <p:nvSpPr>
          <p:cNvPr id="10" name="Text 8"/>
          <p:cNvSpPr/>
          <p:nvPr/>
        </p:nvSpPr>
        <p:spPr>
          <a:xfrm>
            <a:off x="990600" y="284480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billing</a:t>
            </a:r>
            <a:endParaRPr lang="en-US" sz="1200" dirty="0"/>
          </a:p>
        </p:txBody>
      </p:sp>
      <p:sp>
        <p:nvSpPr>
          <p:cNvPr id="11" name="Shape 9"/>
          <p:cNvSpPr/>
          <p:nvPr/>
        </p:nvSpPr>
        <p:spPr>
          <a:xfrm>
            <a:off x="1879600" y="2882900"/>
            <a:ext cx="1714500" cy="139700"/>
          </a:xfrm>
          <a:prstGeom prst="roundRect">
            <a:avLst>
              <a:gd name="adj" fmla="val 50000"/>
            </a:avLst>
          </a:prstGeom>
          <a:solidFill>
            <a:srgbClr val="D3DDD9"/>
          </a:solidFill>
          <a:ln/>
        </p:spPr>
      </p:sp>
      <p:sp>
        <p:nvSpPr>
          <p:cNvPr id="12" name="Shape 10"/>
          <p:cNvSpPr/>
          <p:nvPr/>
        </p:nvSpPr>
        <p:spPr>
          <a:xfrm>
            <a:off x="1879600" y="2882900"/>
            <a:ext cx="254000" cy="139700"/>
          </a:xfrm>
          <a:prstGeom prst="roundRect">
            <a:avLst>
              <a:gd name="adj" fmla="val 50000"/>
            </a:avLst>
          </a:prstGeom>
          <a:solidFill>
            <a:srgbClr val="117964"/>
          </a:solidFill>
          <a:ln/>
        </p:spPr>
      </p:sp>
      <p:sp>
        <p:nvSpPr>
          <p:cNvPr id="13" name="Text 11"/>
          <p:cNvSpPr/>
          <p:nvPr/>
        </p:nvSpPr>
        <p:spPr>
          <a:xfrm>
            <a:off x="3657600" y="28448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0.15</a:t>
            </a:r>
            <a:endParaRPr lang="en-US" sz="1200" dirty="0"/>
          </a:p>
        </p:txBody>
      </p:sp>
      <p:sp>
        <p:nvSpPr>
          <p:cNvPr id="14" name="Text 12"/>
          <p:cNvSpPr/>
          <p:nvPr/>
        </p:nvSpPr>
        <p:spPr>
          <a:xfrm>
            <a:off x="990600" y="320040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sales</a:t>
            </a:r>
            <a:endParaRPr lang="en-US" sz="1200" dirty="0"/>
          </a:p>
        </p:txBody>
      </p:sp>
      <p:sp>
        <p:nvSpPr>
          <p:cNvPr id="15" name="Shape 13"/>
          <p:cNvSpPr/>
          <p:nvPr/>
        </p:nvSpPr>
        <p:spPr>
          <a:xfrm>
            <a:off x="1879600" y="3238500"/>
            <a:ext cx="1714500" cy="139700"/>
          </a:xfrm>
          <a:prstGeom prst="roundRect">
            <a:avLst>
              <a:gd name="adj" fmla="val 50000"/>
            </a:avLst>
          </a:prstGeom>
          <a:solidFill>
            <a:srgbClr val="D3DDD9"/>
          </a:solidFill>
          <a:ln/>
        </p:spPr>
      </p:sp>
      <p:sp>
        <p:nvSpPr>
          <p:cNvPr id="16" name="Text 14"/>
          <p:cNvSpPr/>
          <p:nvPr/>
        </p:nvSpPr>
        <p:spPr>
          <a:xfrm>
            <a:off x="3657600" y="32004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0.0</a:t>
            </a:r>
            <a:endParaRPr lang="en-US" sz="1200" dirty="0"/>
          </a:p>
        </p:txBody>
      </p:sp>
      <p:sp>
        <p:nvSpPr>
          <p:cNvPr id="17" name="Text 15"/>
          <p:cNvSpPr/>
          <p:nvPr/>
        </p:nvSpPr>
        <p:spPr>
          <a:xfrm>
            <a:off x="990600" y="3683000"/>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0.85 + 0.15 + 0.0 = 1</a:t>
            </a:r>
            <a:endParaRPr lang="en-US" sz="1200" dirty="0"/>
          </a:p>
        </p:txBody>
      </p:sp>
      <p:sp>
        <p:nvSpPr>
          <p:cNvPr id="18" name="Text 16"/>
          <p:cNvSpPr/>
          <p:nvPr/>
        </p:nvSpPr>
        <p:spPr>
          <a:xfrm>
            <a:off x="990600" y="393700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가장 긴 막대가 choice</a:t>
            </a:r>
            <a:endParaRPr lang="en-US" sz="1200" dirty="0"/>
          </a:p>
        </p:txBody>
      </p:sp>
      <p:sp>
        <p:nvSpPr>
          <p:cNvPr id="19" name="Shape 17"/>
          <p:cNvSpPr/>
          <p:nvPr/>
        </p:nvSpPr>
        <p:spPr>
          <a:xfrm>
            <a:off x="4448175" y="1908175"/>
            <a:ext cx="3295650" cy="2343150"/>
          </a:xfrm>
          <a:prstGeom prst="roundRect">
            <a:avLst>
              <a:gd name="adj" fmla="val 4201"/>
            </a:avLst>
          </a:prstGeom>
          <a:solidFill>
            <a:srgbClr val="EAF0EE"/>
          </a:solidFill>
          <a:ln w="6350">
            <a:solidFill>
              <a:srgbClr val="D3DDD9"/>
            </a:solidFill>
            <a:prstDash val="solid"/>
          </a:ln>
        </p:spPr>
      </p:sp>
      <p:sp>
        <p:nvSpPr>
          <p:cNvPr id="20" name="Text 18"/>
          <p:cNvSpPr/>
          <p:nvPr/>
        </p:nvSpPr>
        <p:spPr>
          <a:xfrm>
            <a:off x="4622800" y="2006600"/>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Score</a:t>
            </a:r>
            <a:endParaRPr lang="en-US" sz="2000" dirty="0"/>
          </a:p>
        </p:txBody>
      </p:sp>
      <p:sp>
        <p:nvSpPr>
          <p:cNvPr id="21" name="Text 19"/>
          <p:cNvSpPr/>
          <p:nvPr/>
        </p:nvSpPr>
        <p:spPr>
          <a:xfrm>
            <a:off x="4622800" y="248920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레벨 0</a:t>
            </a:r>
            <a:endParaRPr lang="en-US" sz="1200" dirty="0"/>
          </a:p>
        </p:txBody>
      </p:sp>
      <p:sp>
        <p:nvSpPr>
          <p:cNvPr id="22" name="Shape 20"/>
          <p:cNvSpPr/>
          <p:nvPr/>
        </p:nvSpPr>
        <p:spPr>
          <a:xfrm>
            <a:off x="5511800" y="2527300"/>
            <a:ext cx="1714500" cy="139700"/>
          </a:xfrm>
          <a:prstGeom prst="roundRect">
            <a:avLst>
              <a:gd name="adj" fmla="val 50000"/>
            </a:avLst>
          </a:prstGeom>
          <a:solidFill>
            <a:srgbClr val="D3DDD9"/>
          </a:solidFill>
          <a:ln/>
        </p:spPr>
      </p:sp>
      <p:sp>
        <p:nvSpPr>
          <p:cNvPr id="23" name="Text 21"/>
          <p:cNvSpPr/>
          <p:nvPr/>
        </p:nvSpPr>
        <p:spPr>
          <a:xfrm>
            <a:off x="7289800" y="24892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0.0</a:t>
            </a:r>
            <a:endParaRPr lang="en-US" sz="1200" dirty="0"/>
          </a:p>
        </p:txBody>
      </p:sp>
      <p:sp>
        <p:nvSpPr>
          <p:cNvPr id="24" name="Text 22"/>
          <p:cNvSpPr/>
          <p:nvPr/>
        </p:nvSpPr>
        <p:spPr>
          <a:xfrm>
            <a:off x="4622800" y="276860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레벨 1</a:t>
            </a:r>
            <a:endParaRPr lang="en-US" sz="1200" dirty="0"/>
          </a:p>
        </p:txBody>
      </p:sp>
      <p:sp>
        <p:nvSpPr>
          <p:cNvPr id="25" name="Shape 23"/>
          <p:cNvSpPr/>
          <p:nvPr/>
        </p:nvSpPr>
        <p:spPr>
          <a:xfrm>
            <a:off x="5511800" y="2806700"/>
            <a:ext cx="1714500" cy="139700"/>
          </a:xfrm>
          <a:prstGeom prst="roundRect">
            <a:avLst>
              <a:gd name="adj" fmla="val 50000"/>
            </a:avLst>
          </a:prstGeom>
          <a:solidFill>
            <a:srgbClr val="D3DDD9"/>
          </a:solidFill>
          <a:ln/>
        </p:spPr>
      </p:sp>
      <p:sp>
        <p:nvSpPr>
          <p:cNvPr id="26" name="Shape 24"/>
          <p:cNvSpPr/>
          <p:nvPr/>
        </p:nvSpPr>
        <p:spPr>
          <a:xfrm>
            <a:off x="5511800" y="2806700"/>
            <a:ext cx="1631950" cy="139700"/>
          </a:xfrm>
          <a:prstGeom prst="roundRect">
            <a:avLst>
              <a:gd name="adj" fmla="val 50000"/>
            </a:avLst>
          </a:prstGeom>
          <a:solidFill>
            <a:srgbClr val="117964"/>
          </a:solidFill>
          <a:ln/>
        </p:spPr>
      </p:sp>
      <p:sp>
        <p:nvSpPr>
          <p:cNvPr id="27" name="Text 25"/>
          <p:cNvSpPr/>
          <p:nvPr/>
        </p:nvSpPr>
        <p:spPr>
          <a:xfrm>
            <a:off x="7289800" y="27686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0.95</a:t>
            </a:r>
            <a:endParaRPr lang="en-US" sz="1200" dirty="0"/>
          </a:p>
        </p:txBody>
      </p:sp>
      <p:sp>
        <p:nvSpPr>
          <p:cNvPr id="28" name="Text 26"/>
          <p:cNvSpPr/>
          <p:nvPr/>
        </p:nvSpPr>
        <p:spPr>
          <a:xfrm>
            <a:off x="4622800" y="304800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레벨 2</a:t>
            </a:r>
            <a:endParaRPr lang="en-US" sz="1200" dirty="0"/>
          </a:p>
        </p:txBody>
      </p:sp>
      <p:sp>
        <p:nvSpPr>
          <p:cNvPr id="29" name="Shape 27"/>
          <p:cNvSpPr/>
          <p:nvPr/>
        </p:nvSpPr>
        <p:spPr>
          <a:xfrm>
            <a:off x="5511800" y="3086100"/>
            <a:ext cx="1714500" cy="139700"/>
          </a:xfrm>
          <a:prstGeom prst="roundRect">
            <a:avLst>
              <a:gd name="adj" fmla="val 50000"/>
            </a:avLst>
          </a:prstGeom>
          <a:solidFill>
            <a:srgbClr val="D3DDD9"/>
          </a:solidFill>
          <a:ln/>
        </p:spPr>
      </p:sp>
      <p:sp>
        <p:nvSpPr>
          <p:cNvPr id="30" name="Shape 28"/>
          <p:cNvSpPr/>
          <p:nvPr/>
        </p:nvSpPr>
        <p:spPr>
          <a:xfrm>
            <a:off x="5511800" y="3086100"/>
            <a:ext cx="88900" cy="139700"/>
          </a:xfrm>
          <a:prstGeom prst="roundRect">
            <a:avLst>
              <a:gd name="adj" fmla="val 50000"/>
            </a:avLst>
          </a:prstGeom>
          <a:solidFill>
            <a:srgbClr val="117964"/>
          </a:solidFill>
          <a:ln/>
        </p:spPr>
      </p:sp>
      <p:sp>
        <p:nvSpPr>
          <p:cNvPr id="31" name="Text 29"/>
          <p:cNvSpPr/>
          <p:nvPr/>
        </p:nvSpPr>
        <p:spPr>
          <a:xfrm>
            <a:off x="7289800" y="304800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0.05</a:t>
            </a:r>
            <a:endParaRPr lang="en-US" sz="1200" dirty="0"/>
          </a:p>
        </p:txBody>
      </p:sp>
      <p:sp>
        <p:nvSpPr>
          <p:cNvPr id="32" name="Text 30"/>
          <p:cNvSpPr/>
          <p:nvPr/>
        </p:nvSpPr>
        <p:spPr>
          <a:xfrm>
            <a:off x="4622800" y="3314700"/>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0×0.0 + 1×0.95 + 2×0.05 = 1.05</a:t>
            </a:r>
            <a:endParaRPr lang="en-US" sz="1200" dirty="0"/>
          </a:p>
        </p:txBody>
      </p:sp>
      <p:sp>
        <p:nvSpPr>
          <p:cNvPr id="33" name="Text 31"/>
          <p:cNvSpPr/>
          <p:nvPr/>
        </p:nvSpPr>
        <p:spPr>
          <a:xfrm>
            <a:off x="5702300" y="3556000"/>
            <a:ext cx="939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7964"/>
                </a:solidFill>
                <a:latin typeface="Arial" pitchFamily="34" charset="0"/>
                <a:ea typeface="Arial" pitchFamily="34" charset="-122"/>
                <a:cs typeface="Arial" pitchFamily="34" charset="-120"/>
              </a:rPr>
              <a:t>score 1.05</a:t>
            </a:r>
            <a:endParaRPr lang="en-US" sz="1200" dirty="0"/>
          </a:p>
        </p:txBody>
      </p:sp>
      <p:sp>
        <p:nvSpPr>
          <p:cNvPr id="34" name="Shape 32"/>
          <p:cNvSpPr/>
          <p:nvPr/>
        </p:nvSpPr>
        <p:spPr>
          <a:xfrm>
            <a:off x="4622800" y="3810000"/>
            <a:ext cx="2946400" cy="139700"/>
          </a:xfrm>
          <a:prstGeom prst="roundRect">
            <a:avLst>
              <a:gd name="adj" fmla="val 50000"/>
            </a:avLst>
          </a:prstGeom>
          <a:solidFill>
            <a:srgbClr val="D3DDD9"/>
          </a:solidFill>
          <a:ln/>
        </p:spPr>
      </p:sp>
      <p:sp>
        <p:nvSpPr>
          <p:cNvPr id="35" name="Shape 33"/>
          <p:cNvSpPr/>
          <p:nvPr/>
        </p:nvSpPr>
        <p:spPr>
          <a:xfrm>
            <a:off x="6083300" y="3790950"/>
            <a:ext cx="177800" cy="177800"/>
          </a:xfrm>
          <a:prstGeom prst="roundRect">
            <a:avLst>
              <a:gd name="adj" fmla="val 50000"/>
            </a:avLst>
          </a:prstGeom>
          <a:solidFill>
            <a:srgbClr val="117964"/>
          </a:solidFill>
          <a:ln/>
        </p:spPr>
      </p:sp>
      <p:sp>
        <p:nvSpPr>
          <p:cNvPr id="36" name="Text 34"/>
          <p:cNvSpPr/>
          <p:nvPr/>
        </p:nvSpPr>
        <p:spPr>
          <a:xfrm>
            <a:off x="4470400" y="3987800"/>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0</a:t>
            </a:r>
            <a:endParaRPr lang="en-US" sz="1200" dirty="0"/>
          </a:p>
        </p:txBody>
      </p:sp>
      <p:sp>
        <p:nvSpPr>
          <p:cNvPr id="37" name="Text 35"/>
          <p:cNvSpPr/>
          <p:nvPr/>
        </p:nvSpPr>
        <p:spPr>
          <a:xfrm>
            <a:off x="5943600" y="3987800"/>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1</a:t>
            </a:r>
            <a:endParaRPr lang="en-US" sz="1200" dirty="0"/>
          </a:p>
        </p:txBody>
      </p:sp>
      <p:sp>
        <p:nvSpPr>
          <p:cNvPr id="38" name="Text 36"/>
          <p:cNvSpPr/>
          <p:nvPr/>
        </p:nvSpPr>
        <p:spPr>
          <a:xfrm>
            <a:off x="7416800" y="3987800"/>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2</a:t>
            </a:r>
            <a:endParaRPr lang="en-US" sz="1200" dirty="0"/>
          </a:p>
        </p:txBody>
      </p:sp>
      <p:sp>
        <p:nvSpPr>
          <p:cNvPr id="39" name="Shape 37"/>
          <p:cNvSpPr/>
          <p:nvPr/>
        </p:nvSpPr>
        <p:spPr>
          <a:xfrm>
            <a:off x="8080375" y="1908175"/>
            <a:ext cx="3295650" cy="2343150"/>
          </a:xfrm>
          <a:prstGeom prst="roundRect">
            <a:avLst>
              <a:gd name="adj" fmla="val 4201"/>
            </a:avLst>
          </a:prstGeom>
          <a:solidFill>
            <a:srgbClr val="EAF0EE"/>
          </a:solidFill>
          <a:ln w="6350">
            <a:solidFill>
              <a:srgbClr val="D3DDD9"/>
            </a:solidFill>
            <a:prstDash val="solid"/>
          </a:ln>
        </p:spPr>
      </p:sp>
      <p:sp>
        <p:nvSpPr>
          <p:cNvPr id="40" name="Text 38"/>
          <p:cNvSpPr/>
          <p:nvPr/>
        </p:nvSpPr>
        <p:spPr>
          <a:xfrm>
            <a:off x="8255000" y="2006600"/>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Noul</a:t>
            </a:r>
            <a:endParaRPr lang="en-US" sz="2000" dirty="0"/>
          </a:p>
        </p:txBody>
      </p:sp>
      <p:sp>
        <p:nvSpPr>
          <p:cNvPr id="41" name="Text 39"/>
          <p:cNvSpPr/>
          <p:nvPr/>
        </p:nvSpPr>
        <p:spPr>
          <a:xfrm>
            <a:off x="8210804" y="2476500"/>
            <a:ext cx="3034792" cy="492720"/>
          </a:xfrm>
          <a:prstGeom prst="rect">
            <a:avLst/>
          </a:prstGeom>
          <a:noFill/>
          <a:ln/>
        </p:spPr>
        <p:txBody>
          <a:bodyPr wrap="square" lIns="0" tIns="0" rIns="0" bIns="0" rtlCol="0" anchor="t">
            <a:normAutofit/>
          </a:bodyPr>
          <a:lstStyle/>
          <a:p>
            <a:pPr algn="ctr" indent="0" marL="0">
              <a:lnSpc>
                <a:spcPts val="3680"/>
              </a:lnSpc>
              <a:buNone/>
            </a:pPr>
            <a:r>
              <a:rPr lang="en-US" sz="3200" b="1" dirty="0">
                <a:solidFill>
                  <a:srgbClr val="1B2533"/>
                </a:solidFill>
                <a:latin typeface="Arial" pitchFamily="34" charset="0"/>
                <a:ea typeface="Arial" pitchFamily="34" charset="-122"/>
                <a:cs typeface="Arial" pitchFamily="34" charset="-120"/>
              </a:rPr>
              <a:t>0.5</a:t>
            </a:r>
            <a:endParaRPr lang="en-US" sz="3200" dirty="0"/>
          </a:p>
        </p:txBody>
      </p:sp>
      <p:sp>
        <p:nvSpPr>
          <p:cNvPr id="42" name="Text 40"/>
          <p:cNvSpPr/>
          <p:nvPr/>
        </p:nvSpPr>
        <p:spPr>
          <a:xfrm>
            <a:off x="9385300" y="30226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7964"/>
                </a:solidFill>
                <a:latin typeface="Arial" pitchFamily="34" charset="0"/>
                <a:ea typeface="Arial" pitchFamily="34" charset="-122"/>
                <a:cs typeface="Arial" pitchFamily="34" charset="-120"/>
              </a:rPr>
              <a:t>반반</a:t>
            </a:r>
            <a:endParaRPr lang="en-US" sz="1200" dirty="0"/>
          </a:p>
        </p:txBody>
      </p:sp>
      <p:sp>
        <p:nvSpPr>
          <p:cNvPr id="43" name="Shape 41"/>
          <p:cNvSpPr/>
          <p:nvPr/>
        </p:nvSpPr>
        <p:spPr>
          <a:xfrm>
            <a:off x="8255000" y="3327400"/>
            <a:ext cx="2946400" cy="139700"/>
          </a:xfrm>
          <a:prstGeom prst="roundRect">
            <a:avLst>
              <a:gd name="adj" fmla="val 50000"/>
            </a:avLst>
          </a:prstGeom>
          <a:solidFill>
            <a:srgbClr val="D3DDD9"/>
          </a:solidFill>
          <a:ln/>
        </p:spPr>
      </p:sp>
      <p:sp>
        <p:nvSpPr>
          <p:cNvPr id="44" name="Shape 42"/>
          <p:cNvSpPr/>
          <p:nvPr/>
        </p:nvSpPr>
        <p:spPr>
          <a:xfrm>
            <a:off x="9639300" y="3308350"/>
            <a:ext cx="177800" cy="177800"/>
          </a:xfrm>
          <a:prstGeom prst="roundRect">
            <a:avLst>
              <a:gd name="adj" fmla="val 50000"/>
            </a:avLst>
          </a:prstGeom>
          <a:solidFill>
            <a:srgbClr val="117964"/>
          </a:solidFill>
          <a:ln/>
        </p:spPr>
      </p:sp>
      <p:sp>
        <p:nvSpPr>
          <p:cNvPr id="45" name="Text 43"/>
          <p:cNvSpPr/>
          <p:nvPr/>
        </p:nvSpPr>
        <p:spPr>
          <a:xfrm>
            <a:off x="8255000" y="35560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0 아니오</a:t>
            </a:r>
            <a:endParaRPr lang="en-US" sz="1200" dirty="0"/>
          </a:p>
        </p:txBody>
      </p:sp>
      <p:sp>
        <p:nvSpPr>
          <p:cNvPr id="46" name="Text 44"/>
          <p:cNvSpPr/>
          <p:nvPr/>
        </p:nvSpPr>
        <p:spPr>
          <a:xfrm>
            <a:off x="10007600" y="3556000"/>
            <a:ext cx="1193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Arial" pitchFamily="34" charset="0"/>
                <a:ea typeface="Arial" pitchFamily="34" charset="-122"/>
                <a:cs typeface="Arial" pitchFamily="34" charset="-120"/>
              </a:rPr>
              <a:t>1 예</a:t>
            </a:r>
            <a:endParaRPr lang="en-US" sz="1200" dirty="0"/>
          </a:p>
        </p:txBody>
      </p:sp>
      <p:sp>
        <p:nvSpPr>
          <p:cNvPr id="47" name="Text 45"/>
          <p:cNvSpPr/>
          <p:nvPr/>
        </p:nvSpPr>
        <p:spPr>
          <a:xfrm>
            <a:off x="8255000" y="3937000"/>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값 자체가 참일 확률</a:t>
            </a:r>
            <a:endParaRPr lang="en-US" sz="1200" dirty="0"/>
          </a:p>
        </p:txBody>
      </p:sp>
      <p:sp>
        <p:nvSpPr>
          <p:cNvPr id="48" name="Text 46"/>
          <p:cNvSpPr/>
          <p:nvPr/>
        </p:nvSpPr>
        <p:spPr>
          <a:xfrm>
            <a:off x="815975" y="4384675"/>
            <a:ext cx="3295650" cy="946150"/>
          </a:xfrm>
          <a:prstGeom prst="roundRect">
            <a:avLst>
              <a:gd name="adj" fmla="val 10403"/>
            </a:avLst>
          </a:prstGeom>
          <a:solidFill>
            <a:srgbClr val="EAF0EE"/>
          </a:solidFill>
          <a:ln w="6350">
            <a:solidFill>
              <a:srgbClr val="D3DDD9"/>
            </a:solidFill>
            <a:prstDash val="solid"/>
          </a:ln>
        </p:spPr>
        <p:txBody>
          <a:bodyPr wrap="square" lIns="152147" tIns="0" rIns="6413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가장 높은 확률의 선택지가 choice가 되고, 후보별 확률의 합은 1입니다</a:t>
            </a:r>
            <a:endParaRPr lang="en-US" sz="1200" dirty="0"/>
          </a:p>
        </p:txBody>
      </p:sp>
      <p:sp>
        <p:nvSpPr>
          <p:cNvPr id="49" name="Text 47"/>
          <p:cNvSpPr/>
          <p:nvPr/>
        </p:nvSpPr>
        <p:spPr>
          <a:xfrm>
            <a:off x="4448175" y="4384675"/>
            <a:ext cx="3295650" cy="946150"/>
          </a:xfrm>
          <a:prstGeom prst="roundRect">
            <a:avLst>
              <a:gd name="adj" fmla="val 10403"/>
            </a:avLst>
          </a:prstGeom>
          <a:solidFill>
            <a:srgbClr val="EAF0EE"/>
          </a:solidFill>
          <a:ln w="6350">
            <a:solidFill>
              <a:srgbClr val="D3DDD9"/>
            </a:solidFill>
            <a:prstDash val="solid"/>
          </a:ln>
        </p:spPr>
        <p:txBody>
          <a:bodyPr wrap="square" lIns="152147" tIns="0" rIns="6413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score는 레벨별 확률로 낸 가중 평균입니다. 1.05는 레벨 1 쪽에 몰린 분포의 요약값이에요</a:t>
            </a:r>
            <a:endParaRPr lang="en-US" sz="1200" dirty="0"/>
          </a:p>
        </p:txBody>
      </p:sp>
      <p:sp>
        <p:nvSpPr>
          <p:cNvPr id="50" name="Text 48"/>
          <p:cNvSpPr/>
          <p:nvPr/>
        </p:nvSpPr>
        <p:spPr>
          <a:xfrm>
            <a:off x="8080375" y="4384675"/>
            <a:ext cx="3295650" cy="946150"/>
          </a:xfrm>
          <a:prstGeom prst="roundRect">
            <a:avLst>
              <a:gd name="adj" fmla="val 10403"/>
            </a:avLst>
          </a:prstGeom>
          <a:solidFill>
            <a:srgbClr val="EAF0EE"/>
          </a:solidFill>
          <a:ln w="6350">
            <a:solidFill>
              <a:srgbClr val="D3DDD9"/>
            </a:solidFill>
            <a:prstDash val="solid"/>
          </a:ln>
        </p:spPr>
        <p:txBody>
          <a:bodyPr wrap="square" lIns="152147" tIns="0" rIns="6413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0.5는 중간 수준이 아니라 예와 아니오가 반반이라는 뜻입니다</a:t>
            </a:r>
            <a:endParaRPr lang="en-US" sz="1200" dirty="0"/>
          </a:p>
        </p:txBody>
      </p:sp>
      <p:sp>
        <p:nvSpPr>
          <p:cNvPr id="51" name="Text 49"/>
          <p:cNvSpPr/>
          <p:nvPr/>
        </p:nvSpPr>
        <p:spPr>
          <a:xfrm>
            <a:off x="812800" y="5448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533"/>
                </a:solidFill>
                <a:latin typeface="Arial" pitchFamily="34" charset="0"/>
                <a:ea typeface="Arial" pitchFamily="34" charset="-122"/>
                <a:cs typeface="Arial" pitchFamily="34" charset="-120"/>
              </a:rPr>
              <a:t>확신도(confidence)는 Choice와 Score에만 붙고, 분포가 뾰족할수록 높아집니다</a:t>
            </a:r>
            <a:endParaRPr lang="en-US" sz="1500" dirty="0"/>
          </a:p>
        </p:txBody>
      </p:sp>
      <p:sp>
        <p:nvSpPr>
          <p:cNvPr id="52" name="Text 5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출처: TypeSafe 문서 “API reference”, “Primitives”, “Confidence”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답의 모양이 곧 코드의 모양</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질문 유형 고르기</a:t>
            </a:r>
            <a:endParaRPr lang="en-US" sz="3200" dirty="0"/>
          </a:p>
        </p:txBody>
      </p:sp>
      <p:sp>
        <p:nvSpPr>
          <p:cNvPr id="4" name="Text 2"/>
          <p:cNvSpPr/>
          <p:nvPr/>
        </p:nvSpPr>
        <p:spPr>
          <a:xfrm>
            <a:off x="812800" y="17018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답의 모양</a:t>
            </a:r>
            <a:endParaRPr lang="en-US" sz="1200" dirty="0"/>
          </a:p>
        </p:txBody>
      </p:sp>
      <p:sp>
        <p:nvSpPr>
          <p:cNvPr id="5" name="Text 3"/>
          <p:cNvSpPr/>
          <p:nvPr/>
        </p:nvSpPr>
        <p:spPr>
          <a:xfrm>
            <a:off x="4953000" y="1701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4B0B"/>
                </a:solidFill>
                <a:latin typeface="Arial" pitchFamily="34" charset="0"/>
                <a:ea typeface="Arial" pitchFamily="34" charset="-122"/>
                <a:cs typeface="Arial" pitchFamily="34" charset="-120"/>
              </a:rPr>
              <a:t>받는 쪽 코드의 모양</a:t>
            </a:r>
            <a:endParaRPr lang="en-US" sz="1200" dirty="0"/>
          </a:p>
        </p:txBody>
      </p:sp>
      <p:sp>
        <p:nvSpPr>
          <p:cNvPr id="6" name="Shape 4"/>
          <p:cNvSpPr/>
          <p:nvPr/>
        </p:nvSpPr>
        <p:spPr>
          <a:xfrm>
            <a:off x="815975" y="1933575"/>
            <a:ext cx="3549650" cy="1136650"/>
          </a:xfrm>
          <a:prstGeom prst="roundRect">
            <a:avLst>
              <a:gd name="adj" fmla="val 8659"/>
            </a:avLst>
          </a:prstGeom>
          <a:solidFill>
            <a:srgbClr val="EAF0EE"/>
          </a:solidFill>
          <a:ln w="6350">
            <a:solidFill>
              <a:srgbClr val="D3DDD9"/>
            </a:solidFill>
            <a:prstDash val="solid"/>
          </a:ln>
        </p:spPr>
      </p:sp>
      <p:sp>
        <p:nvSpPr>
          <p:cNvPr id="7" name="Text 5"/>
          <p:cNvSpPr/>
          <p:nvPr/>
        </p:nvSpPr>
        <p:spPr>
          <a:xfrm>
            <a:off x="965200" y="2032000"/>
            <a:ext cx="19621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Choice</a:t>
            </a:r>
            <a:endParaRPr lang="en-US" sz="2000" dirty="0"/>
          </a:p>
        </p:txBody>
      </p:sp>
      <p:sp>
        <p:nvSpPr>
          <p:cNvPr id="8" name="Text 6"/>
          <p:cNvSpPr/>
          <p:nvPr/>
        </p:nvSpPr>
        <p:spPr>
          <a:xfrm>
            <a:off x="965200" y="2387600"/>
            <a:ext cx="33487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순서 없는 알려진 후보 중 하나일 때. 부서 배정, 문서 분류</a:t>
            </a:r>
            <a:endParaRPr lang="en-US" sz="1200" dirty="0"/>
          </a:p>
        </p:txBody>
      </p:sp>
      <p:sp>
        <p:nvSpPr>
          <p:cNvPr id="9" name="Text 7"/>
          <p:cNvSpPr/>
          <p:nvPr/>
        </p:nvSpPr>
        <p:spPr>
          <a:xfrm>
            <a:off x="4959350" y="2254250"/>
            <a:ext cx="1638300" cy="495300"/>
          </a:xfrm>
          <a:prstGeom prst="roundRect">
            <a:avLst>
              <a:gd name="adj" fmla="val 14103"/>
            </a:avLst>
          </a:prstGeom>
          <a:solidFill>
            <a:srgbClr val="F6E9DA"/>
          </a:solidFill>
          <a:ln w="12700">
            <a:solidFill>
              <a:srgbClr val="A64B0B"/>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choice로 분기</a:t>
            </a:r>
            <a:endParaRPr lang="en-US" sz="1200" dirty="0"/>
          </a:p>
        </p:txBody>
      </p:sp>
      <p:sp>
        <p:nvSpPr>
          <p:cNvPr id="10" name="Text 8"/>
          <p:cNvSpPr/>
          <p:nvPr/>
        </p:nvSpPr>
        <p:spPr>
          <a:xfrm>
            <a:off x="7496175" y="1971675"/>
            <a:ext cx="3168650" cy="298450"/>
          </a:xfrm>
          <a:prstGeom prst="roundRect">
            <a:avLst>
              <a:gd name="adj" fmla="val 20213"/>
            </a:avLst>
          </a:prstGeom>
          <a:solidFill>
            <a:srgbClr val="FBF3E9"/>
          </a:solidFill>
          <a:ln w="6350">
            <a:solidFill>
              <a:srgbClr val="D9B58C"/>
            </a:solidFill>
            <a:prstDash val="solid"/>
          </a:ln>
        </p:spPr>
        <p:txBody>
          <a:bodyPr wrap="square" lIns="87106" tIns="0" rIns="8710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refund 경로</a:t>
            </a:r>
            <a:endParaRPr lang="en-US" sz="1200" dirty="0"/>
          </a:p>
        </p:txBody>
      </p:sp>
      <p:sp>
        <p:nvSpPr>
          <p:cNvPr id="11" name="Text 9"/>
          <p:cNvSpPr/>
          <p:nvPr/>
        </p:nvSpPr>
        <p:spPr>
          <a:xfrm>
            <a:off x="7496175" y="2352675"/>
            <a:ext cx="3168650" cy="298450"/>
          </a:xfrm>
          <a:prstGeom prst="roundRect">
            <a:avLst>
              <a:gd name="adj" fmla="val 20213"/>
            </a:avLst>
          </a:prstGeom>
          <a:solidFill>
            <a:srgbClr val="FBF3E9"/>
          </a:solidFill>
          <a:ln w="6350">
            <a:solidFill>
              <a:srgbClr val="D9B58C"/>
            </a:solidFill>
            <a:prstDash val="solid"/>
          </a:ln>
        </p:spPr>
        <p:txBody>
          <a:bodyPr wrap="square" lIns="87106" tIns="0" rIns="8710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rebook 경로</a:t>
            </a:r>
            <a:endParaRPr lang="en-US" sz="1200" dirty="0"/>
          </a:p>
        </p:txBody>
      </p:sp>
      <p:sp>
        <p:nvSpPr>
          <p:cNvPr id="12" name="Text 10"/>
          <p:cNvSpPr/>
          <p:nvPr/>
        </p:nvSpPr>
        <p:spPr>
          <a:xfrm>
            <a:off x="7496175" y="2733675"/>
            <a:ext cx="3168650" cy="298450"/>
          </a:xfrm>
          <a:prstGeom prst="roundRect">
            <a:avLst>
              <a:gd name="adj" fmla="val 20213"/>
            </a:avLst>
          </a:prstGeom>
          <a:solidFill>
            <a:srgbClr val="FBF3E9"/>
          </a:solidFill>
          <a:ln w="6350">
            <a:solidFill>
              <a:srgbClr val="D9B58C"/>
            </a:solidFill>
            <a:prstDash val="solid"/>
          </a:ln>
        </p:spPr>
        <p:txBody>
          <a:bodyPr wrap="square" lIns="87106" tIns="0" rIns="8710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information 경로</a:t>
            </a:r>
            <a:endParaRPr lang="en-US" sz="1200" dirty="0"/>
          </a:p>
        </p:txBody>
      </p:sp>
      <p:sp>
        <p:nvSpPr>
          <p:cNvPr id="13" name="Shape 11"/>
          <p:cNvSpPr/>
          <p:nvPr/>
        </p:nvSpPr>
        <p:spPr>
          <a:xfrm>
            <a:off x="815975" y="3254375"/>
            <a:ext cx="3549650" cy="1136650"/>
          </a:xfrm>
          <a:prstGeom prst="roundRect">
            <a:avLst>
              <a:gd name="adj" fmla="val 8659"/>
            </a:avLst>
          </a:prstGeom>
          <a:solidFill>
            <a:srgbClr val="EAF0EE"/>
          </a:solidFill>
          <a:ln w="6350">
            <a:solidFill>
              <a:srgbClr val="D3DDD9"/>
            </a:solidFill>
            <a:prstDash val="solid"/>
          </a:ln>
        </p:spPr>
      </p:sp>
      <p:sp>
        <p:nvSpPr>
          <p:cNvPr id="14" name="Text 12"/>
          <p:cNvSpPr/>
          <p:nvPr/>
        </p:nvSpPr>
        <p:spPr>
          <a:xfrm>
            <a:off x="965200" y="3352800"/>
            <a:ext cx="19621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Score</a:t>
            </a:r>
            <a:endParaRPr lang="en-US" sz="2000" dirty="0"/>
          </a:p>
        </p:txBody>
      </p:sp>
      <p:sp>
        <p:nvSpPr>
          <p:cNvPr id="15" name="Text 13"/>
          <p:cNvSpPr/>
          <p:nvPr/>
        </p:nvSpPr>
        <p:spPr>
          <a:xfrm>
            <a:off x="965200" y="3708400"/>
            <a:ext cx="33487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각 단계의 뜻을 설명할 수 있는 스펙트럼일 때. 버그 심각도, 고객 불만 정도</a:t>
            </a:r>
            <a:endParaRPr lang="en-US" sz="1200" dirty="0"/>
          </a:p>
        </p:txBody>
      </p:sp>
      <p:sp>
        <p:nvSpPr>
          <p:cNvPr id="16" name="Text 14"/>
          <p:cNvSpPr/>
          <p:nvPr/>
        </p:nvSpPr>
        <p:spPr>
          <a:xfrm>
            <a:off x="4959350" y="3575050"/>
            <a:ext cx="1638300" cy="495300"/>
          </a:xfrm>
          <a:prstGeom prst="roundRect">
            <a:avLst>
              <a:gd name="adj" fmla="val 14103"/>
            </a:avLst>
          </a:prstGeom>
          <a:solidFill>
            <a:srgbClr val="F6E9DA"/>
          </a:solidFill>
          <a:ln w="12700">
            <a:solidFill>
              <a:srgbClr val="A64B0B"/>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score ≥ 문턱</a:t>
            </a:r>
            <a:endParaRPr lang="en-US" sz="1200" dirty="0"/>
          </a:p>
        </p:txBody>
      </p:sp>
      <p:sp>
        <p:nvSpPr>
          <p:cNvPr id="17" name="Text 15"/>
          <p:cNvSpPr/>
          <p:nvPr/>
        </p:nvSpPr>
        <p:spPr>
          <a:xfrm>
            <a:off x="7496175" y="3482975"/>
            <a:ext cx="3168650" cy="298450"/>
          </a:xfrm>
          <a:prstGeom prst="roundRect">
            <a:avLst>
              <a:gd name="adj" fmla="val 20213"/>
            </a:avLst>
          </a:prstGeom>
          <a:solidFill>
            <a:srgbClr val="FBF3E9"/>
          </a:solidFill>
          <a:ln w="6350">
            <a:solidFill>
              <a:srgbClr val="D9B58C"/>
            </a:solidFill>
            <a:prstDash val="solid"/>
          </a:ln>
        </p:spPr>
        <p:txBody>
          <a:bodyPr wrap="square" lIns="87106" tIns="0" rIns="8710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문턱 이상이면 한 갈래</a:t>
            </a:r>
            <a:endParaRPr lang="en-US" sz="1200" dirty="0"/>
          </a:p>
        </p:txBody>
      </p:sp>
      <p:sp>
        <p:nvSpPr>
          <p:cNvPr id="18" name="Text 16"/>
          <p:cNvSpPr/>
          <p:nvPr/>
        </p:nvSpPr>
        <p:spPr>
          <a:xfrm>
            <a:off x="7496175" y="3863975"/>
            <a:ext cx="3168650" cy="298450"/>
          </a:xfrm>
          <a:prstGeom prst="roundRect">
            <a:avLst>
              <a:gd name="adj" fmla="val 20213"/>
            </a:avLst>
          </a:prstGeom>
          <a:solidFill>
            <a:srgbClr val="FBF3E9"/>
          </a:solidFill>
          <a:ln w="6350">
            <a:solidFill>
              <a:srgbClr val="D9B58C"/>
            </a:solidFill>
            <a:prstDash val="solid"/>
          </a:ln>
        </p:spPr>
        <p:txBody>
          <a:bodyPr wrap="square" lIns="87106" tIns="0" rIns="8710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문턱 미만이면 다른 갈래</a:t>
            </a:r>
            <a:endParaRPr lang="en-US" sz="1200" dirty="0"/>
          </a:p>
        </p:txBody>
      </p:sp>
      <p:sp>
        <p:nvSpPr>
          <p:cNvPr id="19" name="Shape 17"/>
          <p:cNvSpPr/>
          <p:nvPr/>
        </p:nvSpPr>
        <p:spPr>
          <a:xfrm>
            <a:off x="815975" y="4575175"/>
            <a:ext cx="3549650" cy="1136650"/>
          </a:xfrm>
          <a:prstGeom prst="roundRect">
            <a:avLst>
              <a:gd name="adj" fmla="val 8659"/>
            </a:avLst>
          </a:prstGeom>
          <a:solidFill>
            <a:srgbClr val="EAF0EE"/>
          </a:solidFill>
          <a:ln w="6350">
            <a:solidFill>
              <a:srgbClr val="D3DDD9"/>
            </a:solidFill>
            <a:prstDash val="solid"/>
          </a:ln>
        </p:spPr>
      </p:sp>
      <p:sp>
        <p:nvSpPr>
          <p:cNvPr id="20" name="Text 18"/>
          <p:cNvSpPr/>
          <p:nvPr/>
        </p:nvSpPr>
        <p:spPr>
          <a:xfrm>
            <a:off x="965200" y="4673600"/>
            <a:ext cx="19621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Noul</a:t>
            </a:r>
            <a:endParaRPr lang="en-US" sz="2000" dirty="0"/>
          </a:p>
        </p:txBody>
      </p:sp>
      <p:sp>
        <p:nvSpPr>
          <p:cNvPr id="21" name="Text 19"/>
          <p:cNvSpPr/>
          <p:nvPr/>
        </p:nvSpPr>
        <p:spPr>
          <a:xfrm>
            <a:off x="965200" y="5029200"/>
            <a:ext cx="33487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확률 자체가 쓸모 있는 예, 아니오일 때. 개인정보 포함 여부, 환불 요청 여부</a:t>
            </a:r>
            <a:endParaRPr lang="en-US" sz="1200" dirty="0"/>
          </a:p>
        </p:txBody>
      </p:sp>
      <p:sp>
        <p:nvSpPr>
          <p:cNvPr id="22" name="Text 20"/>
          <p:cNvSpPr/>
          <p:nvPr/>
        </p:nvSpPr>
        <p:spPr>
          <a:xfrm>
            <a:off x="4959350" y="4895850"/>
            <a:ext cx="1638300" cy="495300"/>
          </a:xfrm>
          <a:prstGeom prst="roundRect">
            <a:avLst>
              <a:gd name="adj" fmla="val 14103"/>
            </a:avLst>
          </a:prstGeom>
          <a:solidFill>
            <a:srgbClr val="F6E9DA"/>
          </a:solidFill>
          <a:ln w="12700">
            <a:solidFill>
              <a:srgbClr val="A64B0B"/>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noul &gt; 문턱</a:t>
            </a:r>
            <a:endParaRPr lang="en-US" sz="1200" dirty="0"/>
          </a:p>
        </p:txBody>
      </p:sp>
      <p:sp>
        <p:nvSpPr>
          <p:cNvPr id="23" name="Text 21"/>
          <p:cNvSpPr/>
          <p:nvPr/>
        </p:nvSpPr>
        <p:spPr>
          <a:xfrm>
            <a:off x="7496175" y="4803775"/>
            <a:ext cx="3168650" cy="298450"/>
          </a:xfrm>
          <a:prstGeom prst="roundRect">
            <a:avLst>
              <a:gd name="adj" fmla="val 20213"/>
            </a:avLst>
          </a:prstGeom>
          <a:solidFill>
            <a:srgbClr val="FBF3E9"/>
          </a:solidFill>
          <a:ln w="6350">
            <a:solidFill>
              <a:srgbClr val="D9B58C"/>
            </a:solidFill>
            <a:prstDash val="solid"/>
          </a:ln>
        </p:spPr>
        <p:txBody>
          <a:bodyPr wrap="square" lIns="87106" tIns="0" rIns="8710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참이면 if 안의 코드</a:t>
            </a:r>
            <a:endParaRPr lang="en-US" sz="1200" dirty="0"/>
          </a:p>
        </p:txBody>
      </p:sp>
      <p:sp>
        <p:nvSpPr>
          <p:cNvPr id="24" name="Text 22"/>
          <p:cNvSpPr/>
          <p:nvPr/>
        </p:nvSpPr>
        <p:spPr>
          <a:xfrm>
            <a:off x="7496175" y="5184775"/>
            <a:ext cx="3168650" cy="298450"/>
          </a:xfrm>
          <a:prstGeom prst="roundRect">
            <a:avLst>
              <a:gd name="adj" fmla="val 20213"/>
            </a:avLst>
          </a:prstGeom>
          <a:solidFill>
            <a:srgbClr val="FBF3E9"/>
          </a:solidFill>
          <a:ln w="6350">
            <a:solidFill>
              <a:srgbClr val="D9B58C"/>
            </a:solidFill>
            <a:prstDash val="solid"/>
          </a:ln>
        </p:spPr>
        <p:txBody>
          <a:bodyPr wrap="square" lIns="87106" tIns="0" rIns="87106" bIns="0" rtlCol="0" anchor="ctr">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거짓이면 지나감</a:t>
            </a:r>
            <a:endParaRPr lang="en-US" sz="1200" dirty="0"/>
          </a:p>
        </p:txBody>
      </p:sp>
      <p:pic>
        <p:nvPicPr>
          <p:cNvPr id="25" name="Image 0" descr="connector">    </p:cNvPr>
          <p:cNvPicPr>
            <a:picLocks noChangeAspect="1"/>
          </p:cNvPicPr>
          <p:nvPr/>
        </p:nvPicPr>
        <p:blipFill>
          <a:blip r:embed="rId1"/>
          <a:srcRect l="0" r="0" t="0" b="0"/>
          <a:stretch/>
        </p:blipFill>
        <p:spPr>
          <a:xfrm>
            <a:off x="4318000" y="2451100"/>
            <a:ext cx="685800" cy="101600"/>
          </a:xfrm>
          <a:prstGeom prst="rect">
            <a:avLst/>
          </a:prstGeom>
        </p:spPr>
      </p:pic>
      <p:pic>
        <p:nvPicPr>
          <p:cNvPr id="26" name="Image 1" descr="connector">    </p:cNvPr>
          <p:cNvPicPr>
            <a:picLocks noChangeAspect="1"/>
          </p:cNvPicPr>
          <p:nvPr/>
        </p:nvPicPr>
        <p:blipFill>
          <a:blip r:embed="rId2"/>
          <a:srcRect l="0" r="0" t="0" b="0"/>
          <a:stretch/>
        </p:blipFill>
        <p:spPr>
          <a:xfrm>
            <a:off x="6553200" y="2451100"/>
            <a:ext cx="546100" cy="101600"/>
          </a:xfrm>
          <a:prstGeom prst="rect">
            <a:avLst/>
          </a:prstGeom>
        </p:spPr>
      </p:pic>
      <p:pic>
        <p:nvPicPr>
          <p:cNvPr id="27" name="Image 2" descr="connector">    </p:cNvPr>
          <p:cNvPicPr>
            <a:picLocks noChangeAspect="1"/>
          </p:cNvPicPr>
          <p:nvPr/>
        </p:nvPicPr>
        <p:blipFill>
          <a:blip r:embed="rId3"/>
          <a:srcRect l="0" r="0" t="0" b="0"/>
          <a:stretch/>
        </p:blipFill>
        <p:spPr>
          <a:xfrm>
            <a:off x="6997700" y="2070100"/>
            <a:ext cx="101600" cy="863600"/>
          </a:xfrm>
          <a:prstGeom prst="rect">
            <a:avLst/>
          </a:prstGeom>
        </p:spPr>
      </p:pic>
      <p:pic>
        <p:nvPicPr>
          <p:cNvPr id="28" name="Image 3" descr="connector">    </p:cNvPr>
          <p:cNvPicPr>
            <a:picLocks noChangeAspect="1"/>
          </p:cNvPicPr>
          <p:nvPr/>
        </p:nvPicPr>
        <p:blipFill>
          <a:blip r:embed="rId4"/>
          <a:srcRect l="0" r="0" t="0" b="0"/>
          <a:stretch/>
        </p:blipFill>
        <p:spPr>
          <a:xfrm>
            <a:off x="6997700" y="2070100"/>
            <a:ext cx="546100" cy="101600"/>
          </a:xfrm>
          <a:prstGeom prst="rect">
            <a:avLst/>
          </a:prstGeom>
        </p:spPr>
      </p:pic>
      <p:pic>
        <p:nvPicPr>
          <p:cNvPr id="29" name="Image 4" descr="connector">    </p:cNvPr>
          <p:cNvPicPr>
            <a:picLocks noChangeAspect="1"/>
          </p:cNvPicPr>
          <p:nvPr/>
        </p:nvPicPr>
        <p:blipFill>
          <a:blip r:embed="rId5"/>
          <a:srcRect l="0" r="0" t="0" b="0"/>
          <a:stretch/>
        </p:blipFill>
        <p:spPr>
          <a:xfrm>
            <a:off x="6997700" y="2451100"/>
            <a:ext cx="546100" cy="101600"/>
          </a:xfrm>
          <a:prstGeom prst="rect">
            <a:avLst/>
          </a:prstGeom>
        </p:spPr>
      </p:pic>
      <p:pic>
        <p:nvPicPr>
          <p:cNvPr id="30" name="Image 5" descr="connector">    </p:cNvPr>
          <p:cNvPicPr>
            <a:picLocks noChangeAspect="1"/>
          </p:cNvPicPr>
          <p:nvPr/>
        </p:nvPicPr>
        <p:blipFill>
          <a:blip r:embed="rId6"/>
          <a:srcRect l="0" r="0" t="0" b="0"/>
          <a:stretch/>
        </p:blipFill>
        <p:spPr>
          <a:xfrm>
            <a:off x="6997700" y="2832100"/>
            <a:ext cx="546100" cy="101600"/>
          </a:xfrm>
          <a:prstGeom prst="rect">
            <a:avLst/>
          </a:prstGeom>
        </p:spPr>
      </p:pic>
      <p:pic>
        <p:nvPicPr>
          <p:cNvPr id="31" name="Image 6" descr="connector">    </p:cNvPr>
          <p:cNvPicPr>
            <a:picLocks noChangeAspect="1"/>
          </p:cNvPicPr>
          <p:nvPr/>
        </p:nvPicPr>
        <p:blipFill>
          <a:blip r:embed="rId7"/>
          <a:srcRect l="0" r="0" t="0" b="0"/>
          <a:stretch/>
        </p:blipFill>
        <p:spPr>
          <a:xfrm>
            <a:off x="4318000" y="3771900"/>
            <a:ext cx="685800" cy="101600"/>
          </a:xfrm>
          <a:prstGeom prst="rect">
            <a:avLst/>
          </a:prstGeom>
        </p:spPr>
      </p:pic>
      <p:pic>
        <p:nvPicPr>
          <p:cNvPr id="32" name="Image 7" descr="connector">    </p:cNvPr>
          <p:cNvPicPr>
            <a:picLocks noChangeAspect="1"/>
          </p:cNvPicPr>
          <p:nvPr/>
        </p:nvPicPr>
        <p:blipFill>
          <a:blip r:embed="rId8"/>
          <a:srcRect l="0" r="0" t="0" b="0"/>
          <a:stretch/>
        </p:blipFill>
        <p:spPr>
          <a:xfrm>
            <a:off x="6553200" y="3771900"/>
            <a:ext cx="546100" cy="101600"/>
          </a:xfrm>
          <a:prstGeom prst="rect">
            <a:avLst/>
          </a:prstGeom>
        </p:spPr>
      </p:pic>
      <p:pic>
        <p:nvPicPr>
          <p:cNvPr id="33" name="Image 8" descr="connector">    </p:cNvPr>
          <p:cNvPicPr>
            <a:picLocks noChangeAspect="1"/>
          </p:cNvPicPr>
          <p:nvPr/>
        </p:nvPicPr>
        <p:blipFill>
          <a:blip r:embed="rId9"/>
          <a:srcRect l="0" r="0" t="0" b="0"/>
          <a:stretch/>
        </p:blipFill>
        <p:spPr>
          <a:xfrm>
            <a:off x="6997700" y="3581400"/>
            <a:ext cx="101600" cy="482600"/>
          </a:xfrm>
          <a:prstGeom prst="rect">
            <a:avLst/>
          </a:prstGeom>
        </p:spPr>
      </p:pic>
      <p:pic>
        <p:nvPicPr>
          <p:cNvPr id="34" name="Image 9" descr="connector">    </p:cNvPr>
          <p:cNvPicPr>
            <a:picLocks noChangeAspect="1"/>
          </p:cNvPicPr>
          <p:nvPr/>
        </p:nvPicPr>
        <p:blipFill>
          <a:blip r:embed="rId10"/>
          <a:srcRect l="0" r="0" t="0" b="0"/>
          <a:stretch/>
        </p:blipFill>
        <p:spPr>
          <a:xfrm>
            <a:off x="6997700" y="3581400"/>
            <a:ext cx="546100" cy="101600"/>
          </a:xfrm>
          <a:prstGeom prst="rect">
            <a:avLst/>
          </a:prstGeom>
        </p:spPr>
      </p:pic>
      <p:pic>
        <p:nvPicPr>
          <p:cNvPr id="35" name="Image 10" descr="connector">    </p:cNvPr>
          <p:cNvPicPr>
            <a:picLocks noChangeAspect="1"/>
          </p:cNvPicPr>
          <p:nvPr/>
        </p:nvPicPr>
        <p:blipFill>
          <a:blip r:embed="rId11"/>
          <a:srcRect l="0" r="0" t="0" b="0"/>
          <a:stretch/>
        </p:blipFill>
        <p:spPr>
          <a:xfrm>
            <a:off x="6997700" y="3962400"/>
            <a:ext cx="546100" cy="101600"/>
          </a:xfrm>
          <a:prstGeom prst="rect">
            <a:avLst/>
          </a:prstGeom>
        </p:spPr>
      </p:pic>
      <p:pic>
        <p:nvPicPr>
          <p:cNvPr id="36" name="Image 11" descr="connector">    </p:cNvPr>
          <p:cNvPicPr>
            <a:picLocks noChangeAspect="1"/>
          </p:cNvPicPr>
          <p:nvPr/>
        </p:nvPicPr>
        <p:blipFill>
          <a:blip r:embed="rId12"/>
          <a:srcRect l="0" r="0" t="0" b="0"/>
          <a:stretch/>
        </p:blipFill>
        <p:spPr>
          <a:xfrm>
            <a:off x="4318000" y="5092700"/>
            <a:ext cx="685800" cy="101600"/>
          </a:xfrm>
          <a:prstGeom prst="rect">
            <a:avLst/>
          </a:prstGeom>
        </p:spPr>
      </p:pic>
      <p:pic>
        <p:nvPicPr>
          <p:cNvPr id="37" name="Image 12" descr="connector">    </p:cNvPr>
          <p:cNvPicPr>
            <a:picLocks noChangeAspect="1"/>
          </p:cNvPicPr>
          <p:nvPr/>
        </p:nvPicPr>
        <p:blipFill>
          <a:blip r:embed="rId13"/>
          <a:srcRect l="0" r="0" t="0" b="0"/>
          <a:stretch/>
        </p:blipFill>
        <p:spPr>
          <a:xfrm>
            <a:off x="6553200" y="5092700"/>
            <a:ext cx="546100" cy="101600"/>
          </a:xfrm>
          <a:prstGeom prst="rect">
            <a:avLst/>
          </a:prstGeom>
        </p:spPr>
      </p:pic>
      <p:pic>
        <p:nvPicPr>
          <p:cNvPr id="38" name="Image 13" descr="connector">    </p:cNvPr>
          <p:cNvPicPr>
            <a:picLocks noChangeAspect="1"/>
          </p:cNvPicPr>
          <p:nvPr/>
        </p:nvPicPr>
        <p:blipFill>
          <a:blip r:embed="rId14"/>
          <a:srcRect l="0" r="0" t="0" b="0"/>
          <a:stretch/>
        </p:blipFill>
        <p:spPr>
          <a:xfrm>
            <a:off x="6997700" y="4902200"/>
            <a:ext cx="101600" cy="482600"/>
          </a:xfrm>
          <a:prstGeom prst="rect">
            <a:avLst/>
          </a:prstGeom>
        </p:spPr>
      </p:pic>
      <p:pic>
        <p:nvPicPr>
          <p:cNvPr id="39" name="Image 14" descr="connector">    </p:cNvPr>
          <p:cNvPicPr>
            <a:picLocks noChangeAspect="1"/>
          </p:cNvPicPr>
          <p:nvPr/>
        </p:nvPicPr>
        <p:blipFill>
          <a:blip r:embed="rId15"/>
          <a:srcRect l="0" r="0" t="0" b="0"/>
          <a:stretch/>
        </p:blipFill>
        <p:spPr>
          <a:xfrm>
            <a:off x="6997700" y="4902200"/>
            <a:ext cx="546100" cy="101600"/>
          </a:xfrm>
          <a:prstGeom prst="rect">
            <a:avLst/>
          </a:prstGeom>
        </p:spPr>
      </p:pic>
      <p:pic>
        <p:nvPicPr>
          <p:cNvPr id="40" name="Image 15" descr="connector">    </p:cNvPr>
          <p:cNvPicPr>
            <a:picLocks noChangeAspect="1"/>
          </p:cNvPicPr>
          <p:nvPr/>
        </p:nvPicPr>
        <p:blipFill>
          <a:blip r:embed="rId16"/>
          <a:srcRect l="0" r="0" t="0" b="0"/>
          <a:stretch/>
        </p:blipFill>
        <p:spPr>
          <a:xfrm>
            <a:off x="6997700" y="5283200"/>
            <a:ext cx="546100" cy="101600"/>
          </a:xfrm>
          <a:prstGeom prst="rect">
            <a:avLst/>
          </a:prstGeom>
        </p:spPr>
      </p:pic>
      <p:sp>
        <p:nvSpPr>
          <p:cNvPr id="41"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출처: TypeSafe 문서 “Primitives”. 두 유형이 다 맞아 보이면 답을 코드가 바로 쓸 수 있는 쪽을 고릅니다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A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B6A0"/>
                </a:solidFill>
                <a:latin typeface="Arial" pitchFamily="34" charset="0"/>
                <a:ea typeface="Arial" pitchFamily="34" charset="-122"/>
                <a:cs typeface="Arial" pitchFamily="34" charset="-120"/>
              </a:rPr>
              <a:t>질문을 설계하는 건 호출하는 쪽</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8F7"/>
                </a:solidFill>
                <a:latin typeface="Arial" pitchFamily="34" charset="0"/>
                <a:ea typeface="Arial" pitchFamily="34" charset="-122"/>
                <a:cs typeface="Arial" pitchFamily="34" charset="-120"/>
              </a:rPr>
              <a:t>모델은 적힌 글자만 읽는다</a:t>
            </a:r>
            <a:endParaRPr lang="en-US" sz="3200" dirty="0"/>
          </a:p>
        </p:txBody>
      </p:sp>
      <p:sp>
        <p:nvSpPr>
          <p:cNvPr id="4" name="Shape 2"/>
          <p:cNvSpPr/>
          <p:nvPr/>
        </p:nvSpPr>
        <p:spPr>
          <a:xfrm>
            <a:off x="819150" y="1911350"/>
            <a:ext cx="5575300" cy="3797300"/>
          </a:xfrm>
          <a:prstGeom prst="roundRect">
            <a:avLst>
              <a:gd name="adj" fmla="val 3177"/>
            </a:avLst>
          </a:prstGeom>
          <a:solidFill>
            <a:srgbClr val="2A2318"/>
          </a:solidFill>
          <a:ln w="12700">
            <a:solidFill>
              <a:srgbClr val="F0A04B"/>
            </a:solidFill>
            <a:prstDash val="solid"/>
          </a:ln>
        </p:spPr>
      </p:sp>
      <p:sp>
        <p:nvSpPr>
          <p:cNvPr id="5" name="Shape 3"/>
          <p:cNvSpPr/>
          <p:nvPr/>
        </p:nvSpPr>
        <p:spPr>
          <a:xfrm>
            <a:off x="6991350" y="1911350"/>
            <a:ext cx="4381500" cy="3797300"/>
          </a:xfrm>
          <a:prstGeom prst="roundRect">
            <a:avLst>
              <a:gd name="adj" fmla="val 3177"/>
            </a:avLst>
          </a:prstGeom>
          <a:solidFill>
            <a:srgbClr val="183331"/>
          </a:solidFill>
          <a:ln w="12700">
            <a:solidFill>
              <a:srgbClr val="4DB6A0"/>
            </a:solidFill>
            <a:prstDash val="solid"/>
          </a:ln>
        </p:spPr>
      </p:sp>
      <p:sp>
        <p:nvSpPr>
          <p:cNvPr id="6" name="Text 4"/>
          <p:cNvSpPr/>
          <p:nvPr/>
        </p:nvSpPr>
        <p:spPr>
          <a:xfrm>
            <a:off x="965200" y="2006600"/>
            <a:ext cx="3924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04B"/>
                </a:solidFill>
                <a:latin typeface="Arial" pitchFamily="34" charset="0"/>
                <a:ea typeface="Arial" pitchFamily="34" charset="-122"/>
                <a:cs typeface="Arial" pitchFamily="34" charset="-120"/>
              </a:rPr>
              <a:t>코드(호출하는 쪽)</a:t>
            </a:r>
            <a:endParaRPr lang="en-US" sz="1500" dirty="0"/>
          </a:p>
        </p:txBody>
      </p:sp>
      <p:sp>
        <p:nvSpPr>
          <p:cNvPr id="7" name="Text 5"/>
          <p:cNvSpPr/>
          <p:nvPr/>
        </p:nvSpPr>
        <p:spPr>
          <a:xfrm>
            <a:off x="7137400" y="2006600"/>
            <a:ext cx="3924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DB6A0"/>
                </a:solidFill>
                <a:latin typeface="Arial" pitchFamily="34" charset="0"/>
                <a:ea typeface="Arial" pitchFamily="34" charset="-122"/>
                <a:cs typeface="Arial" pitchFamily="34" charset="-120"/>
              </a:rPr>
              <a:t>Jev(모델)</a:t>
            </a:r>
            <a:endParaRPr lang="en-US" sz="1500" dirty="0"/>
          </a:p>
        </p:txBody>
      </p:sp>
      <p:sp>
        <p:nvSpPr>
          <p:cNvPr id="8" name="Text 6"/>
          <p:cNvSpPr/>
          <p:nvPr/>
        </p:nvSpPr>
        <p:spPr>
          <a:xfrm>
            <a:off x="968375" y="2416175"/>
            <a:ext cx="1771650" cy="628650"/>
          </a:xfrm>
          <a:prstGeom prst="roundRect">
            <a:avLst>
              <a:gd name="adj" fmla="val 11616"/>
            </a:avLst>
          </a:prstGeom>
          <a:solidFill>
            <a:srgbClr val="1B2638"/>
          </a:solidFill>
          <a:ln w="6350">
            <a:solidFill>
              <a:srgbClr val="2E3C52"/>
            </a:solidFill>
            <a:prstDash val="solid"/>
          </a:ln>
        </p:spPr>
        <p:txBody>
          <a:bodyPr wrap="square" lIns="0" tIns="0" rIns="0" bIns="0" rtlCol="0" anchor="ctr">
            <a:normAutofit/>
          </a:bodyPr>
          <a:lstStyle/>
          <a:p>
            <a:pPr algn="ctr" indent="0" marL="0">
              <a:lnSpc>
                <a:spcPts val="2100"/>
              </a:lnSpc>
              <a:buNone/>
            </a:pPr>
            <a:r>
              <a:rPr lang="en-US" sz="1500" b="1" dirty="0">
                <a:solidFill>
                  <a:srgbClr val="F0A04B"/>
                </a:solidFill>
                <a:latin typeface="Courier New" pitchFamily="49" charset="0"/>
                <a:ea typeface="Courier New" pitchFamily="49" charset="-122"/>
                <a:cs typeface="Courier New" pitchFamily="49" charset="-120"/>
              </a:rPr>
              <a:t>department</a:t>
            </a:r>
            <a:endParaRPr lang="en-US" sz="1500" dirty="0"/>
          </a:p>
        </p:txBody>
      </p:sp>
      <p:sp>
        <p:nvSpPr>
          <p:cNvPr id="9" name="Text 7"/>
          <p:cNvSpPr/>
          <p:nvPr/>
        </p:nvSpPr>
        <p:spPr>
          <a:xfrm>
            <a:off x="2987675" y="2416175"/>
            <a:ext cx="3168650" cy="628650"/>
          </a:xfrm>
          <a:prstGeom prst="roundRect">
            <a:avLst>
              <a:gd name="adj" fmla="val 11616"/>
            </a:avLst>
          </a:prstGeom>
          <a:solidFill>
            <a:srgbClr val="1B2638"/>
          </a:solidFill>
          <a:ln w="6350">
            <a:solidFill>
              <a:srgbClr val="4DB6A0"/>
            </a:solidFill>
            <a:prstDash val="solid"/>
          </a:ln>
        </p:spPr>
        <p:txBody>
          <a:bodyPr wrap="square" lIns="83387" tIns="0" rIns="83387" bIns="0" rtlCol="0" anchor="ctr">
            <a:normAutofit/>
          </a:bodyPr>
          <a:lstStyle/>
          <a:p>
            <a:pPr algn="l" indent="0" marL="0">
              <a:lnSpc>
                <a:spcPts val="1680"/>
              </a:lnSpc>
              <a:buNone/>
            </a:pPr>
            <a:r>
              <a:rPr lang="en-US" sz="1200" dirty="0">
                <a:solidFill>
                  <a:srgbClr val="E6ECF2"/>
                </a:solidFill>
                <a:latin typeface="Arial" pitchFamily="34" charset="0"/>
                <a:ea typeface="Arial" pitchFamily="34" charset="-122"/>
                <a:cs typeface="Arial" pitchFamily="34" charset="-120"/>
              </a:rPr>
              <a:t>Which team should handle this</a:t>
            </a:r>
            <a:endParaRPr lang="en-US" sz="1200" dirty="0"/>
          </a:p>
        </p:txBody>
      </p:sp>
      <p:sp>
        <p:nvSpPr>
          <p:cNvPr id="10" name="Text 8"/>
          <p:cNvSpPr/>
          <p:nvPr/>
        </p:nvSpPr>
        <p:spPr>
          <a:xfrm>
            <a:off x="968375" y="3178175"/>
            <a:ext cx="1771650" cy="628650"/>
          </a:xfrm>
          <a:prstGeom prst="roundRect">
            <a:avLst>
              <a:gd name="adj" fmla="val 11616"/>
            </a:avLst>
          </a:prstGeom>
          <a:solidFill>
            <a:srgbClr val="1B2638"/>
          </a:solidFill>
          <a:ln w="6350">
            <a:solidFill>
              <a:srgbClr val="2E3C52"/>
            </a:solidFill>
            <a:prstDash val="solid"/>
          </a:ln>
        </p:spPr>
        <p:txBody>
          <a:bodyPr wrap="square" lIns="0" tIns="0" rIns="0" bIns="0" rtlCol="0" anchor="ctr">
            <a:normAutofit/>
          </a:bodyPr>
          <a:lstStyle/>
          <a:p>
            <a:pPr algn="ctr" indent="0" marL="0">
              <a:lnSpc>
                <a:spcPts val="2100"/>
              </a:lnSpc>
              <a:buNone/>
            </a:pPr>
            <a:r>
              <a:rPr lang="en-US" sz="1500" b="1" dirty="0">
                <a:solidFill>
                  <a:srgbClr val="F0A04B"/>
                </a:solidFill>
                <a:latin typeface="Courier New" pitchFamily="49" charset="0"/>
                <a:ea typeface="Courier New" pitchFamily="49" charset="-122"/>
                <a:cs typeface="Courier New" pitchFamily="49" charset="-120"/>
              </a:rPr>
              <a:t>frustration</a:t>
            </a:r>
            <a:endParaRPr lang="en-US" sz="1500" dirty="0"/>
          </a:p>
        </p:txBody>
      </p:sp>
      <p:sp>
        <p:nvSpPr>
          <p:cNvPr id="11" name="Text 9"/>
          <p:cNvSpPr/>
          <p:nvPr/>
        </p:nvSpPr>
        <p:spPr>
          <a:xfrm>
            <a:off x="2987675" y="3178175"/>
            <a:ext cx="3168650" cy="628650"/>
          </a:xfrm>
          <a:prstGeom prst="roundRect">
            <a:avLst>
              <a:gd name="adj" fmla="val 11616"/>
            </a:avLst>
          </a:prstGeom>
          <a:solidFill>
            <a:srgbClr val="1B2638"/>
          </a:solidFill>
          <a:ln w="6350">
            <a:solidFill>
              <a:srgbClr val="4DB6A0"/>
            </a:solidFill>
            <a:prstDash val="solid"/>
          </a:ln>
        </p:spPr>
        <p:txBody>
          <a:bodyPr wrap="square" lIns="83387" tIns="0" rIns="83387" bIns="0" rtlCol="0" anchor="ctr">
            <a:normAutofit/>
          </a:bodyPr>
          <a:lstStyle/>
          <a:p>
            <a:pPr algn="l" indent="0" marL="0">
              <a:lnSpc>
                <a:spcPts val="1680"/>
              </a:lnSpc>
              <a:buNone/>
            </a:pPr>
            <a:r>
              <a:rPr lang="en-US" sz="1200" dirty="0">
                <a:solidFill>
                  <a:srgbClr val="E6ECF2"/>
                </a:solidFill>
                <a:latin typeface="Arial" pitchFamily="34" charset="0"/>
                <a:ea typeface="Arial" pitchFamily="34" charset="-122"/>
                <a:cs typeface="Arial" pitchFamily="34" charset="-120"/>
              </a:rPr>
              <a:t>How frustrated the customer appears</a:t>
            </a:r>
            <a:endParaRPr lang="en-US" sz="1200" dirty="0"/>
          </a:p>
        </p:txBody>
      </p:sp>
      <p:sp>
        <p:nvSpPr>
          <p:cNvPr id="12" name="Text 10"/>
          <p:cNvSpPr/>
          <p:nvPr/>
        </p:nvSpPr>
        <p:spPr>
          <a:xfrm>
            <a:off x="968375" y="3940175"/>
            <a:ext cx="1771650" cy="628650"/>
          </a:xfrm>
          <a:prstGeom prst="roundRect">
            <a:avLst>
              <a:gd name="adj" fmla="val 11616"/>
            </a:avLst>
          </a:prstGeom>
          <a:solidFill>
            <a:srgbClr val="1B2638"/>
          </a:solidFill>
          <a:ln w="6350">
            <a:solidFill>
              <a:srgbClr val="2E3C52"/>
            </a:solidFill>
            <a:prstDash val="solid"/>
          </a:ln>
        </p:spPr>
        <p:txBody>
          <a:bodyPr wrap="square" lIns="0" tIns="0" rIns="0" bIns="0" rtlCol="0" anchor="ctr">
            <a:normAutofit/>
          </a:bodyPr>
          <a:lstStyle/>
          <a:p>
            <a:pPr algn="ctr" indent="0" marL="0">
              <a:lnSpc>
                <a:spcPts val="2100"/>
              </a:lnSpc>
              <a:buNone/>
            </a:pPr>
            <a:r>
              <a:rPr lang="en-US" sz="1500" b="1" dirty="0">
                <a:solidFill>
                  <a:srgbClr val="F0A04B"/>
                </a:solidFill>
                <a:latin typeface="Courier New" pitchFamily="49" charset="0"/>
                <a:ea typeface="Courier New" pitchFamily="49" charset="-122"/>
                <a:cs typeface="Courier New" pitchFamily="49" charset="-120"/>
              </a:rPr>
              <a:t>is_urgent</a:t>
            </a:r>
            <a:endParaRPr lang="en-US" sz="1500" dirty="0"/>
          </a:p>
        </p:txBody>
      </p:sp>
      <p:sp>
        <p:nvSpPr>
          <p:cNvPr id="13" name="Text 11"/>
          <p:cNvSpPr/>
          <p:nvPr/>
        </p:nvSpPr>
        <p:spPr>
          <a:xfrm>
            <a:off x="2987675" y="3940175"/>
            <a:ext cx="3168650" cy="628650"/>
          </a:xfrm>
          <a:prstGeom prst="roundRect">
            <a:avLst>
              <a:gd name="adj" fmla="val 11616"/>
            </a:avLst>
          </a:prstGeom>
          <a:solidFill>
            <a:srgbClr val="1B2638"/>
          </a:solidFill>
          <a:ln w="6350">
            <a:solidFill>
              <a:srgbClr val="4DB6A0"/>
            </a:solidFill>
            <a:prstDash val="solid"/>
          </a:ln>
        </p:spPr>
        <p:txBody>
          <a:bodyPr wrap="square" lIns="83387" tIns="0" rIns="0" bIns="0" rtlCol="0" anchor="ctr">
            <a:normAutofit/>
          </a:bodyPr>
          <a:lstStyle/>
          <a:p>
            <a:pPr algn="l" indent="0" marL="0">
              <a:lnSpc>
                <a:spcPts val="1680"/>
              </a:lnSpc>
              <a:buNone/>
            </a:pPr>
            <a:r>
              <a:rPr lang="en-US" sz="1200" dirty="0">
                <a:solidFill>
                  <a:srgbClr val="E6ECF2"/>
                </a:solidFill>
                <a:latin typeface="Arial" pitchFamily="34" charset="0"/>
                <a:ea typeface="Arial" pitchFamily="34" charset="-122"/>
                <a:cs typeface="Arial" pitchFamily="34" charset="-120"/>
              </a:rPr>
              <a:t>The message conveys urgency or time-sensitivity</a:t>
            </a:r>
            <a:endParaRPr lang="en-US" sz="1200" dirty="0"/>
          </a:p>
        </p:txBody>
      </p:sp>
      <p:sp>
        <p:nvSpPr>
          <p:cNvPr id="14" name="Text 12"/>
          <p:cNvSpPr/>
          <p:nvPr/>
        </p:nvSpPr>
        <p:spPr>
          <a:xfrm>
            <a:off x="965200" y="4699000"/>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키(department 같은 이름)는 코드가 응답에서 답을 꺼낼 때만 씁니다</a:t>
            </a:r>
            <a:endParaRPr lang="en-US" sz="1200" dirty="0"/>
          </a:p>
        </p:txBody>
      </p:sp>
      <p:sp>
        <p:nvSpPr>
          <p:cNvPr id="15" name="Text 13"/>
          <p:cNvSpPr/>
          <p:nvPr/>
        </p:nvSpPr>
        <p:spPr>
          <a:xfrm>
            <a:off x="968375" y="5248275"/>
            <a:ext cx="5175250" cy="374650"/>
          </a:xfrm>
          <a:prstGeom prst="roundRect">
            <a:avLst>
              <a:gd name="adj" fmla="val 19492"/>
            </a:avLst>
          </a:prstGeom>
          <a:solidFill>
            <a:srgbClr val="1B2638"/>
          </a:solidFill>
          <a:ln w="6350">
            <a:solidFill>
              <a:srgbClr val="2E3C52"/>
            </a:solidFill>
            <a:prstDash val="solid"/>
          </a:ln>
        </p:spPr>
        <p:txBody>
          <a:bodyPr wrap="square" lIns="108787" tIns="0" rIns="108787" bIns="0" rtlCol="0" anchor="ctr">
            <a:normAutofit/>
          </a:bodyPr>
          <a:lstStyle/>
          <a:p>
            <a:pPr algn="l" indent="0" marL="0">
              <a:lnSpc>
                <a:spcPts val="1680"/>
              </a:lnSpc>
              <a:buNone/>
            </a:pPr>
            <a:r>
              <a:rPr lang="en-US" sz="1200" dirty="0">
                <a:solidFill>
                  <a:srgbClr val="E6ECF2"/>
                </a:solidFill>
                <a:latin typeface="Arial" pitchFamily="34" charset="0"/>
                <a:ea typeface="Arial" pitchFamily="34" charset="-122"/>
                <a:cs typeface="Arial" pitchFamily="34" charset="-120"/>
              </a:rPr>
              <a:t>answers의 같은 키 아래로 답이 돌아옵니다</a:t>
            </a:r>
            <a:endParaRPr lang="en-US" sz="1200" dirty="0"/>
          </a:p>
        </p:txBody>
      </p:sp>
      <p:sp>
        <p:nvSpPr>
          <p:cNvPr id="16" name="Shape 14"/>
          <p:cNvSpPr/>
          <p:nvPr/>
        </p:nvSpPr>
        <p:spPr>
          <a:xfrm>
            <a:off x="7372350" y="2419350"/>
            <a:ext cx="3746500" cy="2146300"/>
          </a:xfrm>
          <a:prstGeom prst="roundRect">
            <a:avLst>
              <a:gd name="adj" fmla="val 4438"/>
            </a:avLst>
          </a:prstGeom>
          <a:solidFill>
            <a:srgbClr val="1B2638"/>
          </a:solidFill>
          <a:ln w="12700">
            <a:solidFill>
              <a:srgbClr val="4DB6A0"/>
            </a:solidFill>
            <a:prstDash val="solid"/>
          </a:ln>
        </p:spPr>
      </p:sp>
      <p:sp>
        <p:nvSpPr>
          <p:cNvPr id="17" name="Text 15"/>
          <p:cNvSpPr/>
          <p:nvPr/>
        </p:nvSpPr>
        <p:spPr>
          <a:xfrm>
            <a:off x="7518400" y="2514600"/>
            <a:ext cx="35580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DB6A0"/>
                </a:solidFill>
                <a:latin typeface="Arial" pitchFamily="34" charset="0"/>
                <a:ea typeface="Arial" pitchFamily="34" charset="-122"/>
                <a:cs typeface="Arial" pitchFamily="34" charset="-120"/>
              </a:rPr>
              <a:t>Jev</a:t>
            </a:r>
            <a:endParaRPr lang="en-US" sz="2000" dirty="0"/>
          </a:p>
        </p:txBody>
      </p:sp>
      <p:sp>
        <p:nvSpPr>
          <p:cNvPr id="18" name="Text 16"/>
          <p:cNvSpPr/>
          <p:nvPr/>
        </p:nvSpPr>
        <p:spPr>
          <a:xfrm>
            <a:off x="7518400" y="2895600"/>
            <a:ext cx="35580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CF2"/>
                </a:solidFill>
                <a:latin typeface="Arial" pitchFamily="34" charset="0"/>
                <a:ea typeface="Arial" pitchFamily="34" charset="-122"/>
                <a:cs typeface="Arial" pitchFamily="34" charset="-120"/>
              </a:rPr>
              <a:t>instructions와 criteria에 적힌 글자만 읽고 판단합니다</a:t>
            </a:r>
            <a:endParaRPr lang="en-US" sz="1200" dirty="0"/>
          </a:p>
        </p:txBody>
      </p:sp>
      <p:sp>
        <p:nvSpPr>
          <p:cNvPr id="19" name="Text 17"/>
          <p:cNvSpPr/>
          <p:nvPr/>
        </p:nvSpPr>
        <p:spPr>
          <a:xfrm>
            <a:off x="7518400" y="3429000"/>
            <a:ext cx="35580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키와 레벨 번호는 모델에게 보이지 않습니다</a:t>
            </a:r>
            <a:endParaRPr lang="en-US" sz="1200" dirty="0"/>
          </a:p>
        </p:txBody>
      </p:sp>
      <p:sp>
        <p:nvSpPr>
          <p:cNvPr id="20" name="Text 18"/>
          <p:cNvSpPr/>
          <p:nvPr/>
        </p:nvSpPr>
        <p:spPr>
          <a:xfrm>
            <a:off x="7518400" y="3886200"/>
            <a:ext cx="35580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“answers the question you wrote, not the one you meant”</a:t>
            </a:r>
            <a:endParaRPr lang="en-US" sz="1200" dirty="0"/>
          </a:p>
        </p:txBody>
      </p:sp>
      <p:sp>
        <p:nvSpPr>
          <p:cNvPr id="21" name="Text 19"/>
          <p:cNvSpPr/>
          <p:nvPr/>
        </p:nvSpPr>
        <p:spPr>
          <a:xfrm>
            <a:off x="7175500" y="51181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답은 같은 키로 돌아옴</a:t>
            </a:r>
            <a:endParaRPr lang="en-US" sz="1200" dirty="0"/>
          </a:p>
        </p:txBody>
      </p:sp>
      <p:pic>
        <p:nvPicPr>
          <p:cNvPr id="22" name="Image 0" descr="connector">    </p:cNvPr>
          <p:cNvPicPr>
            <a:picLocks noChangeAspect="1"/>
          </p:cNvPicPr>
          <p:nvPr/>
        </p:nvPicPr>
        <p:blipFill>
          <a:blip r:embed="rId1"/>
          <a:srcRect l="0" r="0" t="0" b="0"/>
          <a:stretch/>
        </p:blipFill>
        <p:spPr>
          <a:xfrm>
            <a:off x="2692400" y="2679700"/>
            <a:ext cx="342900" cy="101600"/>
          </a:xfrm>
          <a:prstGeom prst="rect">
            <a:avLst/>
          </a:prstGeom>
        </p:spPr>
      </p:pic>
      <p:pic>
        <p:nvPicPr>
          <p:cNvPr id="23" name="Image 1" descr="connector">    </p:cNvPr>
          <p:cNvPicPr>
            <a:picLocks noChangeAspect="1"/>
          </p:cNvPicPr>
          <p:nvPr/>
        </p:nvPicPr>
        <p:blipFill>
          <a:blip r:embed="rId2"/>
          <a:srcRect l="0" r="0" t="0" b="0"/>
          <a:stretch/>
        </p:blipFill>
        <p:spPr>
          <a:xfrm>
            <a:off x="2692400" y="3441700"/>
            <a:ext cx="342900" cy="101600"/>
          </a:xfrm>
          <a:prstGeom prst="rect">
            <a:avLst/>
          </a:prstGeom>
        </p:spPr>
      </p:pic>
      <p:pic>
        <p:nvPicPr>
          <p:cNvPr id="24" name="Image 2" descr="connector">    </p:cNvPr>
          <p:cNvPicPr>
            <a:picLocks noChangeAspect="1"/>
          </p:cNvPicPr>
          <p:nvPr/>
        </p:nvPicPr>
        <p:blipFill>
          <a:blip r:embed="rId3"/>
          <a:srcRect l="0" r="0" t="0" b="0"/>
          <a:stretch/>
        </p:blipFill>
        <p:spPr>
          <a:xfrm>
            <a:off x="2692400" y="4203700"/>
            <a:ext cx="342900" cy="101600"/>
          </a:xfrm>
          <a:prstGeom prst="rect">
            <a:avLst/>
          </a:prstGeom>
        </p:spPr>
      </p:pic>
      <p:pic>
        <p:nvPicPr>
          <p:cNvPr id="25" name="Image 3" descr="connector">    </p:cNvPr>
          <p:cNvPicPr>
            <a:picLocks noChangeAspect="1"/>
          </p:cNvPicPr>
          <p:nvPr/>
        </p:nvPicPr>
        <p:blipFill>
          <a:blip r:embed="rId4"/>
          <a:srcRect l="0" r="0" t="0" b="0"/>
          <a:stretch/>
        </p:blipFill>
        <p:spPr>
          <a:xfrm>
            <a:off x="6108700" y="2679700"/>
            <a:ext cx="1308100" cy="101600"/>
          </a:xfrm>
          <a:prstGeom prst="rect">
            <a:avLst/>
          </a:prstGeom>
        </p:spPr>
      </p:pic>
      <p:pic>
        <p:nvPicPr>
          <p:cNvPr id="26" name="Image 4" descr="connector">    </p:cNvPr>
          <p:cNvPicPr>
            <a:picLocks noChangeAspect="1"/>
          </p:cNvPicPr>
          <p:nvPr/>
        </p:nvPicPr>
        <p:blipFill>
          <a:blip r:embed="rId5"/>
          <a:srcRect l="0" r="0" t="0" b="0"/>
          <a:stretch/>
        </p:blipFill>
        <p:spPr>
          <a:xfrm>
            <a:off x="6108700" y="3441700"/>
            <a:ext cx="1308100" cy="101600"/>
          </a:xfrm>
          <a:prstGeom prst="rect">
            <a:avLst/>
          </a:prstGeom>
        </p:spPr>
      </p:pic>
      <p:pic>
        <p:nvPicPr>
          <p:cNvPr id="27" name="Image 5" descr="connector">    </p:cNvPr>
          <p:cNvPicPr>
            <a:picLocks noChangeAspect="1"/>
          </p:cNvPicPr>
          <p:nvPr/>
        </p:nvPicPr>
        <p:blipFill>
          <a:blip r:embed="rId6"/>
          <a:srcRect l="0" r="0" t="0" b="0"/>
          <a:stretch/>
        </p:blipFill>
        <p:spPr>
          <a:xfrm>
            <a:off x="6108700" y="4203700"/>
            <a:ext cx="1308100" cy="101600"/>
          </a:xfrm>
          <a:prstGeom prst="rect">
            <a:avLst/>
          </a:prstGeom>
        </p:spPr>
      </p:pic>
      <p:pic>
        <p:nvPicPr>
          <p:cNvPr id="28" name="Image 6" descr="connector">    </p:cNvPr>
          <p:cNvPicPr>
            <a:picLocks noChangeAspect="1"/>
          </p:cNvPicPr>
          <p:nvPr/>
        </p:nvPicPr>
        <p:blipFill>
          <a:blip r:embed="rId7"/>
          <a:srcRect l="0" r="0" t="0" b="0"/>
          <a:stretch/>
        </p:blipFill>
        <p:spPr>
          <a:xfrm>
            <a:off x="9194800" y="4521200"/>
            <a:ext cx="101600" cy="965200"/>
          </a:xfrm>
          <a:prstGeom prst="rect">
            <a:avLst/>
          </a:prstGeom>
        </p:spPr>
      </p:pic>
      <p:pic>
        <p:nvPicPr>
          <p:cNvPr id="29" name="Image 7" descr="connector">    </p:cNvPr>
          <p:cNvPicPr>
            <a:picLocks noChangeAspect="1"/>
          </p:cNvPicPr>
          <p:nvPr/>
        </p:nvPicPr>
        <p:blipFill>
          <a:blip r:embed="rId8"/>
          <a:srcRect l="0" r="0" t="0" b="0"/>
          <a:stretch/>
        </p:blipFill>
        <p:spPr>
          <a:xfrm>
            <a:off x="6096000" y="5384800"/>
            <a:ext cx="3200400" cy="101600"/>
          </a:xfrm>
          <a:prstGeom prst="rect">
            <a:avLst/>
          </a:prstGeom>
        </p:spPr>
      </p:pic>
      <p:sp>
        <p:nvSpPr>
          <p:cNvPr id="30"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출처: TypeSafe 문서 “Primitives”, “API reference”, “Jev 1.13 jaggedness”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질문의 크기: 아는 사람이 1초 안에 내리는 판단</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한 질문은 1초짜리 판단으로</a:t>
            </a:r>
            <a:endParaRPr lang="en-US" sz="3200" dirty="0"/>
          </a:p>
        </p:txBody>
      </p:sp>
      <p:sp>
        <p:nvSpPr>
          <p:cNvPr id="4" name="Text 2"/>
          <p:cNvSpPr/>
          <p:nvPr/>
        </p:nvSpPr>
        <p:spPr>
          <a:xfrm>
            <a:off x="812800" y="17907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Arial" pitchFamily="34" charset="0"/>
                <a:ea typeface="Arial" pitchFamily="34" charset="-122"/>
                <a:cs typeface="Arial" pitchFamily="34" charset="-120"/>
              </a:rPr>
              <a:t>나쁜 예: 큰 질문 하나</a:t>
            </a:r>
            <a:endParaRPr lang="en-US" sz="1200" dirty="0"/>
          </a:p>
        </p:txBody>
      </p:sp>
      <p:sp>
        <p:nvSpPr>
          <p:cNvPr id="5" name="Text 3"/>
          <p:cNvSpPr/>
          <p:nvPr/>
        </p:nvSpPr>
        <p:spPr>
          <a:xfrm>
            <a:off x="4064000" y="17907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좋은 예: 같은 메시지에 작은 질문 여섯</a:t>
            </a:r>
            <a:endParaRPr lang="en-US" sz="1200" dirty="0"/>
          </a:p>
        </p:txBody>
      </p:sp>
      <p:sp>
        <p:nvSpPr>
          <p:cNvPr id="6" name="Shape 4"/>
          <p:cNvSpPr/>
          <p:nvPr/>
        </p:nvSpPr>
        <p:spPr>
          <a:xfrm>
            <a:off x="815975" y="2543175"/>
            <a:ext cx="2533650" cy="946150"/>
          </a:xfrm>
          <a:prstGeom prst="roundRect">
            <a:avLst>
              <a:gd name="adj" fmla="val 10403"/>
            </a:avLst>
          </a:prstGeom>
          <a:solidFill>
            <a:srgbClr val="EAF0EE"/>
          </a:solidFill>
          <a:ln w="6350">
            <a:solidFill>
              <a:srgbClr val="D3DDD9"/>
            </a:solidFill>
            <a:prstDash val="solid"/>
          </a:ln>
        </p:spPr>
      </p:sp>
      <p:sp>
        <p:nvSpPr>
          <p:cNvPr id="7" name="Text 5"/>
          <p:cNvSpPr/>
          <p:nvPr/>
        </p:nvSpPr>
        <p:spPr>
          <a:xfrm>
            <a:off x="996950" y="2760365"/>
            <a:ext cx="22368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Noul 하나</a:t>
            </a:r>
            <a:endParaRPr lang="en-US" sz="1500" dirty="0"/>
          </a:p>
        </p:txBody>
      </p:sp>
      <p:sp>
        <p:nvSpPr>
          <p:cNvPr id="8" name="Text 6"/>
          <p:cNvSpPr/>
          <p:nvPr/>
        </p:nvSpPr>
        <p:spPr>
          <a:xfrm>
            <a:off x="996950" y="3058815"/>
            <a:ext cx="223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“이 메시지는 스팸인가?”</a:t>
            </a:r>
            <a:endParaRPr lang="en-US" sz="1200" dirty="0"/>
          </a:p>
        </p:txBody>
      </p:sp>
      <p:sp>
        <p:nvSpPr>
          <p:cNvPr id="9" name="Text 7"/>
          <p:cNvSpPr/>
          <p:nvPr/>
        </p:nvSpPr>
        <p:spPr>
          <a:xfrm>
            <a:off x="815975" y="4003675"/>
            <a:ext cx="2533650" cy="565150"/>
          </a:xfrm>
          <a:prstGeom prst="roundRect">
            <a:avLst>
              <a:gd name="adj" fmla="val 17416"/>
            </a:avLst>
          </a:prstGeom>
          <a:solidFill>
            <a:srgbClr val="EAF0EE"/>
          </a:solidFill>
          <a:ln w="6350">
            <a:solidFill>
              <a:srgbClr val="D3DDD9"/>
            </a:solidFill>
            <a:prstDash val="solid"/>
          </a:ln>
        </p:spPr>
        <p:txBody>
          <a:bodyPr wrap="square" lIns="0" tIns="0" rIns="0" bIns="0" rtlCol="0" anchor="ctr">
            <a:normAutofit/>
          </a:bodyPr>
          <a:lstStyle/>
          <a:p>
            <a:pPr algn="ctr" indent="0" marL="0">
              <a:lnSpc>
                <a:spcPts val="1950"/>
              </a:lnSpc>
              <a:buNone/>
            </a:pPr>
            <a:r>
              <a:rPr lang="en-US" sz="1500" b="1" dirty="0">
                <a:solidFill>
                  <a:srgbClr val="1B2533"/>
                </a:solidFill>
                <a:latin typeface="Arial" pitchFamily="34" charset="0"/>
                <a:ea typeface="Arial" pitchFamily="34" charset="-122"/>
                <a:cs typeface="Arial" pitchFamily="34" charset="-120"/>
              </a:rPr>
              <a:t>확률 하나</a:t>
            </a:r>
            <a:endParaRPr lang="en-US" sz="1500" dirty="0"/>
          </a:p>
        </p:txBody>
      </p:sp>
      <p:sp>
        <p:nvSpPr>
          <p:cNvPr id="10" name="Text 8"/>
          <p:cNvSpPr/>
          <p:nvPr/>
        </p:nvSpPr>
        <p:spPr>
          <a:xfrm>
            <a:off x="812800" y="4699000"/>
            <a:ext cx="261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어느 신호가 결론을 끌었는지 보이지 않습니다</a:t>
            </a:r>
            <a:endParaRPr lang="en-US" sz="1200" dirty="0"/>
          </a:p>
        </p:txBody>
      </p:sp>
      <p:sp>
        <p:nvSpPr>
          <p:cNvPr id="11" name="Text 9"/>
          <p:cNvSpPr/>
          <p:nvPr/>
        </p:nvSpPr>
        <p:spPr>
          <a:xfrm>
            <a:off x="4067175" y="2098675"/>
            <a:ext cx="2660650" cy="438150"/>
          </a:xfrm>
          <a:prstGeom prst="roundRect">
            <a:avLst>
              <a:gd name="adj" fmla="val 16667"/>
            </a:avLst>
          </a:prstGeom>
          <a:solidFill>
            <a:srgbClr val="EAF0EE"/>
          </a:solidFill>
          <a:ln w="6350">
            <a:solidFill>
              <a:srgbClr val="D3DDD9"/>
            </a:solidFill>
            <a:prstDash val="solid"/>
          </a:ln>
        </p:spPr>
        <p:txBody>
          <a:bodyPr wrap="square" lIns="108787" tIns="0" rIns="108787" bIns="0" rtlCol="0" anchor="ctr">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자격 증명 요구</a:t>
            </a:r>
            <a:endParaRPr lang="en-US" sz="1200" dirty="0"/>
          </a:p>
        </p:txBody>
      </p:sp>
      <p:sp>
        <p:nvSpPr>
          <p:cNvPr id="12" name="Text 10"/>
          <p:cNvSpPr/>
          <p:nvPr/>
        </p:nvSpPr>
        <p:spPr>
          <a:xfrm>
            <a:off x="4067175" y="2632075"/>
            <a:ext cx="2660650" cy="438150"/>
          </a:xfrm>
          <a:prstGeom prst="roundRect">
            <a:avLst>
              <a:gd name="adj" fmla="val 16667"/>
            </a:avLst>
          </a:prstGeom>
          <a:solidFill>
            <a:srgbClr val="EAF0EE"/>
          </a:solidFill>
          <a:ln w="6350">
            <a:solidFill>
              <a:srgbClr val="D3DDD9"/>
            </a:solidFill>
            <a:prstDash val="solid"/>
          </a:ln>
        </p:spPr>
        <p:txBody>
          <a:bodyPr wrap="square" lIns="108787" tIns="0" rIns="108787" bIns="0" rtlCol="0" anchor="ctr">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뜻밖의 보상 제시</a:t>
            </a:r>
            <a:endParaRPr lang="en-US" sz="1200" dirty="0"/>
          </a:p>
        </p:txBody>
      </p:sp>
      <p:sp>
        <p:nvSpPr>
          <p:cNvPr id="13" name="Text 11"/>
          <p:cNvSpPr/>
          <p:nvPr/>
        </p:nvSpPr>
        <p:spPr>
          <a:xfrm>
            <a:off x="4067175" y="3165475"/>
            <a:ext cx="2660650" cy="438150"/>
          </a:xfrm>
          <a:prstGeom prst="roundRect">
            <a:avLst>
              <a:gd name="adj" fmla="val 16667"/>
            </a:avLst>
          </a:prstGeom>
          <a:solidFill>
            <a:srgbClr val="EAF0EE"/>
          </a:solidFill>
          <a:ln w="6350">
            <a:solidFill>
              <a:srgbClr val="D3DDD9"/>
            </a:solidFill>
            <a:prstDash val="solid"/>
          </a:ln>
        </p:spPr>
        <p:txBody>
          <a:bodyPr wrap="square" lIns="108787" tIns="0" rIns="108787" bIns="0" rtlCol="0" anchor="ctr">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시간 압박</a:t>
            </a:r>
            <a:endParaRPr lang="en-US" sz="1200" dirty="0"/>
          </a:p>
        </p:txBody>
      </p:sp>
      <p:sp>
        <p:nvSpPr>
          <p:cNvPr id="14" name="Text 12"/>
          <p:cNvSpPr/>
          <p:nvPr/>
        </p:nvSpPr>
        <p:spPr>
          <a:xfrm>
            <a:off x="4067175" y="3698875"/>
            <a:ext cx="2660650" cy="438150"/>
          </a:xfrm>
          <a:prstGeom prst="roundRect">
            <a:avLst>
              <a:gd name="adj" fmla="val 16667"/>
            </a:avLst>
          </a:prstGeom>
          <a:solidFill>
            <a:srgbClr val="EAF0EE"/>
          </a:solidFill>
          <a:ln w="6350">
            <a:solidFill>
              <a:srgbClr val="D3DDD9"/>
            </a:solidFill>
            <a:prstDash val="solid"/>
          </a:ln>
        </p:spPr>
        <p:txBody>
          <a:bodyPr wrap="square" lIns="108787" tIns="0" rIns="108787" bIns="0" rtlCol="0" anchor="ctr">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발신자 이름과 주소 불일치</a:t>
            </a:r>
            <a:endParaRPr lang="en-US" sz="1200" dirty="0"/>
          </a:p>
        </p:txBody>
      </p:sp>
      <p:sp>
        <p:nvSpPr>
          <p:cNvPr id="15" name="Text 13"/>
          <p:cNvSpPr/>
          <p:nvPr/>
        </p:nvSpPr>
        <p:spPr>
          <a:xfrm>
            <a:off x="4067175" y="4232275"/>
            <a:ext cx="2660650" cy="438150"/>
          </a:xfrm>
          <a:prstGeom prst="roundRect">
            <a:avLst>
              <a:gd name="adj" fmla="val 16667"/>
            </a:avLst>
          </a:prstGeom>
          <a:solidFill>
            <a:srgbClr val="EAF0EE"/>
          </a:solidFill>
          <a:ln w="6350">
            <a:solidFill>
              <a:srgbClr val="D3DDD9"/>
            </a:solidFill>
            <a:prstDash val="solid"/>
          </a:ln>
        </p:spPr>
        <p:txBody>
          <a:bodyPr wrap="square" lIns="108787" tIns="0" rIns="108787" bIns="0" rtlCol="0" anchor="ctr">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링크 도메인 불일치</a:t>
            </a:r>
            <a:endParaRPr lang="en-US" sz="1200" dirty="0"/>
          </a:p>
        </p:txBody>
      </p:sp>
      <p:sp>
        <p:nvSpPr>
          <p:cNvPr id="16" name="Text 14"/>
          <p:cNvSpPr/>
          <p:nvPr/>
        </p:nvSpPr>
        <p:spPr>
          <a:xfrm>
            <a:off x="4067175" y="4765675"/>
            <a:ext cx="2660650" cy="438150"/>
          </a:xfrm>
          <a:prstGeom prst="roundRect">
            <a:avLst>
              <a:gd name="adj" fmla="val 16667"/>
            </a:avLst>
          </a:prstGeom>
          <a:solidFill>
            <a:srgbClr val="EAF0EE"/>
          </a:solidFill>
          <a:ln w="6350">
            <a:solidFill>
              <a:srgbClr val="D3DDD9"/>
            </a:solidFill>
            <a:prstDash val="solid"/>
          </a:ln>
        </p:spPr>
        <p:txBody>
          <a:bodyPr wrap="square" lIns="108787" tIns="0" rIns="108787" bIns="0" rtlCol="0" anchor="ctr">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링크 목적지 은폐</a:t>
            </a:r>
            <a:endParaRPr lang="en-US" sz="1200" dirty="0"/>
          </a:p>
        </p:txBody>
      </p:sp>
      <p:sp>
        <p:nvSpPr>
          <p:cNvPr id="17" name="Shape 15"/>
          <p:cNvSpPr/>
          <p:nvPr/>
        </p:nvSpPr>
        <p:spPr>
          <a:xfrm>
            <a:off x="7626350" y="3054350"/>
            <a:ext cx="1892300" cy="1193800"/>
          </a:xfrm>
          <a:prstGeom prst="roundRect">
            <a:avLst>
              <a:gd name="adj" fmla="val 6915"/>
            </a:avLst>
          </a:prstGeom>
          <a:solidFill>
            <a:srgbClr val="F6E9DA"/>
          </a:solidFill>
          <a:ln w="12700">
            <a:solidFill>
              <a:srgbClr val="A64B0B"/>
            </a:solidFill>
            <a:prstDash val="solid"/>
          </a:ln>
        </p:spPr>
      </p:sp>
      <p:sp>
        <p:nvSpPr>
          <p:cNvPr id="18" name="Text 16"/>
          <p:cNvSpPr/>
          <p:nvPr/>
        </p:nvSpPr>
        <p:spPr>
          <a:xfrm>
            <a:off x="7785100" y="3276005"/>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4B0B"/>
                </a:solidFill>
                <a:latin typeface="Arial" pitchFamily="34" charset="0"/>
                <a:ea typeface="Arial" pitchFamily="34" charset="-122"/>
                <a:cs typeface="Arial" pitchFamily="34" charset="-120"/>
              </a:rPr>
              <a:t>코드</a:t>
            </a:r>
            <a:endParaRPr lang="en-US" sz="1200" dirty="0"/>
          </a:p>
        </p:txBody>
      </p:sp>
      <p:sp>
        <p:nvSpPr>
          <p:cNvPr id="19" name="Text 17"/>
          <p:cNvSpPr/>
          <p:nvPr/>
        </p:nvSpPr>
        <p:spPr>
          <a:xfrm>
            <a:off x="7785100" y="3527425"/>
            <a:ext cx="16256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신호를 합침</a:t>
            </a:r>
            <a:endParaRPr lang="en-US" sz="1500" dirty="0"/>
          </a:p>
        </p:txBody>
      </p:sp>
      <p:sp>
        <p:nvSpPr>
          <p:cNvPr id="20" name="Text 18"/>
          <p:cNvSpPr/>
          <p:nvPr/>
        </p:nvSpPr>
        <p:spPr>
          <a:xfrm>
            <a:off x="7785100" y="3813175"/>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신호마다 다른 가중치</a:t>
            </a:r>
            <a:endParaRPr lang="en-US" sz="1200" dirty="0"/>
          </a:p>
        </p:txBody>
      </p:sp>
      <p:sp>
        <p:nvSpPr>
          <p:cNvPr id="21" name="Text 19"/>
          <p:cNvSpPr/>
          <p:nvPr/>
        </p:nvSpPr>
        <p:spPr>
          <a:xfrm>
            <a:off x="9912350" y="3340100"/>
            <a:ext cx="1460500" cy="622300"/>
          </a:xfrm>
          <a:prstGeom prst="roundRect">
            <a:avLst>
              <a:gd name="adj" fmla="val 13265"/>
            </a:avLst>
          </a:prstGeom>
          <a:solidFill>
            <a:srgbClr val="EAF0EE"/>
          </a:solidFill>
          <a:ln w="12700">
            <a:solidFill>
              <a:srgbClr val="117964"/>
            </a:solidFill>
            <a:prstDash val="solid"/>
          </a:ln>
        </p:spPr>
        <p:txBody>
          <a:bodyPr wrap="square" lIns="0" tIns="0" rIns="0" bIns="0" rtlCol="0" anchor="ctr">
            <a:normAutofit/>
          </a:bodyPr>
          <a:lstStyle/>
          <a:p>
            <a:pPr algn="ctr" indent="0" marL="0">
              <a:lnSpc>
                <a:spcPts val="1950"/>
              </a:lnSpc>
              <a:buNone/>
            </a:pPr>
            <a:r>
              <a:rPr lang="en-US" sz="1500" b="1" dirty="0">
                <a:solidFill>
                  <a:srgbClr val="1B2533"/>
                </a:solidFill>
                <a:latin typeface="Arial" pitchFamily="34" charset="0"/>
                <a:ea typeface="Arial" pitchFamily="34" charset="-122"/>
                <a:cs typeface="Arial" pitchFamily="34" charset="-120"/>
              </a:rPr>
              <a:t>스팸 판정</a:t>
            </a:r>
            <a:endParaRPr lang="en-US" sz="1500" dirty="0"/>
          </a:p>
        </p:txBody>
      </p:sp>
      <p:sp>
        <p:nvSpPr>
          <p:cNvPr id="22" name="Text 20"/>
          <p:cNvSpPr/>
          <p:nvPr/>
        </p:nvSpPr>
        <p:spPr>
          <a:xfrm>
            <a:off x="7620000" y="4381500"/>
            <a:ext cx="3871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우선순위가 바뀌면 프롬프트 대신 가중치 숫자를 바꿉니다</a:t>
            </a:r>
            <a:endParaRPr lang="en-US" sz="1200" dirty="0"/>
          </a:p>
        </p:txBody>
      </p:sp>
      <p:pic>
        <p:nvPicPr>
          <p:cNvPr id="23" name="Image 0" descr="connector">    </p:cNvPr>
          <p:cNvPicPr>
            <a:picLocks noChangeAspect="1"/>
          </p:cNvPicPr>
          <p:nvPr/>
        </p:nvPicPr>
        <p:blipFill>
          <a:blip r:embed="rId1"/>
          <a:srcRect l="0" r="0" t="0" b="0"/>
          <a:stretch/>
        </p:blipFill>
        <p:spPr>
          <a:xfrm>
            <a:off x="2032000" y="3441700"/>
            <a:ext cx="101600" cy="609600"/>
          </a:xfrm>
          <a:prstGeom prst="rect">
            <a:avLst/>
          </a:prstGeom>
        </p:spPr>
      </p:pic>
      <p:pic>
        <p:nvPicPr>
          <p:cNvPr id="24" name="Image 1" descr="connector">    </p:cNvPr>
          <p:cNvPicPr>
            <a:picLocks noChangeAspect="1"/>
          </p:cNvPicPr>
          <p:nvPr/>
        </p:nvPicPr>
        <p:blipFill>
          <a:blip r:embed="rId2"/>
          <a:srcRect l="0" r="0" t="0" b="0"/>
          <a:stretch/>
        </p:blipFill>
        <p:spPr>
          <a:xfrm>
            <a:off x="6680200" y="2266950"/>
            <a:ext cx="482600" cy="101600"/>
          </a:xfrm>
          <a:prstGeom prst="rect">
            <a:avLst/>
          </a:prstGeom>
        </p:spPr>
      </p:pic>
      <p:pic>
        <p:nvPicPr>
          <p:cNvPr id="25" name="Image 2" descr="connector">    </p:cNvPr>
          <p:cNvPicPr>
            <a:picLocks noChangeAspect="1"/>
          </p:cNvPicPr>
          <p:nvPr/>
        </p:nvPicPr>
        <p:blipFill>
          <a:blip r:embed="rId3"/>
          <a:srcRect l="0" r="0" t="0" b="0"/>
          <a:stretch/>
        </p:blipFill>
        <p:spPr>
          <a:xfrm>
            <a:off x="6680200" y="2800350"/>
            <a:ext cx="482600" cy="101600"/>
          </a:xfrm>
          <a:prstGeom prst="rect">
            <a:avLst/>
          </a:prstGeom>
        </p:spPr>
      </p:pic>
      <p:pic>
        <p:nvPicPr>
          <p:cNvPr id="26" name="Image 3" descr="connector">    </p:cNvPr>
          <p:cNvPicPr>
            <a:picLocks noChangeAspect="1"/>
          </p:cNvPicPr>
          <p:nvPr/>
        </p:nvPicPr>
        <p:blipFill>
          <a:blip r:embed="rId4"/>
          <a:srcRect l="0" r="0" t="0" b="0"/>
          <a:stretch/>
        </p:blipFill>
        <p:spPr>
          <a:xfrm>
            <a:off x="6680200" y="3333750"/>
            <a:ext cx="482600" cy="101600"/>
          </a:xfrm>
          <a:prstGeom prst="rect">
            <a:avLst/>
          </a:prstGeom>
        </p:spPr>
      </p:pic>
      <p:pic>
        <p:nvPicPr>
          <p:cNvPr id="27" name="Image 4" descr="connector">    </p:cNvPr>
          <p:cNvPicPr>
            <a:picLocks noChangeAspect="1"/>
          </p:cNvPicPr>
          <p:nvPr/>
        </p:nvPicPr>
        <p:blipFill>
          <a:blip r:embed="rId5"/>
          <a:srcRect l="0" r="0" t="0" b="0"/>
          <a:stretch/>
        </p:blipFill>
        <p:spPr>
          <a:xfrm>
            <a:off x="6680200" y="3867150"/>
            <a:ext cx="482600" cy="101600"/>
          </a:xfrm>
          <a:prstGeom prst="rect">
            <a:avLst/>
          </a:prstGeom>
        </p:spPr>
      </p:pic>
      <p:pic>
        <p:nvPicPr>
          <p:cNvPr id="28" name="Image 5" descr="connector">    </p:cNvPr>
          <p:cNvPicPr>
            <a:picLocks noChangeAspect="1"/>
          </p:cNvPicPr>
          <p:nvPr/>
        </p:nvPicPr>
        <p:blipFill>
          <a:blip r:embed="rId6"/>
          <a:srcRect l="0" r="0" t="0" b="0"/>
          <a:stretch/>
        </p:blipFill>
        <p:spPr>
          <a:xfrm>
            <a:off x="6680200" y="4400550"/>
            <a:ext cx="482600" cy="101600"/>
          </a:xfrm>
          <a:prstGeom prst="rect">
            <a:avLst/>
          </a:prstGeom>
        </p:spPr>
      </p:pic>
      <p:pic>
        <p:nvPicPr>
          <p:cNvPr id="29" name="Image 6" descr="connector">    </p:cNvPr>
          <p:cNvPicPr>
            <a:picLocks noChangeAspect="1"/>
          </p:cNvPicPr>
          <p:nvPr/>
        </p:nvPicPr>
        <p:blipFill>
          <a:blip r:embed="rId7"/>
          <a:srcRect l="0" r="0" t="0" b="0"/>
          <a:stretch/>
        </p:blipFill>
        <p:spPr>
          <a:xfrm>
            <a:off x="6680200" y="4933950"/>
            <a:ext cx="482600" cy="101600"/>
          </a:xfrm>
          <a:prstGeom prst="rect">
            <a:avLst/>
          </a:prstGeom>
        </p:spPr>
      </p:pic>
      <p:pic>
        <p:nvPicPr>
          <p:cNvPr id="30" name="Image 7" descr="connector">    </p:cNvPr>
          <p:cNvPicPr>
            <a:picLocks noChangeAspect="1"/>
          </p:cNvPicPr>
          <p:nvPr/>
        </p:nvPicPr>
        <p:blipFill>
          <a:blip r:embed="rId8"/>
          <a:srcRect l="0" r="0" t="0" b="0"/>
          <a:stretch/>
        </p:blipFill>
        <p:spPr>
          <a:xfrm>
            <a:off x="7061200" y="2266950"/>
            <a:ext cx="101600" cy="2768600"/>
          </a:xfrm>
          <a:prstGeom prst="rect">
            <a:avLst/>
          </a:prstGeom>
        </p:spPr>
      </p:pic>
      <p:pic>
        <p:nvPicPr>
          <p:cNvPr id="31" name="Image 8" descr="connector">    </p:cNvPr>
          <p:cNvPicPr>
            <a:picLocks noChangeAspect="1"/>
          </p:cNvPicPr>
          <p:nvPr/>
        </p:nvPicPr>
        <p:blipFill>
          <a:blip r:embed="rId9"/>
          <a:srcRect l="0" r="0" t="0" b="0"/>
          <a:stretch/>
        </p:blipFill>
        <p:spPr>
          <a:xfrm>
            <a:off x="7061200" y="3600450"/>
            <a:ext cx="609600" cy="101600"/>
          </a:xfrm>
          <a:prstGeom prst="rect">
            <a:avLst/>
          </a:prstGeom>
        </p:spPr>
      </p:pic>
      <p:pic>
        <p:nvPicPr>
          <p:cNvPr id="32" name="Image 9" descr="connector">    </p:cNvPr>
          <p:cNvPicPr>
            <a:picLocks noChangeAspect="1"/>
          </p:cNvPicPr>
          <p:nvPr/>
        </p:nvPicPr>
        <p:blipFill>
          <a:blip r:embed="rId10"/>
          <a:srcRect l="0" r="0" t="0" b="0"/>
          <a:stretch/>
        </p:blipFill>
        <p:spPr>
          <a:xfrm>
            <a:off x="9474200" y="3600450"/>
            <a:ext cx="482600" cy="101600"/>
          </a:xfrm>
          <a:prstGeom prst="rect">
            <a:avLst/>
          </a:prstGeom>
        </p:spPr>
      </p:pic>
      <p:sp>
        <p:nvSpPr>
          <p:cNvPr id="3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출처: TypeSafe 개발 가이드 “How to build with TypeSafe”의 스팸 판정 예시</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A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B6A0"/>
                </a:solidFill>
                <a:latin typeface="Arial" pitchFamily="34" charset="0"/>
                <a:ea typeface="Arial" pitchFamily="34" charset="-122"/>
                <a:cs typeface="Arial" pitchFamily="34" charset="-120"/>
              </a:rPr>
              <a:t>제어 흐름, 결정적 규칙, 부작용은 코드에</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8F7"/>
                </a:solidFill>
                <a:latin typeface="Arial" pitchFamily="34" charset="0"/>
                <a:ea typeface="Arial" pitchFamily="34" charset="-122"/>
                <a:cs typeface="Arial" pitchFamily="34" charset="-120"/>
              </a:rPr>
              <a:t>코드가 쥐는 것</a:t>
            </a:r>
            <a:endParaRPr lang="en-US" sz="3200" dirty="0"/>
          </a:p>
        </p:txBody>
      </p:sp>
      <p:sp>
        <p:nvSpPr>
          <p:cNvPr id="4" name="Shape 2"/>
          <p:cNvSpPr/>
          <p:nvPr/>
        </p:nvSpPr>
        <p:spPr>
          <a:xfrm>
            <a:off x="815975" y="3305175"/>
            <a:ext cx="2279650" cy="1263650"/>
          </a:xfrm>
          <a:prstGeom prst="roundRect">
            <a:avLst>
              <a:gd name="adj" fmla="val 7789"/>
            </a:avLst>
          </a:prstGeom>
          <a:solidFill>
            <a:srgbClr val="1B2638"/>
          </a:solidFill>
          <a:ln w="6350">
            <a:solidFill>
              <a:srgbClr val="2E3C52"/>
            </a:solidFill>
            <a:prstDash val="solid"/>
          </a:ln>
        </p:spPr>
      </p:sp>
      <p:sp>
        <p:nvSpPr>
          <p:cNvPr id="5" name="Text 3"/>
          <p:cNvSpPr/>
          <p:nvPr/>
        </p:nvSpPr>
        <p:spPr>
          <a:xfrm>
            <a:off x="996950" y="3681115"/>
            <a:ext cx="197523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8F7"/>
                </a:solidFill>
                <a:latin typeface="Arial" pitchFamily="34" charset="0"/>
                <a:ea typeface="Arial" pitchFamily="34" charset="-122"/>
                <a:cs typeface="Arial" pitchFamily="34" charset="-120"/>
              </a:rPr>
              <a:t>정책 문단</a:t>
            </a:r>
            <a:endParaRPr lang="en-US" sz="1500" dirty="0"/>
          </a:p>
        </p:txBody>
      </p:sp>
      <p:sp>
        <p:nvSpPr>
          <p:cNvPr id="6" name="Text 4"/>
          <p:cNvSpPr/>
          <p:nvPr/>
        </p:nvSpPr>
        <p:spPr>
          <a:xfrm>
            <a:off x="996950" y="3979565"/>
            <a:ext cx="20510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경비 정산 정책의 문장 하나하나</a:t>
            </a:r>
            <a:endParaRPr lang="en-US" sz="1200" dirty="0"/>
          </a:p>
        </p:txBody>
      </p:sp>
      <p:sp>
        <p:nvSpPr>
          <p:cNvPr id="7" name="Shape 5"/>
          <p:cNvSpPr/>
          <p:nvPr/>
        </p:nvSpPr>
        <p:spPr>
          <a:xfrm>
            <a:off x="4070350" y="1911350"/>
            <a:ext cx="7302500" cy="2082800"/>
          </a:xfrm>
          <a:prstGeom prst="roundRect">
            <a:avLst>
              <a:gd name="adj" fmla="val 4573"/>
            </a:avLst>
          </a:prstGeom>
          <a:solidFill>
            <a:srgbClr val="183331"/>
          </a:solidFill>
          <a:ln w="12700">
            <a:solidFill>
              <a:srgbClr val="4DB6A0"/>
            </a:solidFill>
            <a:prstDash val="solid"/>
          </a:ln>
        </p:spPr>
      </p:sp>
      <p:sp>
        <p:nvSpPr>
          <p:cNvPr id="8" name="Text 6"/>
          <p:cNvSpPr/>
          <p:nvPr/>
        </p:nvSpPr>
        <p:spPr>
          <a:xfrm>
            <a:off x="4267200" y="2006600"/>
            <a:ext cx="39243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4DB6A0"/>
                </a:solidFill>
                <a:latin typeface="Arial" pitchFamily="34" charset="0"/>
                <a:ea typeface="Arial" pitchFamily="34" charset="-122"/>
                <a:cs typeface="Arial" pitchFamily="34" charset="-120"/>
              </a:rPr>
              <a:t>모델에게 줄 질문</a:t>
            </a:r>
            <a:endParaRPr lang="en-US" sz="1500" dirty="0"/>
          </a:p>
        </p:txBody>
      </p:sp>
      <p:sp>
        <p:nvSpPr>
          <p:cNvPr id="9" name="Text 7"/>
          <p:cNvSpPr/>
          <p:nvPr/>
        </p:nvSpPr>
        <p:spPr>
          <a:xfrm>
            <a:off x="4273550" y="2444750"/>
            <a:ext cx="685800" cy="226020"/>
          </a:xfrm>
          <a:custGeom>
            <a:avLst/>
            <a:gdLst/>
            <a:ahLst/>
            <a:cxnLst/>
            <a:rect l="l" t="t" r="r" b="b"/>
            <a:pathLst>
              <a:path w="685800" h="226020">
                <a:moveTo>
                  <a:pt x="113010" y="0"/>
                </a:moveTo>
                <a:lnTo>
                  <a:pt x="572790" y="0"/>
                </a:lnTo>
                <a:arcTo hR="113010" wR="113010" stAng="16200000" swAng="5400000"/>
                <a:lnTo>
                  <a:pt x="68580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4DB6A0"/>
            </a:solidFill>
            <a:prstDash val="solid"/>
          </a:ln>
        </p:spPr>
        <p:txBody>
          <a:bodyPr wrap="square" lIns="0" tIns="6350" rIns="0" bIns="0" rtlCol="0" anchor="t">
            <a:normAutofit/>
          </a:bodyPr>
          <a:lstStyle/>
          <a:p>
            <a:pPr algn="ctr" indent="0" marL="0">
              <a:lnSpc>
                <a:spcPts val="1680"/>
              </a:lnSpc>
              <a:buNone/>
            </a:pPr>
            <a:r>
              <a:rPr lang="en-US" sz="1200" dirty="0">
                <a:solidFill>
                  <a:srgbClr val="4DB6A0"/>
                </a:solidFill>
                <a:latin typeface="Courier New" pitchFamily="49" charset="0"/>
                <a:ea typeface="Courier New" pitchFamily="49" charset="-122"/>
                <a:cs typeface="Courier New" pitchFamily="49" charset="-120"/>
              </a:rPr>
              <a:t>Noul</a:t>
            </a:r>
            <a:endParaRPr lang="en-US" sz="1200" dirty="0"/>
          </a:p>
        </p:txBody>
      </p:sp>
      <p:sp>
        <p:nvSpPr>
          <p:cNvPr id="10" name="Text 8"/>
          <p:cNvSpPr/>
          <p:nvPr/>
        </p:nvSpPr>
        <p:spPr>
          <a:xfrm>
            <a:off x="5118100" y="2413000"/>
            <a:ext cx="61480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2"/>
                </a:solidFill>
                <a:latin typeface="Arial" pitchFamily="34" charset="0"/>
                <a:ea typeface="Arial" pitchFamily="34" charset="-122"/>
                <a:cs typeface="Arial" pitchFamily="34" charset="-120"/>
              </a:rPr>
              <a:t>영수증을 읽을 수 있는가</a:t>
            </a:r>
            <a:endParaRPr lang="en-US" sz="1500" dirty="0"/>
          </a:p>
        </p:txBody>
      </p:sp>
      <p:sp>
        <p:nvSpPr>
          <p:cNvPr id="11" name="Text 9"/>
          <p:cNvSpPr/>
          <p:nvPr/>
        </p:nvSpPr>
        <p:spPr>
          <a:xfrm>
            <a:off x="4273550" y="2952750"/>
            <a:ext cx="685800" cy="226020"/>
          </a:xfrm>
          <a:custGeom>
            <a:avLst/>
            <a:gdLst/>
            <a:ahLst/>
            <a:cxnLst/>
            <a:rect l="l" t="t" r="r" b="b"/>
            <a:pathLst>
              <a:path w="685800" h="226020">
                <a:moveTo>
                  <a:pt x="113010" y="0"/>
                </a:moveTo>
                <a:lnTo>
                  <a:pt x="572790" y="0"/>
                </a:lnTo>
                <a:arcTo hR="113010" wR="113010" stAng="16200000" swAng="5400000"/>
                <a:lnTo>
                  <a:pt x="68580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4DB6A0"/>
            </a:solidFill>
            <a:prstDash val="solid"/>
          </a:ln>
        </p:spPr>
        <p:txBody>
          <a:bodyPr wrap="square" lIns="0" tIns="6350" rIns="0" bIns="0" rtlCol="0" anchor="t">
            <a:normAutofit/>
          </a:bodyPr>
          <a:lstStyle/>
          <a:p>
            <a:pPr algn="ctr" indent="0" marL="0">
              <a:lnSpc>
                <a:spcPts val="1680"/>
              </a:lnSpc>
              <a:buNone/>
            </a:pPr>
            <a:r>
              <a:rPr lang="en-US" sz="1200" dirty="0">
                <a:solidFill>
                  <a:srgbClr val="4DB6A0"/>
                </a:solidFill>
                <a:latin typeface="Courier New" pitchFamily="49" charset="0"/>
                <a:ea typeface="Courier New" pitchFamily="49" charset="-122"/>
                <a:cs typeface="Courier New" pitchFamily="49" charset="-120"/>
              </a:rPr>
              <a:t>Choice</a:t>
            </a:r>
            <a:endParaRPr lang="en-US" sz="1200" dirty="0"/>
          </a:p>
        </p:txBody>
      </p:sp>
      <p:sp>
        <p:nvSpPr>
          <p:cNvPr id="12" name="Text 10"/>
          <p:cNvSpPr/>
          <p:nvPr/>
        </p:nvSpPr>
        <p:spPr>
          <a:xfrm>
            <a:off x="5118100" y="2921000"/>
            <a:ext cx="61480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2"/>
                </a:solidFill>
                <a:latin typeface="Arial" pitchFamily="34" charset="0"/>
                <a:ea typeface="Arial" pitchFamily="34" charset="-122"/>
                <a:cs typeface="Arial" pitchFamily="34" charset="-120"/>
              </a:rPr>
              <a:t>경비 종류: 식비, 교통비, 장비</a:t>
            </a:r>
            <a:endParaRPr lang="en-US" sz="1500" dirty="0"/>
          </a:p>
        </p:txBody>
      </p:sp>
      <p:sp>
        <p:nvSpPr>
          <p:cNvPr id="13" name="Text 11"/>
          <p:cNvSpPr/>
          <p:nvPr/>
        </p:nvSpPr>
        <p:spPr>
          <a:xfrm>
            <a:off x="4273550" y="3460750"/>
            <a:ext cx="685800" cy="226020"/>
          </a:xfrm>
          <a:custGeom>
            <a:avLst/>
            <a:gdLst/>
            <a:ahLst/>
            <a:cxnLst/>
            <a:rect l="l" t="t" r="r" b="b"/>
            <a:pathLst>
              <a:path w="685800" h="226020">
                <a:moveTo>
                  <a:pt x="113010" y="0"/>
                </a:moveTo>
                <a:lnTo>
                  <a:pt x="572790" y="0"/>
                </a:lnTo>
                <a:arcTo hR="113010" wR="113010" stAng="16200000" swAng="5400000"/>
                <a:lnTo>
                  <a:pt x="68580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4DB6A0"/>
            </a:solidFill>
            <a:prstDash val="solid"/>
          </a:ln>
        </p:spPr>
        <p:txBody>
          <a:bodyPr wrap="square" lIns="0" tIns="6350" rIns="0" bIns="0" rtlCol="0" anchor="t">
            <a:normAutofit/>
          </a:bodyPr>
          <a:lstStyle/>
          <a:p>
            <a:pPr algn="ctr" indent="0" marL="0">
              <a:lnSpc>
                <a:spcPts val="1680"/>
              </a:lnSpc>
              <a:buNone/>
            </a:pPr>
            <a:r>
              <a:rPr lang="en-US" sz="1200" dirty="0">
                <a:solidFill>
                  <a:srgbClr val="4DB6A0"/>
                </a:solidFill>
                <a:latin typeface="Courier New" pitchFamily="49" charset="0"/>
                <a:ea typeface="Courier New" pitchFamily="49" charset="-122"/>
                <a:cs typeface="Courier New" pitchFamily="49" charset="-120"/>
              </a:rPr>
              <a:t>Score</a:t>
            </a:r>
            <a:endParaRPr lang="en-US" sz="1200" dirty="0"/>
          </a:p>
        </p:txBody>
      </p:sp>
      <p:sp>
        <p:nvSpPr>
          <p:cNvPr id="14" name="Text 12"/>
          <p:cNvSpPr/>
          <p:nvPr/>
        </p:nvSpPr>
        <p:spPr>
          <a:xfrm>
            <a:off x="5118100" y="3429000"/>
            <a:ext cx="61480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2"/>
                </a:solidFill>
                <a:latin typeface="Arial" pitchFamily="34" charset="0"/>
                <a:ea typeface="Arial" pitchFamily="34" charset="-122"/>
                <a:cs typeface="Arial" pitchFamily="34" charset="-120"/>
              </a:rPr>
              <a:t>청구서 설명이 영수증과 얼마나 맞는가 (네 단계)</a:t>
            </a:r>
            <a:endParaRPr lang="en-US" sz="1500" dirty="0"/>
          </a:p>
        </p:txBody>
      </p:sp>
      <p:sp>
        <p:nvSpPr>
          <p:cNvPr id="15" name="Shape 13"/>
          <p:cNvSpPr/>
          <p:nvPr/>
        </p:nvSpPr>
        <p:spPr>
          <a:xfrm>
            <a:off x="4070350" y="4197350"/>
            <a:ext cx="7302500" cy="1447800"/>
          </a:xfrm>
          <a:prstGeom prst="roundRect">
            <a:avLst>
              <a:gd name="adj" fmla="val 6579"/>
            </a:avLst>
          </a:prstGeom>
          <a:solidFill>
            <a:srgbClr val="2A2318"/>
          </a:solidFill>
          <a:ln w="12700">
            <a:solidFill>
              <a:srgbClr val="F0A04B"/>
            </a:solidFill>
            <a:prstDash val="solid"/>
          </a:ln>
        </p:spPr>
      </p:sp>
      <p:sp>
        <p:nvSpPr>
          <p:cNvPr id="16" name="Text 14"/>
          <p:cNvSpPr/>
          <p:nvPr/>
        </p:nvSpPr>
        <p:spPr>
          <a:xfrm>
            <a:off x="4267200" y="4292600"/>
            <a:ext cx="39243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0A04B"/>
                </a:solidFill>
                <a:latin typeface="Arial" pitchFamily="34" charset="0"/>
                <a:ea typeface="Arial" pitchFamily="34" charset="-122"/>
                <a:cs typeface="Arial" pitchFamily="34" charset="-120"/>
              </a:rPr>
              <a:t>코드의 규칙</a:t>
            </a:r>
            <a:endParaRPr lang="en-US" sz="1500" dirty="0"/>
          </a:p>
        </p:txBody>
      </p:sp>
      <p:sp>
        <p:nvSpPr>
          <p:cNvPr id="17" name="Text 15"/>
          <p:cNvSpPr/>
          <p:nvPr/>
        </p:nvSpPr>
        <p:spPr>
          <a:xfrm>
            <a:off x="4267200" y="4724400"/>
            <a:ext cx="71291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CF2"/>
                </a:solidFill>
                <a:latin typeface="Arial" pitchFamily="34" charset="0"/>
                <a:ea typeface="Arial" pitchFamily="34" charset="-122"/>
                <a:cs typeface="Arial" pitchFamily="34" charset="-120"/>
              </a:rPr>
              <a:t>$75를 넘는 식비</a:t>
            </a:r>
            <a:endParaRPr lang="en-US" sz="1500" dirty="0"/>
          </a:p>
        </p:txBody>
      </p:sp>
      <p:sp>
        <p:nvSpPr>
          <p:cNvPr id="18" name="Text 16"/>
          <p:cNvSpPr/>
          <p:nvPr/>
        </p:nvSpPr>
        <p:spPr>
          <a:xfrm>
            <a:off x="4267200" y="5080000"/>
            <a:ext cx="71291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금액 비교는 판단이 아니라 계산이라서, 모델에게 묻지 않고 코드에 둡니다</a:t>
            </a:r>
            <a:endParaRPr lang="en-US" sz="1200" dirty="0"/>
          </a:p>
        </p:txBody>
      </p:sp>
      <p:pic>
        <p:nvPicPr>
          <p:cNvPr id="19" name="Image 0" descr="connector">    </p:cNvPr>
          <p:cNvPicPr>
            <a:picLocks noChangeAspect="1"/>
          </p:cNvPicPr>
          <p:nvPr/>
        </p:nvPicPr>
        <p:blipFill>
          <a:blip r:embed="rId1"/>
          <a:srcRect l="0" r="0" t="0" b="0"/>
          <a:stretch/>
        </p:blipFill>
        <p:spPr>
          <a:xfrm>
            <a:off x="3048000" y="3886200"/>
            <a:ext cx="584200" cy="101600"/>
          </a:xfrm>
          <a:prstGeom prst="rect">
            <a:avLst/>
          </a:prstGeom>
        </p:spPr>
      </p:pic>
      <p:pic>
        <p:nvPicPr>
          <p:cNvPr id="20" name="Image 1" descr="connector">    </p:cNvPr>
          <p:cNvPicPr>
            <a:picLocks noChangeAspect="1"/>
          </p:cNvPicPr>
          <p:nvPr/>
        </p:nvPicPr>
        <p:blipFill>
          <a:blip r:embed="rId2"/>
          <a:srcRect l="0" r="0" t="0" b="0"/>
          <a:stretch/>
        </p:blipFill>
        <p:spPr>
          <a:xfrm>
            <a:off x="3530600" y="2901950"/>
            <a:ext cx="101600" cy="2070100"/>
          </a:xfrm>
          <a:prstGeom prst="rect">
            <a:avLst/>
          </a:prstGeom>
        </p:spPr>
      </p:pic>
      <p:pic>
        <p:nvPicPr>
          <p:cNvPr id="21" name="Image 2" descr="connector">    </p:cNvPr>
          <p:cNvPicPr>
            <a:picLocks noChangeAspect="1"/>
          </p:cNvPicPr>
          <p:nvPr/>
        </p:nvPicPr>
        <p:blipFill>
          <a:blip r:embed="rId3"/>
          <a:srcRect l="0" r="0" t="0" b="0"/>
          <a:stretch/>
        </p:blipFill>
        <p:spPr>
          <a:xfrm>
            <a:off x="3530600" y="2901950"/>
            <a:ext cx="584200" cy="101600"/>
          </a:xfrm>
          <a:prstGeom prst="rect">
            <a:avLst/>
          </a:prstGeom>
        </p:spPr>
      </p:pic>
      <p:pic>
        <p:nvPicPr>
          <p:cNvPr id="22" name="Image 3" descr="connector">    </p:cNvPr>
          <p:cNvPicPr>
            <a:picLocks noChangeAspect="1"/>
          </p:cNvPicPr>
          <p:nvPr/>
        </p:nvPicPr>
        <p:blipFill>
          <a:blip r:embed="rId4"/>
          <a:srcRect l="0" r="0" t="0" b="0"/>
          <a:stretch/>
        </p:blipFill>
        <p:spPr>
          <a:xfrm>
            <a:off x="3530600" y="4870450"/>
            <a:ext cx="584200" cy="101600"/>
          </a:xfrm>
          <a:prstGeom prst="rect">
            <a:avLst/>
          </a:prstGeom>
        </p:spPr>
      </p:pic>
      <p:sp>
        <p:nvSpPr>
          <p:cNvPr id="23"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출처: TypeSafe 개발 가이드, 평가 사이트의 경비 정산 장난감 예제</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모델은 질문 14개에 답하고, 동작 17개는 코드가 고른다</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보안 알림 처리 워크플로</a:t>
            </a:r>
            <a:endParaRPr lang="en-US" sz="3200" dirty="0"/>
          </a:p>
        </p:txBody>
      </p:sp>
      <p:sp>
        <p:nvSpPr>
          <p:cNvPr id="4" name="Shape 2"/>
          <p:cNvSpPr/>
          <p:nvPr/>
        </p:nvSpPr>
        <p:spPr>
          <a:xfrm>
            <a:off x="815975" y="2098675"/>
            <a:ext cx="1644650" cy="946150"/>
          </a:xfrm>
          <a:prstGeom prst="roundRect">
            <a:avLst>
              <a:gd name="adj" fmla="val 9060"/>
            </a:avLst>
          </a:prstGeom>
          <a:solidFill>
            <a:srgbClr val="EAF0EE"/>
          </a:solidFill>
          <a:ln w="6350">
            <a:solidFill>
              <a:srgbClr val="D3DDD9"/>
            </a:solidFill>
            <a:prstDash val="solid"/>
          </a:ln>
        </p:spPr>
      </p:sp>
      <p:sp>
        <p:nvSpPr>
          <p:cNvPr id="5" name="Text 3"/>
          <p:cNvSpPr/>
          <p:nvPr/>
        </p:nvSpPr>
        <p:spPr>
          <a:xfrm>
            <a:off x="971550" y="2322215"/>
            <a:ext cx="13843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입력</a:t>
            </a:r>
            <a:endParaRPr lang="en-US" sz="1500" dirty="0"/>
          </a:p>
        </p:txBody>
      </p:sp>
      <p:sp>
        <p:nvSpPr>
          <p:cNvPr id="6" name="Text 4"/>
          <p:cNvSpPr/>
          <p:nvPr/>
        </p:nvSpPr>
        <p:spPr>
          <a:xfrm>
            <a:off x="971550" y="2607965"/>
            <a:ext cx="1441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알림 하나와 맥락 기록</a:t>
            </a:r>
            <a:endParaRPr lang="en-US" sz="1200" dirty="0"/>
          </a:p>
        </p:txBody>
      </p:sp>
      <p:sp>
        <p:nvSpPr>
          <p:cNvPr id="7" name="Shape 5"/>
          <p:cNvSpPr/>
          <p:nvPr/>
        </p:nvSpPr>
        <p:spPr>
          <a:xfrm>
            <a:off x="2978150" y="2101850"/>
            <a:ext cx="2082800" cy="939800"/>
          </a:xfrm>
          <a:prstGeom prst="roundRect">
            <a:avLst>
              <a:gd name="adj" fmla="val 8784"/>
            </a:avLst>
          </a:prstGeom>
          <a:solidFill>
            <a:srgbClr val="E4EEEA"/>
          </a:solidFill>
          <a:ln w="12700">
            <a:solidFill>
              <a:srgbClr val="117964"/>
            </a:solidFill>
            <a:prstDash val="solid"/>
          </a:ln>
        </p:spPr>
      </p:sp>
      <p:sp>
        <p:nvSpPr>
          <p:cNvPr id="8" name="Text 6"/>
          <p:cNvSpPr/>
          <p:nvPr/>
        </p:nvSpPr>
        <p:spPr>
          <a:xfrm>
            <a:off x="3136900" y="2209205"/>
            <a:ext cx="18182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모델</a:t>
            </a:r>
            <a:endParaRPr lang="en-US" sz="1200" dirty="0"/>
          </a:p>
        </p:txBody>
      </p:sp>
      <p:sp>
        <p:nvSpPr>
          <p:cNvPr id="9" name="Text 7"/>
          <p:cNvSpPr/>
          <p:nvPr/>
        </p:nvSpPr>
        <p:spPr>
          <a:xfrm>
            <a:off x="3136900" y="2447925"/>
            <a:ext cx="181825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알림 읽기</a:t>
            </a:r>
            <a:endParaRPr lang="en-US" sz="1500" dirty="0"/>
          </a:p>
        </p:txBody>
      </p:sp>
      <p:sp>
        <p:nvSpPr>
          <p:cNvPr id="10" name="Text 8"/>
          <p:cNvSpPr/>
          <p:nvPr/>
        </p:nvSpPr>
        <p:spPr>
          <a:xfrm>
            <a:off x="3136900" y="2720975"/>
            <a:ext cx="1818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질문 3개</a:t>
            </a:r>
            <a:endParaRPr lang="en-US" sz="1200" dirty="0"/>
          </a:p>
        </p:txBody>
      </p:sp>
      <p:sp>
        <p:nvSpPr>
          <p:cNvPr id="11" name="Shape 9"/>
          <p:cNvSpPr/>
          <p:nvPr/>
        </p:nvSpPr>
        <p:spPr>
          <a:xfrm>
            <a:off x="5581650" y="2101850"/>
            <a:ext cx="2082800" cy="939800"/>
          </a:xfrm>
          <a:prstGeom prst="roundRect">
            <a:avLst>
              <a:gd name="adj" fmla="val 8784"/>
            </a:avLst>
          </a:prstGeom>
          <a:solidFill>
            <a:srgbClr val="F6E9DA"/>
          </a:solidFill>
          <a:ln w="12700">
            <a:solidFill>
              <a:srgbClr val="A64B0B"/>
            </a:solidFill>
            <a:prstDash val="solid"/>
          </a:ln>
        </p:spPr>
      </p:sp>
      <p:sp>
        <p:nvSpPr>
          <p:cNvPr id="12" name="Text 10"/>
          <p:cNvSpPr/>
          <p:nvPr/>
        </p:nvSpPr>
        <p:spPr>
          <a:xfrm>
            <a:off x="5740400" y="2209205"/>
            <a:ext cx="18182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4B0B"/>
                </a:solidFill>
                <a:latin typeface="Arial" pitchFamily="34" charset="0"/>
                <a:ea typeface="Arial" pitchFamily="34" charset="-122"/>
                <a:cs typeface="Arial" pitchFamily="34" charset="-120"/>
              </a:rPr>
              <a:t>코드</a:t>
            </a:r>
            <a:endParaRPr lang="en-US" sz="1200" dirty="0"/>
          </a:p>
        </p:txBody>
      </p:sp>
      <p:sp>
        <p:nvSpPr>
          <p:cNvPr id="13" name="Text 11"/>
          <p:cNvSpPr/>
          <p:nvPr/>
        </p:nvSpPr>
        <p:spPr>
          <a:xfrm>
            <a:off x="5740400" y="2447925"/>
            <a:ext cx="181825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처리 방향 정하기</a:t>
            </a:r>
            <a:endParaRPr lang="en-US" sz="1500" dirty="0"/>
          </a:p>
        </p:txBody>
      </p:sp>
      <p:sp>
        <p:nvSpPr>
          <p:cNvPr id="14" name="Text 12"/>
          <p:cNvSpPr/>
          <p:nvPr/>
        </p:nvSpPr>
        <p:spPr>
          <a:xfrm>
            <a:off x="5740400" y="2720975"/>
            <a:ext cx="1818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닫기, 대기열, 조치</a:t>
            </a:r>
            <a:endParaRPr lang="en-US" sz="1200" dirty="0"/>
          </a:p>
        </p:txBody>
      </p:sp>
      <p:sp>
        <p:nvSpPr>
          <p:cNvPr id="15" name="Shape 13"/>
          <p:cNvSpPr/>
          <p:nvPr/>
        </p:nvSpPr>
        <p:spPr>
          <a:xfrm>
            <a:off x="8194675" y="1908175"/>
            <a:ext cx="3181350" cy="577850"/>
          </a:xfrm>
          <a:prstGeom prst="roundRect">
            <a:avLst>
              <a:gd name="adj" fmla="val 14835"/>
            </a:avLst>
          </a:prstGeom>
          <a:solidFill>
            <a:srgbClr val="EAF0EE"/>
          </a:solidFill>
          <a:ln w="6350">
            <a:solidFill>
              <a:srgbClr val="D3DDD9"/>
            </a:solidFill>
            <a:prstDash val="solid"/>
          </a:ln>
        </p:spPr>
      </p:sp>
      <p:sp>
        <p:nvSpPr>
          <p:cNvPr id="16" name="Text 14"/>
          <p:cNvSpPr/>
          <p:nvPr/>
        </p:nvSpPr>
        <p:spPr>
          <a:xfrm>
            <a:off x="8350250" y="1966615"/>
            <a:ext cx="295630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닫기</a:t>
            </a:r>
            <a:endParaRPr lang="en-US" sz="1500" dirty="0"/>
          </a:p>
        </p:txBody>
      </p:sp>
      <p:sp>
        <p:nvSpPr>
          <p:cNvPr id="17" name="Text 15"/>
          <p:cNvSpPr/>
          <p:nvPr/>
        </p:nvSpPr>
        <p:spPr>
          <a:xfrm>
            <a:off x="8350250" y="2214265"/>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Courier New" pitchFamily="49" charset="0"/>
                <a:ea typeface="Courier New" pitchFamily="49" charset="-122"/>
                <a:cs typeface="Courier New" pitchFamily="49" charset="-120"/>
              </a:rPr>
              <a:t>AUTO CLOSE</a:t>
            </a:r>
            <a:endParaRPr lang="en-US" sz="1200" dirty="0"/>
          </a:p>
        </p:txBody>
      </p:sp>
      <p:sp>
        <p:nvSpPr>
          <p:cNvPr id="18" name="Shape 16"/>
          <p:cNvSpPr/>
          <p:nvPr/>
        </p:nvSpPr>
        <p:spPr>
          <a:xfrm>
            <a:off x="8194675" y="2593975"/>
            <a:ext cx="3181350" cy="577850"/>
          </a:xfrm>
          <a:prstGeom prst="roundRect">
            <a:avLst>
              <a:gd name="adj" fmla="val 14835"/>
            </a:avLst>
          </a:prstGeom>
          <a:solidFill>
            <a:srgbClr val="EAF0EE"/>
          </a:solidFill>
          <a:ln w="6350">
            <a:solidFill>
              <a:srgbClr val="D3DDD9"/>
            </a:solidFill>
            <a:prstDash val="solid"/>
          </a:ln>
        </p:spPr>
      </p:sp>
      <p:sp>
        <p:nvSpPr>
          <p:cNvPr id="19" name="Text 17"/>
          <p:cNvSpPr/>
          <p:nvPr/>
        </p:nvSpPr>
        <p:spPr>
          <a:xfrm>
            <a:off x="8350250" y="2652415"/>
            <a:ext cx="295630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대기열</a:t>
            </a:r>
            <a:endParaRPr lang="en-US" sz="1500" dirty="0"/>
          </a:p>
        </p:txBody>
      </p:sp>
      <p:sp>
        <p:nvSpPr>
          <p:cNvPr id="20" name="Text 18"/>
          <p:cNvSpPr/>
          <p:nvPr/>
        </p:nvSpPr>
        <p:spPr>
          <a:xfrm>
            <a:off x="8350250" y="2900065"/>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Courier New" pitchFamily="49" charset="0"/>
                <a:ea typeface="Courier New" pitchFamily="49" charset="-122"/>
                <a:cs typeface="Courier New" pitchFamily="49" charset="-120"/>
              </a:rPr>
              <a:t>NOTIFY USER, ESCALATE TIER2</a:t>
            </a:r>
            <a:endParaRPr lang="en-US" sz="1200" dirty="0"/>
          </a:p>
        </p:txBody>
      </p:sp>
      <p:sp>
        <p:nvSpPr>
          <p:cNvPr id="21" name="Shape 19"/>
          <p:cNvSpPr/>
          <p:nvPr/>
        </p:nvSpPr>
        <p:spPr>
          <a:xfrm>
            <a:off x="8197850" y="3282950"/>
            <a:ext cx="3175000" cy="571500"/>
          </a:xfrm>
          <a:prstGeom prst="roundRect">
            <a:avLst>
              <a:gd name="adj" fmla="val 14444"/>
            </a:avLst>
          </a:prstGeom>
          <a:solidFill>
            <a:srgbClr val="EAF0EE"/>
          </a:solidFill>
          <a:ln w="12700">
            <a:solidFill>
              <a:srgbClr val="4A5568"/>
            </a:solidFill>
            <a:prstDash val="solid"/>
          </a:ln>
        </p:spPr>
      </p:sp>
      <p:sp>
        <p:nvSpPr>
          <p:cNvPr id="22" name="Text 20"/>
          <p:cNvSpPr/>
          <p:nvPr/>
        </p:nvSpPr>
        <p:spPr>
          <a:xfrm>
            <a:off x="8356600" y="3338215"/>
            <a:ext cx="294322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조치</a:t>
            </a:r>
            <a:endParaRPr lang="en-US" sz="1500" dirty="0"/>
          </a:p>
        </p:txBody>
      </p:sp>
      <p:sp>
        <p:nvSpPr>
          <p:cNvPr id="23" name="Text 21"/>
          <p:cNvSpPr/>
          <p:nvPr/>
        </p:nvSpPr>
        <p:spPr>
          <a:xfrm>
            <a:off x="8356600" y="3585865"/>
            <a:ext cx="294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두 번째 요청으로 이어짐</a:t>
            </a:r>
            <a:endParaRPr lang="en-US" sz="1200" dirty="0"/>
          </a:p>
        </p:txBody>
      </p:sp>
      <p:sp>
        <p:nvSpPr>
          <p:cNvPr id="24" name="Text 22"/>
          <p:cNvSpPr/>
          <p:nvPr/>
        </p:nvSpPr>
        <p:spPr>
          <a:xfrm>
            <a:off x="812800" y="3175000"/>
            <a:ext cx="1701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알림, 자산, 티켓, 등록 기기, 점검 일정, 상시 허가</a:t>
            </a:r>
            <a:endParaRPr lang="en-US" sz="1200" dirty="0"/>
          </a:p>
        </p:txBody>
      </p:sp>
      <p:sp>
        <p:nvSpPr>
          <p:cNvPr id="25" name="Text 23"/>
          <p:cNvSpPr/>
          <p:nvPr/>
        </p:nvSpPr>
        <p:spPr>
          <a:xfrm>
            <a:off x="2971800" y="3175000"/>
            <a:ext cx="21583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허가받지 않은 활동인가, 기록이 설명하는가, 증거가 얼마나 강한가</a:t>
            </a:r>
            <a:endParaRPr lang="en-US" sz="1200" dirty="0"/>
          </a:p>
        </p:txBody>
      </p:sp>
      <p:sp>
        <p:nvSpPr>
          <p:cNvPr id="26" name="Text 24"/>
          <p:cNvSpPr/>
          <p:nvPr/>
        </p:nvSpPr>
        <p:spPr>
          <a:xfrm>
            <a:off x="5575300" y="3175000"/>
            <a:ext cx="215836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확률 0.15 미만이면 닫기(기록이 설명할 때), 0.75 초과면 조치, 그 사이는 대기열</a:t>
            </a:r>
            <a:endParaRPr lang="en-US" sz="1200" dirty="0"/>
          </a:p>
        </p:txBody>
      </p:sp>
      <p:sp>
        <p:nvSpPr>
          <p:cNvPr id="27" name="Shape 25"/>
          <p:cNvSpPr/>
          <p:nvPr/>
        </p:nvSpPr>
        <p:spPr>
          <a:xfrm>
            <a:off x="8197850" y="4451350"/>
            <a:ext cx="3175000" cy="1130300"/>
          </a:xfrm>
          <a:prstGeom prst="roundRect">
            <a:avLst>
              <a:gd name="adj" fmla="val 7303"/>
            </a:avLst>
          </a:prstGeom>
          <a:solidFill>
            <a:srgbClr val="E4EEEA"/>
          </a:solidFill>
          <a:ln w="12700">
            <a:solidFill>
              <a:srgbClr val="117964"/>
            </a:solidFill>
            <a:prstDash val="solid"/>
          </a:ln>
        </p:spPr>
      </p:sp>
      <p:sp>
        <p:nvSpPr>
          <p:cNvPr id="28" name="Text 26"/>
          <p:cNvSpPr/>
          <p:nvPr/>
        </p:nvSpPr>
        <p:spPr>
          <a:xfrm>
            <a:off x="8356600" y="4653955"/>
            <a:ext cx="29432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모델</a:t>
            </a:r>
            <a:endParaRPr lang="en-US" sz="1200" dirty="0"/>
          </a:p>
        </p:txBody>
      </p:sp>
      <p:sp>
        <p:nvSpPr>
          <p:cNvPr id="29" name="Text 27"/>
          <p:cNvSpPr/>
          <p:nvPr/>
        </p:nvSpPr>
        <p:spPr>
          <a:xfrm>
            <a:off x="8356600" y="4892675"/>
            <a:ext cx="294322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사고 상태 읽기</a:t>
            </a:r>
            <a:endParaRPr lang="en-US" sz="1500" dirty="0"/>
          </a:p>
        </p:txBody>
      </p:sp>
      <p:sp>
        <p:nvSpPr>
          <p:cNvPr id="30" name="Text 28"/>
          <p:cNvSpPr/>
          <p:nvPr/>
        </p:nvSpPr>
        <p:spPr>
          <a:xfrm>
            <a:off x="8356600" y="5165725"/>
            <a:ext cx="294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조치로 판정된 알림만, 질문 11개</a:t>
            </a:r>
            <a:endParaRPr lang="en-US" sz="1200" dirty="0"/>
          </a:p>
        </p:txBody>
      </p:sp>
      <p:sp>
        <p:nvSpPr>
          <p:cNvPr id="31" name="Shape 29"/>
          <p:cNvSpPr/>
          <p:nvPr/>
        </p:nvSpPr>
        <p:spPr>
          <a:xfrm>
            <a:off x="5391150" y="4451350"/>
            <a:ext cx="2400300" cy="1130300"/>
          </a:xfrm>
          <a:prstGeom prst="roundRect">
            <a:avLst>
              <a:gd name="adj" fmla="val 7303"/>
            </a:avLst>
          </a:prstGeom>
          <a:solidFill>
            <a:srgbClr val="F6E9DA"/>
          </a:solidFill>
          <a:ln w="12700">
            <a:solidFill>
              <a:srgbClr val="A64B0B"/>
            </a:solidFill>
            <a:prstDash val="solid"/>
          </a:ln>
        </p:spPr>
      </p:sp>
      <p:sp>
        <p:nvSpPr>
          <p:cNvPr id="32" name="Text 30"/>
          <p:cNvSpPr/>
          <p:nvPr/>
        </p:nvSpPr>
        <p:spPr>
          <a:xfrm>
            <a:off x="5549900" y="4547295"/>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4B0B"/>
                </a:solidFill>
                <a:latin typeface="Arial" pitchFamily="34" charset="0"/>
                <a:ea typeface="Arial" pitchFamily="34" charset="-122"/>
                <a:cs typeface="Arial" pitchFamily="34" charset="-120"/>
              </a:rPr>
              <a:t>코드</a:t>
            </a:r>
            <a:endParaRPr lang="en-US" sz="1200" dirty="0"/>
          </a:p>
        </p:txBody>
      </p:sp>
      <p:sp>
        <p:nvSpPr>
          <p:cNvPr id="33" name="Text 31"/>
          <p:cNvSpPr/>
          <p:nvPr/>
        </p:nvSpPr>
        <p:spPr>
          <a:xfrm>
            <a:off x="5549900" y="4786015"/>
            <a:ext cx="214528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대응 고르기</a:t>
            </a:r>
            <a:endParaRPr lang="en-US" sz="1500" dirty="0"/>
          </a:p>
        </p:txBody>
      </p:sp>
      <p:sp>
        <p:nvSpPr>
          <p:cNvPr id="34" name="Text 32"/>
          <p:cNvSpPr/>
          <p:nvPr/>
        </p:nvSpPr>
        <p:spPr>
          <a:xfrm>
            <a:off x="5549900" y="5059065"/>
            <a:ext cx="2145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조건이 맞는 첫 그룹의 가장 강한 동작</a:t>
            </a:r>
            <a:endParaRPr lang="en-US" sz="1200" dirty="0"/>
          </a:p>
        </p:txBody>
      </p:sp>
      <p:sp>
        <p:nvSpPr>
          <p:cNvPr id="35" name="Shape 33"/>
          <p:cNvSpPr/>
          <p:nvPr/>
        </p:nvSpPr>
        <p:spPr>
          <a:xfrm>
            <a:off x="815975" y="4448175"/>
            <a:ext cx="4057650" cy="1136650"/>
          </a:xfrm>
          <a:prstGeom prst="roundRect">
            <a:avLst>
              <a:gd name="adj" fmla="val 7542"/>
            </a:avLst>
          </a:prstGeom>
          <a:solidFill>
            <a:srgbClr val="EAF0EE"/>
          </a:solidFill>
          <a:ln w="6350">
            <a:solidFill>
              <a:srgbClr val="D3DDD9"/>
            </a:solidFill>
            <a:prstDash val="solid"/>
          </a:ln>
        </p:spPr>
      </p:sp>
      <p:sp>
        <p:nvSpPr>
          <p:cNvPr id="36" name="Text 34"/>
          <p:cNvSpPr/>
          <p:nvPr/>
        </p:nvSpPr>
        <p:spPr>
          <a:xfrm>
            <a:off x="996950" y="4766965"/>
            <a:ext cx="380657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동작</a:t>
            </a:r>
            <a:endParaRPr lang="en-US" sz="1500" dirty="0"/>
          </a:p>
        </p:txBody>
      </p:sp>
      <p:sp>
        <p:nvSpPr>
          <p:cNvPr id="37" name="Text 35"/>
          <p:cNvSpPr/>
          <p:nvPr/>
        </p:nvSpPr>
        <p:spPr>
          <a:xfrm>
            <a:off x="996950" y="5052715"/>
            <a:ext cx="38065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ISOLATE HOST, QUARANTINE FILE 등 17개 중 하나</a:t>
            </a:r>
            <a:endParaRPr lang="en-US" sz="1200" dirty="0"/>
          </a:p>
        </p:txBody>
      </p:sp>
      <p:pic>
        <p:nvPicPr>
          <p:cNvPr id="38" name="Image 0" descr="connector">    </p:cNvPr>
          <p:cNvPicPr>
            <a:picLocks noChangeAspect="1"/>
          </p:cNvPicPr>
          <p:nvPr/>
        </p:nvPicPr>
        <p:blipFill>
          <a:blip r:embed="rId1"/>
          <a:srcRect l="0" r="0" t="0" b="0"/>
          <a:stretch/>
        </p:blipFill>
        <p:spPr>
          <a:xfrm>
            <a:off x="2413000" y="2520950"/>
            <a:ext cx="609600" cy="101600"/>
          </a:xfrm>
          <a:prstGeom prst="rect">
            <a:avLst/>
          </a:prstGeom>
        </p:spPr>
      </p:pic>
      <p:pic>
        <p:nvPicPr>
          <p:cNvPr id="39" name="Image 1" descr="connector">    </p:cNvPr>
          <p:cNvPicPr>
            <a:picLocks noChangeAspect="1"/>
          </p:cNvPicPr>
          <p:nvPr/>
        </p:nvPicPr>
        <p:blipFill>
          <a:blip r:embed="rId2"/>
          <a:srcRect l="0" r="0" t="0" b="0"/>
          <a:stretch/>
        </p:blipFill>
        <p:spPr>
          <a:xfrm>
            <a:off x="5016500" y="2520950"/>
            <a:ext cx="609600" cy="101600"/>
          </a:xfrm>
          <a:prstGeom prst="rect">
            <a:avLst/>
          </a:prstGeom>
        </p:spPr>
      </p:pic>
      <p:pic>
        <p:nvPicPr>
          <p:cNvPr id="40" name="Image 2" descr="connector">    </p:cNvPr>
          <p:cNvPicPr>
            <a:picLocks noChangeAspect="1"/>
          </p:cNvPicPr>
          <p:nvPr/>
        </p:nvPicPr>
        <p:blipFill>
          <a:blip r:embed="rId3"/>
          <a:srcRect l="0" r="0" t="0" b="0"/>
          <a:stretch/>
        </p:blipFill>
        <p:spPr>
          <a:xfrm>
            <a:off x="7620000" y="2520950"/>
            <a:ext cx="368300" cy="101600"/>
          </a:xfrm>
          <a:prstGeom prst="rect">
            <a:avLst/>
          </a:prstGeom>
        </p:spPr>
      </p:pic>
      <p:pic>
        <p:nvPicPr>
          <p:cNvPr id="41" name="Image 3" descr="connector">    </p:cNvPr>
          <p:cNvPicPr>
            <a:picLocks noChangeAspect="1"/>
          </p:cNvPicPr>
          <p:nvPr/>
        </p:nvPicPr>
        <p:blipFill>
          <a:blip r:embed="rId4"/>
          <a:srcRect l="0" r="0" t="0" b="0"/>
          <a:stretch/>
        </p:blipFill>
        <p:spPr>
          <a:xfrm>
            <a:off x="7886700" y="2146300"/>
            <a:ext cx="101600" cy="1473200"/>
          </a:xfrm>
          <a:prstGeom prst="rect">
            <a:avLst/>
          </a:prstGeom>
        </p:spPr>
      </p:pic>
      <p:pic>
        <p:nvPicPr>
          <p:cNvPr id="42" name="Image 4" descr="connector">    </p:cNvPr>
          <p:cNvPicPr>
            <a:picLocks noChangeAspect="1"/>
          </p:cNvPicPr>
          <p:nvPr/>
        </p:nvPicPr>
        <p:blipFill>
          <a:blip r:embed="rId5"/>
          <a:srcRect l="0" r="0" t="0" b="0"/>
          <a:stretch/>
        </p:blipFill>
        <p:spPr>
          <a:xfrm>
            <a:off x="7886700" y="2146300"/>
            <a:ext cx="355600" cy="101600"/>
          </a:xfrm>
          <a:prstGeom prst="rect">
            <a:avLst/>
          </a:prstGeom>
        </p:spPr>
      </p:pic>
      <p:pic>
        <p:nvPicPr>
          <p:cNvPr id="43" name="Image 5" descr="connector">    </p:cNvPr>
          <p:cNvPicPr>
            <a:picLocks noChangeAspect="1"/>
          </p:cNvPicPr>
          <p:nvPr/>
        </p:nvPicPr>
        <p:blipFill>
          <a:blip r:embed="rId6"/>
          <a:srcRect l="0" r="0" t="0" b="0"/>
          <a:stretch/>
        </p:blipFill>
        <p:spPr>
          <a:xfrm>
            <a:off x="7886700" y="2832100"/>
            <a:ext cx="355600" cy="101600"/>
          </a:xfrm>
          <a:prstGeom prst="rect">
            <a:avLst/>
          </a:prstGeom>
        </p:spPr>
      </p:pic>
      <p:pic>
        <p:nvPicPr>
          <p:cNvPr id="44" name="Image 6" descr="connector">    </p:cNvPr>
          <p:cNvPicPr>
            <a:picLocks noChangeAspect="1"/>
          </p:cNvPicPr>
          <p:nvPr/>
        </p:nvPicPr>
        <p:blipFill>
          <a:blip r:embed="rId7"/>
          <a:srcRect l="0" r="0" t="0" b="0"/>
          <a:stretch/>
        </p:blipFill>
        <p:spPr>
          <a:xfrm>
            <a:off x="7886700" y="3517900"/>
            <a:ext cx="355600" cy="101600"/>
          </a:xfrm>
          <a:prstGeom prst="rect">
            <a:avLst/>
          </a:prstGeom>
        </p:spPr>
      </p:pic>
      <p:pic>
        <p:nvPicPr>
          <p:cNvPr id="45" name="Image 7" descr="connector">    </p:cNvPr>
          <p:cNvPicPr>
            <a:picLocks noChangeAspect="1"/>
          </p:cNvPicPr>
          <p:nvPr/>
        </p:nvPicPr>
        <p:blipFill>
          <a:blip r:embed="rId8"/>
          <a:srcRect l="0" r="0" t="0" b="0"/>
          <a:stretch/>
        </p:blipFill>
        <p:spPr>
          <a:xfrm>
            <a:off x="9734550" y="3810000"/>
            <a:ext cx="101600" cy="685800"/>
          </a:xfrm>
          <a:prstGeom prst="rect">
            <a:avLst/>
          </a:prstGeom>
        </p:spPr>
      </p:pic>
      <p:pic>
        <p:nvPicPr>
          <p:cNvPr id="46" name="Image 8" descr="connector">    </p:cNvPr>
          <p:cNvPicPr>
            <a:picLocks noChangeAspect="1"/>
          </p:cNvPicPr>
          <p:nvPr/>
        </p:nvPicPr>
        <p:blipFill>
          <a:blip r:embed="rId9"/>
          <a:srcRect l="0" r="0" t="0" b="0"/>
          <a:stretch/>
        </p:blipFill>
        <p:spPr>
          <a:xfrm>
            <a:off x="7747000" y="4965700"/>
            <a:ext cx="495300" cy="101600"/>
          </a:xfrm>
          <a:prstGeom prst="rect">
            <a:avLst/>
          </a:prstGeom>
        </p:spPr>
      </p:pic>
      <p:pic>
        <p:nvPicPr>
          <p:cNvPr id="47" name="Image 9" descr="connector">    </p:cNvPr>
          <p:cNvPicPr>
            <a:picLocks noChangeAspect="1"/>
          </p:cNvPicPr>
          <p:nvPr/>
        </p:nvPicPr>
        <p:blipFill>
          <a:blip r:embed="rId10"/>
          <a:srcRect l="0" r="0" t="0" b="0"/>
          <a:stretch/>
        </p:blipFill>
        <p:spPr>
          <a:xfrm>
            <a:off x="4826000" y="4965700"/>
            <a:ext cx="609600" cy="101600"/>
          </a:xfrm>
          <a:prstGeom prst="rect">
            <a:avLst/>
          </a:prstGeom>
        </p:spPr>
      </p:pic>
      <p:sp>
        <p:nvSpPr>
          <p:cNvPr id="48"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청록은 모델이 답하는 단계, 호박색은 코드가 정하는 단계. 출처: TypeSafe 블로그와 평가 사이트 “Security Incidents”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숫자 하나가 코드 분기를 타는 모양</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한 케이스의 경로</a:t>
            </a:r>
            <a:endParaRPr lang="en-US" sz="3200" dirty="0"/>
          </a:p>
        </p:txBody>
      </p:sp>
      <p:sp>
        <p:nvSpPr>
          <p:cNvPr id="4" name="Text 2"/>
          <p:cNvSpPr/>
          <p:nvPr/>
        </p:nvSpPr>
        <p:spPr>
          <a:xfrm>
            <a:off x="812800" y="17272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Arial" pitchFamily="34" charset="0"/>
                <a:ea typeface="Arial" pitchFamily="34" charset="-122"/>
                <a:cs typeface="Arial" pitchFamily="34" charset="-120"/>
              </a:rPr>
              <a:t>확인한 곳</a:t>
            </a:r>
            <a:endParaRPr lang="en-US" sz="1200" dirty="0"/>
          </a:p>
        </p:txBody>
      </p:sp>
      <p:sp>
        <p:nvSpPr>
          <p:cNvPr id="5" name="Text 3"/>
          <p:cNvSpPr/>
          <p:nvPr/>
        </p:nvSpPr>
        <p:spPr>
          <a:xfrm>
            <a:off x="4064000" y="17272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Jev의 답(막대), 규칙의 문턱(검은 선)</a:t>
            </a:r>
            <a:endParaRPr lang="en-US" sz="1200" dirty="0"/>
          </a:p>
        </p:txBody>
      </p:sp>
      <p:sp>
        <p:nvSpPr>
          <p:cNvPr id="6" name="Text 4"/>
          <p:cNvSpPr/>
          <p:nvPr/>
        </p:nvSpPr>
        <p:spPr>
          <a:xfrm>
            <a:off x="9652000" y="1727200"/>
            <a:ext cx="17790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Arial" pitchFamily="34" charset="0"/>
                <a:ea typeface="Arial" pitchFamily="34" charset="-122"/>
                <a:cs typeface="Arial" pitchFamily="34" charset="-120"/>
              </a:rPr>
              <a:t>결과</a:t>
            </a:r>
            <a:endParaRPr lang="en-US" sz="1200" dirty="0"/>
          </a:p>
        </p:txBody>
      </p:sp>
      <p:sp>
        <p:nvSpPr>
          <p:cNvPr id="7" name="Text 5"/>
          <p:cNvSpPr/>
          <p:nvPr/>
        </p:nvSpPr>
        <p:spPr>
          <a:xfrm>
            <a:off x="812800" y="20320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알림 읽기: 허가받지 않은 활동</a:t>
            </a:r>
            <a:endParaRPr lang="en-US" sz="1200" dirty="0"/>
          </a:p>
        </p:txBody>
      </p:sp>
      <p:sp>
        <p:nvSpPr>
          <p:cNvPr id="8" name="Shape 6"/>
          <p:cNvSpPr/>
          <p:nvPr/>
        </p:nvSpPr>
        <p:spPr>
          <a:xfrm>
            <a:off x="4064000" y="2070100"/>
            <a:ext cx="3556000" cy="139700"/>
          </a:xfrm>
          <a:prstGeom prst="roundRect">
            <a:avLst>
              <a:gd name="adj" fmla="val 50000"/>
            </a:avLst>
          </a:prstGeom>
          <a:solidFill>
            <a:srgbClr val="D3DDD9"/>
          </a:solidFill>
          <a:ln/>
        </p:spPr>
      </p:sp>
      <p:sp>
        <p:nvSpPr>
          <p:cNvPr id="9" name="Shape 7"/>
          <p:cNvSpPr/>
          <p:nvPr/>
        </p:nvSpPr>
        <p:spPr>
          <a:xfrm>
            <a:off x="4064000" y="2070100"/>
            <a:ext cx="2914650" cy="139700"/>
          </a:xfrm>
          <a:prstGeom prst="roundRect">
            <a:avLst>
              <a:gd name="adj" fmla="val 50000"/>
            </a:avLst>
          </a:prstGeom>
          <a:solidFill>
            <a:srgbClr val="117964"/>
          </a:solidFill>
          <a:ln/>
        </p:spPr>
      </p:sp>
      <p:sp>
        <p:nvSpPr>
          <p:cNvPr id="10" name="Shape 8"/>
          <p:cNvSpPr/>
          <p:nvPr/>
        </p:nvSpPr>
        <p:spPr>
          <a:xfrm>
            <a:off x="6718300" y="2019300"/>
            <a:ext cx="25400" cy="241300"/>
          </a:xfrm>
          <a:prstGeom prst="rect">
            <a:avLst/>
          </a:prstGeom>
          <a:solidFill>
            <a:srgbClr val="1B2533"/>
          </a:solidFill>
          <a:ln/>
        </p:spPr>
      </p:sp>
      <p:sp>
        <p:nvSpPr>
          <p:cNvPr id="11" name="Text 9"/>
          <p:cNvSpPr/>
          <p:nvPr/>
        </p:nvSpPr>
        <p:spPr>
          <a:xfrm>
            <a:off x="7721600" y="20320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0.82</a:t>
            </a:r>
            <a:endParaRPr lang="en-US" sz="1200" dirty="0"/>
          </a:p>
        </p:txBody>
      </p:sp>
      <p:sp>
        <p:nvSpPr>
          <p:cNvPr id="12" name="Text 10"/>
          <p:cNvSpPr/>
          <p:nvPr/>
        </p:nvSpPr>
        <p:spPr>
          <a:xfrm>
            <a:off x="8255000" y="20320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0.75</a:t>
            </a:r>
            <a:endParaRPr lang="en-US" sz="1200" dirty="0"/>
          </a:p>
        </p:txBody>
      </p:sp>
      <p:sp>
        <p:nvSpPr>
          <p:cNvPr id="13" name="Text 11"/>
          <p:cNvSpPr/>
          <p:nvPr/>
        </p:nvSpPr>
        <p:spPr>
          <a:xfrm>
            <a:off x="9652000" y="2006600"/>
            <a:ext cx="1727200" cy="266700"/>
          </a:xfrm>
          <a:prstGeom prst="roundRect">
            <a:avLst>
              <a:gd name="adj" fmla="val 23810"/>
            </a:avLst>
          </a:prstGeom>
          <a:solidFill>
            <a:srgbClr val="117964"/>
          </a:solidFill>
          <a:ln/>
        </p:spPr>
        <p:txBody>
          <a:bodyPr wrap="square" lIns="0" tIns="0" rIns="0" bIns="0" rtlCol="0" anchor="ctr">
            <a:normAutofit/>
          </a:bodyPr>
          <a:lstStyle/>
          <a:p>
            <a:pPr algn="ctr" indent="0" marL="0">
              <a:lnSpc>
                <a:spcPts val="1680"/>
              </a:lnSpc>
              <a:buNone/>
            </a:pPr>
            <a:r>
              <a:rPr lang="en-US" sz="1200" b="1" dirty="0">
                <a:solidFill>
                  <a:srgbClr val="F6F8F7"/>
                </a:solidFill>
                <a:latin typeface="Arial" pitchFamily="34" charset="0"/>
                <a:ea typeface="Arial" pitchFamily="34" charset="-122"/>
                <a:cs typeface="Arial" pitchFamily="34" charset="-120"/>
              </a:rPr>
              <a:t>조치로 판정</a:t>
            </a:r>
            <a:endParaRPr lang="en-US" sz="1200" dirty="0"/>
          </a:p>
        </p:txBody>
      </p:sp>
      <p:sp>
        <p:nvSpPr>
          <p:cNvPr id="14" name="Text 12"/>
          <p:cNvSpPr/>
          <p:nvPr/>
        </p:nvSpPr>
        <p:spPr>
          <a:xfrm>
            <a:off x="812800" y="24257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유출 그룹: 공격자 쪽 트래픽</a:t>
            </a:r>
            <a:endParaRPr lang="en-US" sz="1200" dirty="0"/>
          </a:p>
        </p:txBody>
      </p:sp>
      <p:sp>
        <p:nvSpPr>
          <p:cNvPr id="15" name="Shape 13"/>
          <p:cNvSpPr/>
          <p:nvPr/>
        </p:nvSpPr>
        <p:spPr>
          <a:xfrm>
            <a:off x="4064000" y="2463800"/>
            <a:ext cx="3556000" cy="139700"/>
          </a:xfrm>
          <a:prstGeom prst="roundRect">
            <a:avLst>
              <a:gd name="adj" fmla="val 50000"/>
            </a:avLst>
          </a:prstGeom>
          <a:solidFill>
            <a:srgbClr val="D3DDD9"/>
          </a:solidFill>
          <a:ln/>
        </p:spPr>
      </p:sp>
      <p:sp>
        <p:nvSpPr>
          <p:cNvPr id="16" name="Shape 14"/>
          <p:cNvSpPr/>
          <p:nvPr/>
        </p:nvSpPr>
        <p:spPr>
          <a:xfrm>
            <a:off x="4064000" y="2463800"/>
            <a:ext cx="571500" cy="139700"/>
          </a:xfrm>
          <a:prstGeom prst="roundRect">
            <a:avLst>
              <a:gd name="adj" fmla="val 50000"/>
            </a:avLst>
          </a:prstGeom>
          <a:solidFill>
            <a:srgbClr val="5E6B7D"/>
          </a:solidFill>
          <a:ln/>
        </p:spPr>
      </p:sp>
      <p:sp>
        <p:nvSpPr>
          <p:cNvPr id="17" name="Shape 15"/>
          <p:cNvSpPr/>
          <p:nvPr/>
        </p:nvSpPr>
        <p:spPr>
          <a:xfrm>
            <a:off x="5651500" y="2413000"/>
            <a:ext cx="25400" cy="241300"/>
          </a:xfrm>
          <a:prstGeom prst="rect">
            <a:avLst/>
          </a:prstGeom>
          <a:solidFill>
            <a:srgbClr val="1B2533"/>
          </a:solidFill>
          <a:ln/>
        </p:spPr>
      </p:sp>
      <p:sp>
        <p:nvSpPr>
          <p:cNvPr id="18" name="Text 16"/>
          <p:cNvSpPr/>
          <p:nvPr/>
        </p:nvSpPr>
        <p:spPr>
          <a:xfrm>
            <a:off x="7721600" y="24257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0.16</a:t>
            </a:r>
            <a:endParaRPr lang="en-US" sz="1200" dirty="0"/>
          </a:p>
        </p:txBody>
      </p:sp>
      <p:sp>
        <p:nvSpPr>
          <p:cNvPr id="19" name="Text 17"/>
          <p:cNvSpPr/>
          <p:nvPr/>
        </p:nvSpPr>
        <p:spPr>
          <a:xfrm>
            <a:off x="8255000" y="24257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0.45</a:t>
            </a:r>
            <a:endParaRPr lang="en-US" sz="1200" dirty="0"/>
          </a:p>
        </p:txBody>
      </p:sp>
      <p:sp>
        <p:nvSpPr>
          <p:cNvPr id="20" name="Text 18"/>
          <p:cNvSpPr/>
          <p:nvPr/>
        </p:nvSpPr>
        <p:spPr>
          <a:xfrm>
            <a:off x="9655175" y="2403475"/>
            <a:ext cx="1720850" cy="260350"/>
          </a:xfrm>
          <a:prstGeom prst="roundRect">
            <a:avLst>
              <a:gd name="adj" fmla="val 23171"/>
            </a:avLst>
          </a:prstGeom>
          <a:solidFill>
            <a:srgbClr val="E3E8EE"/>
          </a:solidFill>
          <a:ln w="6350">
            <a:solidFill>
              <a:srgbClr val="C5CEDA"/>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진입 안 함</a:t>
            </a:r>
            <a:endParaRPr lang="en-US" sz="1200" dirty="0"/>
          </a:p>
        </p:txBody>
      </p:sp>
      <p:sp>
        <p:nvSpPr>
          <p:cNvPr id="21" name="Text 19"/>
          <p:cNvSpPr/>
          <p:nvPr/>
        </p:nvSpPr>
        <p:spPr>
          <a:xfrm>
            <a:off x="812800" y="28194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접근 권한 그룹: 세션 탈취</a:t>
            </a:r>
            <a:endParaRPr lang="en-US" sz="1200" dirty="0"/>
          </a:p>
        </p:txBody>
      </p:sp>
      <p:sp>
        <p:nvSpPr>
          <p:cNvPr id="22" name="Shape 20"/>
          <p:cNvSpPr/>
          <p:nvPr/>
        </p:nvSpPr>
        <p:spPr>
          <a:xfrm>
            <a:off x="4064000" y="2857500"/>
            <a:ext cx="3556000" cy="139700"/>
          </a:xfrm>
          <a:prstGeom prst="roundRect">
            <a:avLst>
              <a:gd name="adj" fmla="val 50000"/>
            </a:avLst>
          </a:prstGeom>
          <a:solidFill>
            <a:srgbClr val="D3DDD9"/>
          </a:solidFill>
          <a:ln/>
        </p:spPr>
      </p:sp>
      <p:sp>
        <p:nvSpPr>
          <p:cNvPr id="23" name="Shape 21"/>
          <p:cNvSpPr/>
          <p:nvPr/>
        </p:nvSpPr>
        <p:spPr>
          <a:xfrm>
            <a:off x="4064000" y="2857500"/>
            <a:ext cx="850900" cy="139700"/>
          </a:xfrm>
          <a:prstGeom prst="roundRect">
            <a:avLst>
              <a:gd name="adj" fmla="val 50000"/>
            </a:avLst>
          </a:prstGeom>
          <a:solidFill>
            <a:srgbClr val="5E6B7D"/>
          </a:solidFill>
          <a:ln/>
        </p:spPr>
      </p:sp>
      <p:sp>
        <p:nvSpPr>
          <p:cNvPr id="24" name="Shape 22"/>
          <p:cNvSpPr/>
          <p:nvPr/>
        </p:nvSpPr>
        <p:spPr>
          <a:xfrm>
            <a:off x="5829300" y="2806700"/>
            <a:ext cx="25400" cy="241300"/>
          </a:xfrm>
          <a:prstGeom prst="rect">
            <a:avLst/>
          </a:prstGeom>
          <a:solidFill>
            <a:srgbClr val="1B2533"/>
          </a:solidFill>
          <a:ln/>
        </p:spPr>
      </p:sp>
      <p:sp>
        <p:nvSpPr>
          <p:cNvPr id="25" name="Text 23"/>
          <p:cNvSpPr/>
          <p:nvPr/>
        </p:nvSpPr>
        <p:spPr>
          <a:xfrm>
            <a:off x="7721600" y="28194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0.24</a:t>
            </a:r>
            <a:endParaRPr lang="en-US" sz="1200" dirty="0"/>
          </a:p>
        </p:txBody>
      </p:sp>
      <p:sp>
        <p:nvSpPr>
          <p:cNvPr id="26" name="Text 24"/>
          <p:cNvSpPr/>
          <p:nvPr/>
        </p:nvSpPr>
        <p:spPr>
          <a:xfrm>
            <a:off x="8255000" y="28194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0.50</a:t>
            </a:r>
            <a:endParaRPr lang="en-US" sz="1200" dirty="0"/>
          </a:p>
        </p:txBody>
      </p:sp>
      <p:sp>
        <p:nvSpPr>
          <p:cNvPr id="27" name="Text 25"/>
          <p:cNvSpPr/>
          <p:nvPr/>
        </p:nvSpPr>
        <p:spPr>
          <a:xfrm>
            <a:off x="9655175" y="2797175"/>
            <a:ext cx="1720850" cy="260350"/>
          </a:xfrm>
          <a:prstGeom prst="roundRect">
            <a:avLst>
              <a:gd name="adj" fmla="val 23171"/>
            </a:avLst>
          </a:prstGeom>
          <a:solidFill>
            <a:srgbClr val="E3E8EE"/>
          </a:solidFill>
          <a:ln w="6350">
            <a:solidFill>
              <a:srgbClr val="C5CEDA"/>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진입 안 함</a:t>
            </a:r>
            <a:endParaRPr lang="en-US" sz="1200" dirty="0"/>
          </a:p>
        </p:txBody>
      </p:sp>
      <p:sp>
        <p:nvSpPr>
          <p:cNvPr id="28" name="Text 26"/>
          <p:cNvSpPr/>
          <p:nvPr/>
        </p:nvSpPr>
        <p:spPr>
          <a:xfrm>
            <a:off x="812800" y="32131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접근 권한 그룹: 자격 증명 노출</a:t>
            </a:r>
            <a:endParaRPr lang="en-US" sz="1200" dirty="0"/>
          </a:p>
        </p:txBody>
      </p:sp>
      <p:sp>
        <p:nvSpPr>
          <p:cNvPr id="29" name="Shape 27"/>
          <p:cNvSpPr/>
          <p:nvPr/>
        </p:nvSpPr>
        <p:spPr>
          <a:xfrm>
            <a:off x="4064000" y="3251200"/>
            <a:ext cx="3556000" cy="139700"/>
          </a:xfrm>
          <a:prstGeom prst="roundRect">
            <a:avLst>
              <a:gd name="adj" fmla="val 50000"/>
            </a:avLst>
          </a:prstGeom>
          <a:solidFill>
            <a:srgbClr val="D3DDD9"/>
          </a:solidFill>
          <a:ln/>
        </p:spPr>
      </p:sp>
      <p:sp>
        <p:nvSpPr>
          <p:cNvPr id="30" name="Shape 28"/>
          <p:cNvSpPr/>
          <p:nvPr/>
        </p:nvSpPr>
        <p:spPr>
          <a:xfrm>
            <a:off x="4064000" y="3251200"/>
            <a:ext cx="1066800" cy="139700"/>
          </a:xfrm>
          <a:prstGeom prst="roundRect">
            <a:avLst>
              <a:gd name="adj" fmla="val 50000"/>
            </a:avLst>
          </a:prstGeom>
          <a:solidFill>
            <a:srgbClr val="5E6B7D"/>
          </a:solidFill>
          <a:ln/>
        </p:spPr>
      </p:sp>
      <p:sp>
        <p:nvSpPr>
          <p:cNvPr id="31" name="Shape 29"/>
          <p:cNvSpPr/>
          <p:nvPr/>
        </p:nvSpPr>
        <p:spPr>
          <a:xfrm>
            <a:off x="5473700" y="3200400"/>
            <a:ext cx="25400" cy="241300"/>
          </a:xfrm>
          <a:prstGeom prst="rect">
            <a:avLst/>
          </a:prstGeom>
          <a:solidFill>
            <a:srgbClr val="1B2533"/>
          </a:solidFill>
          <a:ln/>
        </p:spPr>
      </p:sp>
      <p:sp>
        <p:nvSpPr>
          <p:cNvPr id="32" name="Text 30"/>
          <p:cNvSpPr/>
          <p:nvPr/>
        </p:nvSpPr>
        <p:spPr>
          <a:xfrm>
            <a:off x="7721600" y="32131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0.30</a:t>
            </a:r>
            <a:endParaRPr lang="en-US" sz="1200" dirty="0"/>
          </a:p>
        </p:txBody>
      </p:sp>
      <p:sp>
        <p:nvSpPr>
          <p:cNvPr id="33" name="Text 31"/>
          <p:cNvSpPr/>
          <p:nvPr/>
        </p:nvSpPr>
        <p:spPr>
          <a:xfrm>
            <a:off x="8255000" y="32131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0.40</a:t>
            </a:r>
            <a:endParaRPr lang="en-US" sz="1200" dirty="0"/>
          </a:p>
        </p:txBody>
      </p:sp>
      <p:sp>
        <p:nvSpPr>
          <p:cNvPr id="34" name="Text 32"/>
          <p:cNvSpPr/>
          <p:nvPr/>
        </p:nvSpPr>
        <p:spPr>
          <a:xfrm>
            <a:off x="9655175" y="3190875"/>
            <a:ext cx="1720850" cy="260350"/>
          </a:xfrm>
          <a:prstGeom prst="roundRect">
            <a:avLst>
              <a:gd name="adj" fmla="val 23171"/>
            </a:avLst>
          </a:prstGeom>
          <a:solidFill>
            <a:srgbClr val="E3E8EE"/>
          </a:solidFill>
          <a:ln w="6350">
            <a:solidFill>
              <a:srgbClr val="C5CEDA"/>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진입 안 함</a:t>
            </a:r>
            <a:endParaRPr lang="en-US" sz="1200" dirty="0"/>
          </a:p>
        </p:txBody>
      </p:sp>
      <p:sp>
        <p:nvSpPr>
          <p:cNvPr id="35" name="Text 33"/>
          <p:cNvSpPr/>
          <p:nvPr/>
        </p:nvSpPr>
        <p:spPr>
          <a:xfrm>
            <a:off x="812800" y="36068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메일 그룹: 악성 메일 배달</a:t>
            </a:r>
            <a:endParaRPr lang="en-US" sz="1200" dirty="0"/>
          </a:p>
        </p:txBody>
      </p:sp>
      <p:sp>
        <p:nvSpPr>
          <p:cNvPr id="36" name="Shape 34"/>
          <p:cNvSpPr/>
          <p:nvPr/>
        </p:nvSpPr>
        <p:spPr>
          <a:xfrm>
            <a:off x="4064000" y="3644900"/>
            <a:ext cx="3556000" cy="139700"/>
          </a:xfrm>
          <a:prstGeom prst="roundRect">
            <a:avLst>
              <a:gd name="adj" fmla="val 50000"/>
            </a:avLst>
          </a:prstGeom>
          <a:solidFill>
            <a:srgbClr val="D3DDD9"/>
          </a:solidFill>
          <a:ln/>
        </p:spPr>
      </p:sp>
      <p:sp>
        <p:nvSpPr>
          <p:cNvPr id="37" name="Shape 35"/>
          <p:cNvSpPr/>
          <p:nvPr/>
        </p:nvSpPr>
        <p:spPr>
          <a:xfrm>
            <a:off x="4064000" y="3644900"/>
            <a:ext cx="317500" cy="139700"/>
          </a:xfrm>
          <a:prstGeom prst="roundRect">
            <a:avLst>
              <a:gd name="adj" fmla="val 50000"/>
            </a:avLst>
          </a:prstGeom>
          <a:solidFill>
            <a:srgbClr val="5E6B7D"/>
          </a:solidFill>
          <a:ln/>
        </p:spPr>
      </p:sp>
      <p:sp>
        <p:nvSpPr>
          <p:cNvPr id="38" name="Shape 36"/>
          <p:cNvSpPr/>
          <p:nvPr/>
        </p:nvSpPr>
        <p:spPr>
          <a:xfrm>
            <a:off x="5829300" y="3594100"/>
            <a:ext cx="25400" cy="241300"/>
          </a:xfrm>
          <a:prstGeom prst="rect">
            <a:avLst/>
          </a:prstGeom>
          <a:solidFill>
            <a:srgbClr val="1B2533"/>
          </a:solidFill>
          <a:ln/>
        </p:spPr>
      </p:sp>
      <p:sp>
        <p:nvSpPr>
          <p:cNvPr id="39" name="Text 37"/>
          <p:cNvSpPr/>
          <p:nvPr/>
        </p:nvSpPr>
        <p:spPr>
          <a:xfrm>
            <a:off x="7721600" y="36068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0.09</a:t>
            </a:r>
            <a:endParaRPr lang="en-US" sz="1200" dirty="0"/>
          </a:p>
        </p:txBody>
      </p:sp>
      <p:sp>
        <p:nvSpPr>
          <p:cNvPr id="40" name="Text 38"/>
          <p:cNvSpPr/>
          <p:nvPr/>
        </p:nvSpPr>
        <p:spPr>
          <a:xfrm>
            <a:off x="8255000" y="36068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0.50</a:t>
            </a:r>
            <a:endParaRPr lang="en-US" sz="1200" dirty="0"/>
          </a:p>
        </p:txBody>
      </p:sp>
      <p:sp>
        <p:nvSpPr>
          <p:cNvPr id="41" name="Text 39"/>
          <p:cNvSpPr/>
          <p:nvPr/>
        </p:nvSpPr>
        <p:spPr>
          <a:xfrm>
            <a:off x="9655175" y="3584575"/>
            <a:ext cx="1720850" cy="260350"/>
          </a:xfrm>
          <a:prstGeom prst="roundRect">
            <a:avLst>
              <a:gd name="adj" fmla="val 23171"/>
            </a:avLst>
          </a:prstGeom>
          <a:solidFill>
            <a:srgbClr val="E3E8EE"/>
          </a:solidFill>
          <a:ln w="6350">
            <a:solidFill>
              <a:srgbClr val="C5CEDA"/>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진입 안 함</a:t>
            </a:r>
            <a:endParaRPr lang="en-US" sz="1200" dirty="0"/>
          </a:p>
        </p:txBody>
      </p:sp>
      <p:sp>
        <p:nvSpPr>
          <p:cNvPr id="42" name="Text 40"/>
          <p:cNvSpPr/>
          <p:nvPr/>
        </p:nvSpPr>
        <p:spPr>
          <a:xfrm>
            <a:off x="812800" y="40005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호스트 그룹: 되살아날 장치</a:t>
            </a:r>
            <a:endParaRPr lang="en-US" sz="1200" dirty="0"/>
          </a:p>
        </p:txBody>
      </p:sp>
      <p:sp>
        <p:nvSpPr>
          <p:cNvPr id="43" name="Shape 41"/>
          <p:cNvSpPr/>
          <p:nvPr/>
        </p:nvSpPr>
        <p:spPr>
          <a:xfrm>
            <a:off x="4064000" y="4038600"/>
            <a:ext cx="3556000" cy="139700"/>
          </a:xfrm>
          <a:prstGeom prst="roundRect">
            <a:avLst>
              <a:gd name="adj" fmla="val 50000"/>
            </a:avLst>
          </a:prstGeom>
          <a:solidFill>
            <a:srgbClr val="D3DDD9"/>
          </a:solidFill>
          <a:ln/>
        </p:spPr>
      </p:sp>
      <p:sp>
        <p:nvSpPr>
          <p:cNvPr id="44" name="Shape 42"/>
          <p:cNvSpPr/>
          <p:nvPr/>
        </p:nvSpPr>
        <p:spPr>
          <a:xfrm>
            <a:off x="4064000" y="4038600"/>
            <a:ext cx="2419350" cy="139700"/>
          </a:xfrm>
          <a:prstGeom prst="roundRect">
            <a:avLst>
              <a:gd name="adj" fmla="val 50000"/>
            </a:avLst>
          </a:prstGeom>
          <a:solidFill>
            <a:srgbClr val="117964"/>
          </a:solidFill>
          <a:ln/>
        </p:spPr>
      </p:sp>
      <p:sp>
        <p:nvSpPr>
          <p:cNvPr id="45" name="Shape 43"/>
          <p:cNvSpPr/>
          <p:nvPr/>
        </p:nvSpPr>
        <p:spPr>
          <a:xfrm>
            <a:off x="6184900" y="3987800"/>
            <a:ext cx="25400" cy="241300"/>
          </a:xfrm>
          <a:prstGeom prst="rect">
            <a:avLst/>
          </a:prstGeom>
          <a:solidFill>
            <a:srgbClr val="1B2533"/>
          </a:solidFill>
          <a:ln/>
        </p:spPr>
      </p:sp>
      <p:sp>
        <p:nvSpPr>
          <p:cNvPr id="46" name="Text 44"/>
          <p:cNvSpPr/>
          <p:nvPr/>
        </p:nvSpPr>
        <p:spPr>
          <a:xfrm>
            <a:off x="7721600" y="40005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0.68</a:t>
            </a:r>
            <a:endParaRPr lang="en-US" sz="1200" dirty="0"/>
          </a:p>
        </p:txBody>
      </p:sp>
      <p:sp>
        <p:nvSpPr>
          <p:cNvPr id="47" name="Text 45"/>
          <p:cNvSpPr/>
          <p:nvPr/>
        </p:nvSpPr>
        <p:spPr>
          <a:xfrm>
            <a:off x="8255000" y="40005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0.60</a:t>
            </a:r>
            <a:endParaRPr lang="en-US" sz="1200" dirty="0"/>
          </a:p>
        </p:txBody>
      </p:sp>
      <p:sp>
        <p:nvSpPr>
          <p:cNvPr id="48" name="Text 46"/>
          <p:cNvSpPr/>
          <p:nvPr/>
        </p:nvSpPr>
        <p:spPr>
          <a:xfrm>
            <a:off x="9652000" y="3975100"/>
            <a:ext cx="1727200" cy="266700"/>
          </a:xfrm>
          <a:prstGeom prst="roundRect">
            <a:avLst>
              <a:gd name="adj" fmla="val 23810"/>
            </a:avLst>
          </a:prstGeom>
          <a:solidFill>
            <a:srgbClr val="117964"/>
          </a:solidFill>
          <a:ln/>
        </p:spPr>
        <p:txBody>
          <a:bodyPr wrap="square" lIns="0" tIns="0" rIns="0" bIns="0" rtlCol="0" anchor="ctr">
            <a:normAutofit/>
          </a:bodyPr>
          <a:lstStyle/>
          <a:p>
            <a:pPr algn="ctr" indent="0" marL="0">
              <a:lnSpc>
                <a:spcPts val="1680"/>
              </a:lnSpc>
              <a:buNone/>
            </a:pPr>
            <a:r>
              <a:rPr lang="en-US" sz="1200" b="1" dirty="0">
                <a:solidFill>
                  <a:srgbClr val="F6F8F7"/>
                </a:solidFill>
                <a:latin typeface="Arial" pitchFamily="34" charset="0"/>
                <a:ea typeface="Arial" pitchFamily="34" charset="-122"/>
                <a:cs typeface="Arial" pitchFamily="34" charset="-120"/>
              </a:rPr>
              <a:t>처음으로 진입</a:t>
            </a:r>
            <a:endParaRPr lang="en-US" sz="1200" dirty="0"/>
          </a:p>
        </p:txBody>
      </p:sp>
      <p:sp>
        <p:nvSpPr>
          <p:cNvPr id="49" name="Text 47"/>
          <p:cNvSpPr/>
          <p:nvPr/>
        </p:nvSpPr>
        <p:spPr>
          <a:xfrm>
            <a:off x="812800" y="43942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호스트 격리: 활동이 진행 중</a:t>
            </a:r>
            <a:endParaRPr lang="en-US" sz="1200" dirty="0"/>
          </a:p>
        </p:txBody>
      </p:sp>
      <p:sp>
        <p:nvSpPr>
          <p:cNvPr id="50" name="Shape 48"/>
          <p:cNvSpPr/>
          <p:nvPr/>
        </p:nvSpPr>
        <p:spPr>
          <a:xfrm>
            <a:off x="4064000" y="4432300"/>
            <a:ext cx="3556000" cy="139700"/>
          </a:xfrm>
          <a:prstGeom prst="roundRect">
            <a:avLst>
              <a:gd name="adj" fmla="val 50000"/>
            </a:avLst>
          </a:prstGeom>
          <a:solidFill>
            <a:srgbClr val="D3DDD9"/>
          </a:solidFill>
          <a:ln/>
        </p:spPr>
      </p:sp>
      <p:sp>
        <p:nvSpPr>
          <p:cNvPr id="51" name="Shape 49"/>
          <p:cNvSpPr/>
          <p:nvPr/>
        </p:nvSpPr>
        <p:spPr>
          <a:xfrm>
            <a:off x="4064000" y="4432300"/>
            <a:ext cx="1282700" cy="139700"/>
          </a:xfrm>
          <a:prstGeom prst="roundRect">
            <a:avLst>
              <a:gd name="adj" fmla="val 50000"/>
            </a:avLst>
          </a:prstGeom>
          <a:solidFill>
            <a:srgbClr val="5E6B7D"/>
          </a:solidFill>
          <a:ln/>
        </p:spPr>
      </p:sp>
      <p:sp>
        <p:nvSpPr>
          <p:cNvPr id="52" name="Shape 50"/>
          <p:cNvSpPr/>
          <p:nvPr/>
        </p:nvSpPr>
        <p:spPr>
          <a:xfrm>
            <a:off x="5829300" y="4381500"/>
            <a:ext cx="25400" cy="241300"/>
          </a:xfrm>
          <a:prstGeom prst="rect">
            <a:avLst/>
          </a:prstGeom>
          <a:solidFill>
            <a:srgbClr val="1B2533"/>
          </a:solidFill>
          <a:ln/>
        </p:spPr>
      </p:sp>
      <p:sp>
        <p:nvSpPr>
          <p:cNvPr id="53" name="Text 51"/>
          <p:cNvSpPr/>
          <p:nvPr/>
        </p:nvSpPr>
        <p:spPr>
          <a:xfrm>
            <a:off x="7721600" y="43942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0.36</a:t>
            </a:r>
            <a:endParaRPr lang="en-US" sz="1200" dirty="0"/>
          </a:p>
        </p:txBody>
      </p:sp>
      <p:sp>
        <p:nvSpPr>
          <p:cNvPr id="54" name="Text 52"/>
          <p:cNvSpPr/>
          <p:nvPr/>
        </p:nvSpPr>
        <p:spPr>
          <a:xfrm>
            <a:off x="8255000" y="43942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0.50</a:t>
            </a:r>
            <a:endParaRPr lang="en-US" sz="1200" dirty="0"/>
          </a:p>
        </p:txBody>
      </p:sp>
      <p:sp>
        <p:nvSpPr>
          <p:cNvPr id="55" name="Text 53"/>
          <p:cNvSpPr/>
          <p:nvPr/>
        </p:nvSpPr>
        <p:spPr>
          <a:xfrm>
            <a:off x="9655175" y="4371975"/>
            <a:ext cx="1720850" cy="260350"/>
          </a:xfrm>
          <a:prstGeom prst="roundRect">
            <a:avLst>
              <a:gd name="adj" fmla="val 23171"/>
            </a:avLst>
          </a:prstGeom>
          <a:solidFill>
            <a:srgbClr val="E3E8EE"/>
          </a:solidFill>
          <a:ln w="6350">
            <a:solidFill>
              <a:srgbClr val="C5CEDA"/>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성립 안 함</a:t>
            </a:r>
            <a:endParaRPr lang="en-US" sz="1200" dirty="0"/>
          </a:p>
        </p:txBody>
      </p:sp>
      <p:sp>
        <p:nvSpPr>
          <p:cNvPr id="56" name="Text 54"/>
          <p:cNvSpPr/>
          <p:nvPr/>
        </p:nvSpPr>
        <p:spPr>
          <a:xfrm>
            <a:off x="812800" y="47879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프로세스 종료: 악성 프로세스 실행</a:t>
            </a:r>
            <a:endParaRPr lang="en-US" sz="1200" dirty="0"/>
          </a:p>
        </p:txBody>
      </p:sp>
      <p:sp>
        <p:nvSpPr>
          <p:cNvPr id="57" name="Shape 55"/>
          <p:cNvSpPr/>
          <p:nvPr/>
        </p:nvSpPr>
        <p:spPr>
          <a:xfrm>
            <a:off x="4064000" y="4826000"/>
            <a:ext cx="3556000" cy="139700"/>
          </a:xfrm>
          <a:prstGeom prst="roundRect">
            <a:avLst>
              <a:gd name="adj" fmla="val 50000"/>
            </a:avLst>
          </a:prstGeom>
          <a:solidFill>
            <a:srgbClr val="D3DDD9"/>
          </a:solidFill>
          <a:ln/>
        </p:spPr>
      </p:sp>
      <p:sp>
        <p:nvSpPr>
          <p:cNvPr id="58" name="Shape 56"/>
          <p:cNvSpPr/>
          <p:nvPr/>
        </p:nvSpPr>
        <p:spPr>
          <a:xfrm>
            <a:off x="4064000" y="4826000"/>
            <a:ext cx="641350" cy="139700"/>
          </a:xfrm>
          <a:prstGeom prst="roundRect">
            <a:avLst>
              <a:gd name="adj" fmla="val 50000"/>
            </a:avLst>
          </a:prstGeom>
          <a:solidFill>
            <a:srgbClr val="5E6B7D"/>
          </a:solidFill>
          <a:ln/>
        </p:spPr>
      </p:sp>
      <p:sp>
        <p:nvSpPr>
          <p:cNvPr id="59" name="Shape 57"/>
          <p:cNvSpPr/>
          <p:nvPr/>
        </p:nvSpPr>
        <p:spPr>
          <a:xfrm>
            <a:off x="6184900" y="4775200"/>
            <a:ext cx="25400" cy="241300"/>
          </a:xfrm>
          <a:prstGeom prst="rect">
            <a:avLst/>
          </a:prstGeom>
          <a:solidFill>
            <a:srgbClr val="1B2533"/>
          </a:solidFill>
          <a:ln/>
        </p:spPr>
      </p:sp>
      <p:sp>
        <p:nvSpPr>
          <p:cNvPr id="60" name="Text 58"/>
          <p:cNvSpPr/>
          <p:nvPr/>
        </p:nvSpPr>
        <p:spPr>
          <a:xfrm>
            <a:off x="7721600" y="478790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533"/>
                </a:solidFill>
                <a:latin typeface="Arial" pitchFamily="34" charset="0"/>
                <a:ea typeface="Arial" pitchFamily="34" charset="-122"/>
                <a:cs typeface="Arial" pitchFamily="34" charset="-120"/>
              </a:rPr>
              <a:t>0.18</a:t>
            </a:r>
            <a:endParaRPr lang="en-US" sz="1200" dirty="0"/>
          </a:p>
        </p:txBody>
      </p:sp>
      <p:sp>
        <p:nvSpPr>
          <p:cNvPr id="61" name="Text 59"/>
          <p:cNvSpPr/>
          <p:nvPr/>
        </p:nvSpPr>
        <p:spPr>
          <a:xfrm>
            <a:off x="8255000" y="47879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문턱 0.60</a:t>
            </a:r>
            <a:endParaRPr lang="en-US" sz="1200" dirty="0"/>
          </a:p>
        </p:txBody>
      </p:sp>
      <p:sp>
        <p:nvSpPr>
          <p:cNvPr id="62" name="Text 60"/>
          <p:cNvSpPr/>
          <p:nvPr/>
        </p:nvSpPr>
        <p:spPr>
          <a:xfrm>
            <a:off x="9655175" y="4765675"/>
            <a:ext cx="1720850" cy="260350"/>
          </a:xfrm>
          <a:prstGeom prst="roundRect">
            <a:avLst>
              <a:gd name="adj" fmla="val 23171"/>
            </a:avLst>
          </a:prstGeom>
          <a:solidFill>
            <a:srgbClr val="E3E8EE"/>
          </a:solidFill>
          <a:ln w="6350">
            <a:solidFill>
              <a:srgbClr val="C5CEDA"/>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성립 안 함</a:t>
            </a:r>
            <a:endParaRPr lang="en-US" sz="1200" dirty="0"/>
          </a:p>
        </p:txBody>
      </p:sp>
      <p:sp>
        <p:nvSpPr>
          <p:cNvPr id="63" name="Text 61"/>
          <p:cNvSpPr/>
          <p:nvPr/>
        </p:nvSpPr>
        <p:spPr>
          <a:xfrm>
            <a:off x="812800" y="521970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남은 동작: 파일 격리</a:t>
            </a:r>
            <a:endParaRPr lang="en-US" sz="1200" dirty="0"/>
          </a:p>
        </p:txBody>
      </p:sp>
      <p:sp>
        <p:nvSpPr>
          <p:cNvPr id="64" name="Text 62"/>
          <p:cNvSpPr/>
          <p:nvPr/>
        </p:nvSpPr>
        <p:spPr>
          <a:xfrm>
            <a:off x="4070350" y="5175250"/>
            <a:ext cx="3543300" cy="279400"/>
          </a:xfrm>
          <a:prstGeom prst="roundRect">
            <a:avLst>
              <a:gd name="adj" fmla="val 20455"/>
            </a:avLst>
          </a:prstGeom>
          <a:solidFill>
            <a:srgbClr val="F6E9DA"/>
          </a:solidFill>
          <a:ln w="12700">
            <a:solidFill>
              <a:srgbClr val="A64B0B"/>
            </a:solidFill>
            <a:prstDash val="solid"/>
          </a:ln>
        </p:spPr>
        <p:txBody>
          <a:bodyPr wrap="square" lIns="0" tIns="0" rIns="0" bIns="0" rtlCol="0" anchor="ctr">
            <a:normAutofit/>
          </a:bodyPr>
          <a:lstStyle/>
          <a:p>
            <a:pPr algn="ctr" indent="0" marL="0">
              <a:lnSpc>
                <a:spcPts val="1680"/>
              </a:lnSpc>
              <a:buNone/>
            </a:pPr>
            <a:r>
              <a:rPr lang="en-US" sz="1200" b="1" dirty="0">
                <a:solidFill>
                  <a:srgbClr val="1B2533"/>
                </a:solidFill>
                <a:latin typeface="Arial" pitchFamily="34" charset="0"/>
                <a:ea typeface="Arial" pitchFamily="34" charset="-122"/>
                <a:cs typeface="Arial" pitchFamily="34" charset="-120"/>
              </a:rPr>
              <a:t>최종 동작: QUARANTINE FILE</a:t>
            </a:r>
            <a:endParaRPr lang="en-US" sz="1200" dirty="0"/>
          </a:p>
        </p:txBody>
      </p:sp>
      <p:sp>
        <p:nvSpPr>
          <p:cNvPr id="65" name="Text 6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케이스 “Amsi.dll renamed as WinAppXRT”, 운영 환경의 도메인 컨트롤러 (tier 0). 출처: TypeSafe 평가 사이트</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7964"/>
        </a:solidFill>
      </p:bgPr>
    </p:bg>
    <p:spTree>
      <p:nvGrpSpPr>
        <p:cNvPr id="1" name=""/>
        <p:cNvGrpSpPr/>
        <p:nvPr/>
      </p:nvGrpSpPr>
      <p:grpSpPr>
        <a:xfrm>
          <a:off x="0" y="0"/>
          <a:ext cx="0" cy="0"/>
          <a:chOff x="0" y="0"/>
          <a:chExt cx="0" cy="0"/>
        </a:xfrm>
      </p:grpSpPr>
      <p:sp>
        <p:nvSpPr>
          <p:cNvPr id="2" name="Text 0"/>
          <p:cNvSpPr/>
          <p:nvPr/>
        </p:nvSpPr>
        <p:spPr>
          <a:xfrm>
            <a:off x="812800" y="150812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6F8F7"/>
                </a:solidFill>
                <a:latin typeface="Arial" pitchFamily="34" charset="0"/>
                <a:ea typeface="Arial" pitchFamily="34" charset="-122"/>
                <a:cs typeface="Arial" pitchFamily="34" charset="-120"/>
              </a:rPr>
              <a:t>그 케이스가 보여 주는 것</a:t>
            </a:r>
            <a:endParaRPr lang="en-US" sz="1200" dirty="0"/>
          </a:p>
        </p:txBody>
      </p:sp>
      <p:sp>
        <p:nvSpPr>
          <p:cNvPr id="3" name="Text 1"/>
          <p:cNvSpPr/>
          <p:nvPr>
            <p:ph type="title"/>
          </p:nvPr>
        </p:nvSpPr>
        <p:spPr>
          <a:xfrm>
            <a:off x="812800" y="1975445"/>
            <a:ext cx="10883392" cy="726430"/>
          </a:xfrm>
          <a:prstGeom prst="rect">
            <a:avLst/>
          </a:prstGeom>
          <a:noFill/>
          <a:ln/>
        </p:spPr>
        <p:txBody>
          <a:bodyPr wrap="square" lIns="0" tIns="0" rIns="0" bIns="0" rtlCol="0" anchor="t">
            <a:normAutofit/>
          </a:bodyPr>
          <a:lstStyle/>
          <a:p>
            <a:pPr algn="l" indent="0" marL="0">
              <a:lnSpc>
                <a:spcPts val="5520"/>
              </a:lnSpc>
              <a:buNone/>
            </a:pPr>
            <a:r>
              <a:rPr lang="en-US" sz="4800" b="1" i="0" dirty="0">
                <a:solidFill>
                  <a:srgbClr val="F6F8F7"/>
                </a:solidFill>
                <a:latin typeface="Arial" pitchFamily="34" charset="0"/>
                <a:ea typeface="Arial" pitchFamily="34" charset="-122"/>
                <a:cs typeface="Arial" pitchFamily="34" charset="-120"/>
              </a:rPr>
              <a:t>어긋난 곳을 짚을 수 있다</a:t>
            </a:r>
            <a:endParaRPr lang="en-US" sz="4800" dirty="0"/>
          </a:p>
        </p:txBody>
      </p:sp>
      <p:sp>
        <p:nvSpPr>
          <p:cNvPr id="4" name="Text 2"/>
          <p:cNvSpPr/>
          <p:nvPr/>
        </p:nvSpPr>
        <p:spPr>
          <a:xfrm>
            <a:off x="812800" y="2930475"/>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6F8F7"/>
                </a:solidFill>
                <a:latin typeface="Arial" pitchFamily="34" charset="0"/>
                <a:ea typeface="Arial" pitchFamily="34" charset="-122"/>
                <a:cs typeface="Arial" pitchFamily="34" charset="-120"/>
              </a:rPr>
              <a:t>기준 답은 ISOLATE HOST였지만 비교된 세 모델이 모두 QUARANTINE FILE을 골랐습니다. Jev의 기록에서 가장 강한 조치를 떨어뜨린 것은 0.36과 0.50, 두 숫자였어요.</a:t>
            </a:r>
            <a:endParaRPr lang="en-US" sz="2000" dirty="0"/>
          </a:p>
        </p:txBody>
      </p:sp>
      <p:sp>
        <p:nvSpPr>
          <p:cNvPr id="5" name="Text 3"/>
          <p:cNvSpPr/>
          <p:nvPr/>
        </p:nvSpPr>
        <p:spPr>
          <a:xfrm>
            <a:off x="812800" y="3895675"/>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6F8F7"/>
                </a:solidFill>
                <a:latin typeface="Arial" pitchFamily="34" charset="0"/>
                <a:ea typeface="Arial" pitchFamily="34" charset="-122"/>
                <a:cs typeface="Arial" pitchFamily="34" charset="-120"/>
              </a:rPr>
              <a:t>한 질문으로 “이 알림에 어떻게 대응할까”를 물었다면 동작 이름 하나가 돌아와, 들여다볼 곳이 없었을 겁니다.</a:t>
            </a:r>
            <a:endParaRPr lang="en-US" sz="2000" dirty="0"/>
          </a:p>
        </p:txBody>
      </p:sp>
      <p:sp>
        <p:nvSpPr>
          <p:cNvPr id="6" name="Text 4"/>
          <p:cNvSpPr/>
          <p:nvPr/>
        </p:nvSpPr>
        <p:spPr>
          <a:xfrm>
            <a:off x="812800" y="4860875"/>
            <a:ext cx="1088339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6F8F7"/>
                </a:solidFill>
                <a:latin typeface="Arial" pitchFamily="34" charset="0"/>
                <a:ea typeface="Arial" pitchFamily="34" charset="-122"/>
                <a:cs typeface="Arial" pitchFamily="34" charset="-120"/>
              </a:rPr>
              <a:t>다만 0.36만 0.50을 넘었다면 호스트 격리가 나왔을지는 공개 기록으로 알 수 없습니다.</a:t>
            </a:r>
            <a:endParaRPr lang="en-US" sz="15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8F7"/>
                </a:solidFill>
                <a:latin typeface="Arial" pitchFamily="34" charset="0"/>
                <a:ea typeface="Arial" pitchFamily="34" charset="-122"/>
                <a:cs typeface="Arial" pitchFamily="34" charset="-120"/>
              </a:rPr>
              <a:t>출처: TypeSafe 평가 사이트 “Security Incidents”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벤더의 요약: smart if-statements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맞는 자리</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31045"/>
          <a:ext cx="10553700" cy="2476500"/>
        </p:xfrm>
        <a:graphic>
          <a:graphicData uri="http://schemas.openxmlformats.org/drawingml/2006/table">
            <a:tbl>
              <a:tblPr/>
              <a:tblGrid>
                <a:gridCol w="2532888"/>
                <a:gridCol w="4010406"/>
                <a:gridCol w="4010406"/>
              </a:tblGrid>
              <a:tr h="412750">
                <a:tc>
                  <a:txBody>
                    <a:bodyPr/>
                    <a:lstStyle/>
                    <a:p>
                      <a:pPr indent="0" marL="0">
                        <a:lnSpc>
                          <a:spcPts val="2100"/>
                        </a:lnSpc>
                        <a:buNone/>
                      </a:pPr>
                      <a:r>
                        <a:rPr lang="en-US" sz="1500" b="1" dirty="0">
                          <a:solidFill>
                            <a:srgbClr val="F6F8F7"/>
                          </a:solidFill>
                          <a:latin typeface="Arial" pitchFamily="34" charset="0"/>
                          <a:ea typeface="Arial" pitchFamily="34" charset="-122"/>
                          <a:cs typeface="Arial" pitchFamily="34" charset="-120"/>
                        </a:rPr>
                        <a:t>결정 모양</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126352"/>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26352"/>
                      </a:solidFill>
                      <a:prstDash val="solid"/>
                      <a:round/>
                      <a:headEnd type="none" w="med" len="med"/>
                      <a:tailEnd type="none" w="med" len="med"/>
                    </a:lnB>
                    <a:solidFill>
                      <a:srgbClr val="117964"/>
                    </a:solidFill>
                  </a:tcPr>
                </a:tc>
                <a:tc>
                  <a:txBody>
                    <a:bodyPr/>
                    <a:lstStyle/>
                    <a:p>
                      <a:pPr indent="0" marL="0">
                        <a:lnSpc>
                          <a:spcPts val="2100"/>
                        </a:lnSpc>
                        <a:buNone/>
                      </a:pPr>
                      <a:r>
                        <a:rPr lang="en-US" sz="1500" b="1" dirty="0">
                          <a:solidFill>
                            <a:srgbClr val="F6F8F7"/>
                          </a:solidFill>
                          <a:latin typeface="Arial" pitchFamily="34" charset="0"/>
                          <a:ea typeface="Arial" pitchFamily="34" charset="-122"/>
                          <a:cs typeface="Arial" pitchFamily="34" charset="-120"/>
                        </a:rPr>
                        <a:t>이럴 때</a:t>
                      </a:r>
                      <a:endParaRPr lang="en-US" sz="1500" dirty="0">
                        <a:latin typeface="Arial" charset="0"/>
                        <a:ea typeface="Arial" charset="0"/>
                        <a:cs typeface="Arial" charset="0"/>
                      </a:endParaRPr>
                    </a:p>
                  </a:txBody>
                  <a:tcPr marL="66675" marR="66675" marT="66675" marB="66675" anchor="t">
                    <a:lnL w="12700" cap="flat" cmpd="sng" algn="ctr">
                      <a:solidFill>
                        <a:srgbClr val="126352"/>
                      </a:solidFill>
                      <a:prstDash val="solid"/>
                      <a:round/>
                      <a:headEnd type="none" w="med" len="med"/>
                      <a:tailEnd type="none" w="med" len="med"/>
                    </a:lnL>
                    <a:lnR w="12700" cap="flat" cmpd="sng" algn="ctr">
                      <a:solidFill>
                        <a:srgbClr val="126352"/>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26352"/>
                      </a:solidFill>
                      <a:prstDash val="solid"/>
                      <a:round/>
                      <a:headEnd type="none" w="med" len="med"/>
                      <a:tailEnd type="none" w="med" len="med"/>
                    </a:lnB>
                    <a:solidFill>
                      <a:srgbClr val="117964"/>
                    </a:solidFill>
                  </a:tcPr>
                </a:tc>
                <a:tc>
                  <a:txBody>
                    <a:bodyPr/>
                    <a:lstStyle/>
                    <a:p>
                      <a:pPr indent="0" marL="0">
                        <a:lnSpc>
                          <a:spcPts val="2100"/>
                        </a:lnSpc>
                        <a:buNone/>
                      </a:pPr>
                      <a:r>
                        <a:rPr lang="en-US" sz="1500" b="1" dirty="0">
                          <a:solidFill>
                            <a:srgbClr val="F6F8F7"/>
                          </a:solidFill>
                          <a:latin typeface="Arial" pitchFamily="34" charset="0"/>
                          <a:ea typeface="Arial" pitchFamily="34" charset="-122"/>
                          <a:cs typeface="Arial" pitchFamily="34" charset="-120"/>
                        </a:rPr>
                        <a:t>예</a:t>
                      </a:r>
                      <a:endParaRPr lang="en-US" sz="1500" dirty="0">
                        <a:latin typeface="Arial" charset="0"/>
                        <a:ea typeface="Arial" charset="0"/>
                        <a:cs typeface="Arial" charset="0"/>
                      </a:endParaRPr>
                    </a:p>
                  </a:txBody>
                  <a:tcPr marL="66675" marR="66675" marT="66675" marB="66675" anchor="t">
                    <a:lnL w="12700" cap="flat" cmpd="sng" algn="ctr">
                      <a:solidFill>
                        <a:srgbClr val="126352"/>
                      </a:solidFill>
                      <a:prstDash val="solid"/>
                      <a:round/>
                      <a:headEnd type="none" w="med" len="med"/>
                      <a:tailEnd type="none" w="med" len="med"/>
                    </a:lnL>
                    <a:lnR w="12700" cap="flat" cmpd="sng" algn="ctr">
                      <a:solidFill>
                        <a:srgbClr val="126352"/>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26352"/>
                      </a:solidFill>
                      <a:prstDash val="solid"/>
                      <a:round/>
                      <a:headEnd type="none" w="med" len="med"/>
                      <a:tailEnd type="none" w="med" len="med"/>
                    </a:lnB>
                    <a:solidFill>
                      <a:srgbClr val="117964"/>
                    </a:solidFill>
                  </a:tcPr>
                </a:tc>
              </a:tr>
              <a:tr h="412750">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Classification</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126352"/>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하나의 범주가 이겨야 할 때</a:t>
                      </a:r>
                      <a:endParaRPr lang="en-US" sz="1500" dirty="0">
                        <a:latin typeface="Arial" charset="0"/>
                        <a:ea typeface="Arial" charset="0"/>
                        <a:cs typeface="Arial" charset="0"/>
                      </a:endParaRPr>
                    </a:p>
                  </a:txBody>
                  <a:tcPr marL="66675" marR="66675" marT="66675" marB="66675" anchor="t">
                    <a:lnL w="12700" cap="flat" cmpd="sng" algn="ctr">
                      <a:solidFill>
                        <a:srgbClr val="BBC0BE"/>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126352"/>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의도, 주제, 부서, 위험 유형</a:t>
                      </a:r>
                      <a:endParaRPr lang="en-US" sz="1500" dirty="0">
                        <a:latin typeface="Arial" charset="0"/>
                        <a:ea typeface="Arial" charset="0"/>
                        <a:cs typeface="Arial" charset="0"/>
                      </a:endParaRPr>
                    </a:p>
                  </a:txBody>
                  <a:tcPr marL="66675" marR="66675" marT="66675" marB="66675" anchor="t">
                    <a:lnL w="12700" cap="flat" cmpd="sng" algn="ctr">
                      <a:solidFill>
                        <a:srgbClr val="BBC0BE"/>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126352"/>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r>
              <a:tr h="412750">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Detection</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BC0BE"/>
                      </a:solidFill>
                      <a:prstDash val="solid"/>
                      <a:round/>
                      <a:headEnd type="none" w="med" len="med"/>
                      <a:tailEnd type="none" w="med" len="med"/>
                    </a:lnT>
                    <a:lnB w="12700" cap="flat" cmpd="sng" algn="ctr">
                      <a:solidFill>
                        <a:srgbClr val="C4C6C5"/>
                      </a:solidFill>
                      <a:prstDash val="solid"/>
                      <a:round/>
                      <a:headEnd type="none" w="med" len="med"/>
                      <a:tailEnd type="none" w="med" len="med"/>
                    </a:lnB>
                    <a:solidFill>
                      <a:srgbClr val="F6F8F7"/>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어떤 성질이 있을 확률이 필요할 때</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BC0BE"/>
                      </a:solidFill>
                      <a:prstDash val="solid"/>
                      <a:round/>
                      <a:headEnd type="none" w="med" len="med"/>
                      <a:tailEnd type="none" w="med" len="med"/>
                    </a:lnT>
                    <a:lnB w="12700" cap="flat" cmpd="sng" algn="ctr">
                      <a:solidFill>
                        <a:srgbClr val="C4C6C5"/>
                      </a:solidFill>
                      <a:prstDash val="solid"/>
                      <a:round/>
                      <a:headEnd type="none" w="med" len="med"/>
                      <a:tailEnd type="none" w="med" len="med"/>
                    </a:lnB>
                    <a:solidFill>
                      <a:srgbClr val="F6F8F7"/>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스팸, 사기, 긴급성, 민감 정보</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BC0BE"/>
                      </a:solidFill>
                      <a:prstDash val="solid"/>
                      <a:round/>
                      <a:headEnd type="none" w="med" len="med"/>
                      <a:tailEnd type="none" w="med" len="med"/>
                    </a:lnT>
                    <a:lnB w="12700" cap="flat" cmpd="sng" algn="ctr">
                      <a:solidFill>
                        <a:srgbClr val="C4C6C5"/>
                      </a:solidFill>
                      <a:prstDash val="solid"/>
                      <a:round/>
                      <a:headEnd type="none" w="med" len="med"/>
                      <a:tailEnd type="none" w="med" len="med"/>
                    </a:lnB>
                    <a:solidFill>
                      <a:srgbClr val="F6F8F7"/>
                    </a:solidFill>
                  </a:tcPr>
                </a:tc>
              </a:tr>
              <a:tr h="412750">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Scoring</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순서 있는 기준표에 답이 놓일 때</a:t>
                      </a:r>
                      <a:endParaRPr lang="en-US" sz="1500" dirty="0">
                        <a:latin typeface="Arial" charset="0"/>
                        <a:ea typeface="Arial" charset="0"/>
                        <a:cs typeface="Arial" charset="0"/>
                      </a:endParaRPr>
                    </a:p>
                  </a:txBody>
                  <a:tcPr marL="66675" marR="66675" marT="66675" marB="66675" anchor="t">
                    <a:lnL w="12700" cap="flat" cmpd="sng" algn="ctr">
                      <a:solidFill>
                        <a:srgbClr val="BBC0BE"/>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심각도, 관련성, 품질, 불만 정도</a:t>
                      </a:r>
                      <a:endParaRPr lang="en-US" sz="1500" dirty="0">
                        <a:latin typeface="Arial" charset="0"/>
                        <a:ea typeface="Arial" charset="0"/>
                        <a:cs typeface="Arial" charset="0"/>
                      </a:endParaRPr>
                    </a:p>
                  </a:txBody>
                  <a:tcPr marL="66675" marR="66675" marT="66675" marB="66675" anchor="t">
                    <a:lnL w="12700" cap="flat" cmpd="sng" algn="ctr">
                      <a:solidFill>
                        <a:srgbClr val="BBC0BE"/>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r>
              <a:tr h="412750">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Routing</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BC0BE"/>
                      </a:solidFill>
                      <a:prstDash val="solid"/>
                      <a:round/>
                      <a:headEnd type="none" w="med" len="med"/>
                      <a:tailEnd type="none" w="med" len="med"/>
                    </a:lnT>
                    <a:lnB w="12700" cap="flat" cmpd="sng" algn="ctr">
                      <a:solidFill>
                        <a:srgbClr val="C4C6C5"/>
                      </a:solidFill>
                      <a:prstDash val="solid"/>
                      <a:round/>
                      <a:headEnd type="none" w="med" len="med"/>
                      <a:tailEnd type="none" w="med" len="med"/>
                    </a:lnB>
                    <a:solidFill>
                      <a:srgbClr val="F6F8F7"/>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범주가 다음 코드 경로를 고를 때</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BC0BE"/>
                      </a:solidFill>
                      <a:prstDash val="solid"/>
                      <a:round/>
                      <a:headEnd type="none" w="med" len="med"/>
                      <a:tailEnd type="none" w="med" len="med"/>
                    </a:lnT>
                    <a:lnB w="12700" cap="flat" cmpd="sng" algn="ctr">
                      <a:solidFill>
                        <a:srgbClr val="C4C6C5"/>
                      </a:solidFill>
                      <a:prstDash val="solid"/>
                      <a:round/>
                      <a:headEnd type="none" w="med" len="med"/>
                      <a:tailEnd type="none" w="med" len="med"/>
                    </a:lnB>
                    <a:solidFill>
                      <a:srgbClr val="F6F8F7"/>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도구 사용, 에스컬레이션, 모델 라우팅</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BC0BE"/>
                      </a:solidFill>
                      <a:prstDash val="solid"/>
                      <a:round/>
                      <a:headEnd type="none" w="med" len="med"/>
                      <a:tailEnd type="none" w="med" len="med"/>
                    </a:lnT>
                    <a:lnB w="12700" cap="flat" cmpd="sng" algn="ctr">
                      <a:solidFill>
                        <a:srgbClr val="C4C6C5"/>
                      </a:solidFill>
                      <a:prstDash val="solid"/>
                      <a:round/>
                      <a:headEnd type="none" w="med" len="med"/>
                      <a:tailEnd type="none" w="med" len="med"/>
                    </a:lnB>
                    <a:solidFill>
                      <a:srgbClr val="F6F8F7"/>
                    </a:solidFill>
                  </a:tcPr>
                </a:tc>
              </a:tr>
              <a:tr h="412750">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Verification</a:t>
                      </a:r>
                      <a:endParaRPr lang="en-US" sz="1500" dirty="0">
                        <a:latin typeface="Arial" charset="0"/>
                        <a:ea typeface="Arial" charset="0"/>
                        <a:cs typeface="Arial" charset="0"/>
                      </a:endParaRPr>
                    </a:p>
                  </a:txBody>
                  <a:tcPr marL="66675" marR="66675" marT="66675" marB="66675" anchor="t">
                    <a:lnL w="12700" cap="flat" cmpd="sng" algn="ctr">
                      <a:solidFill>
                        <a:srgbClr val="C4C6C5"/>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산출물의 특정 실패를 점검할 때</a:t>
                      </a:r>
                      <a:endParaRPr lang="en-US" sz="1500" dirty="0">
                        <a:latin typeface="Arial" charset="0"/>
                        <a:ea typeface="Arial" charset="0"/>
                        <a:cs typeface="Arial" charset="0"/>
                      </a:endParaRPr>
                    </a:p>
                  </a:txBody>
                  <a:tcPr marL="66675" marR="66675" marT="66675" marB="66675" anchor="t">
                    <a:lnL w="12700" cap="flat" cmpd="sng" algn="ctr">
                      <a:solidFill>
                        <a:srgbClr val="BBC0BE"/>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c>
                  <a:txBody>
                    <a:bodyPr/>
                    <a:lstStyle/>
                    <a:p>
                      <a:pPr indent="0" marL="0">
                        <a:lnSpc>
                          <a:spcPts val="2100"/>
                        </a:lnSpc>
                        <a:buNone/>
                      </a:pPr>
                      <a:r>
                        <a:rPr lang="en-US" sz="1500" dirty="0">
                          <a:solidFill>
                            <a:srgbClr val="1B2533"/>
                          </a:solidFill>
                          <a:latin typeface="Arial" pitchFamily="34" charset="0"/>
                          <a:ea typeface="Arial" pitchFamily="34" charset="-122"/>
                          <a:cs typeface="Arial" pitchFamily="34" charset="-120"/>
                        </a:rPr>
                        <a:t>인용 근거, 정책 위반, 도구 호출 오류</a:t>
                      </a:r>
                      <a:endParaRPr lang="en-US" sz="1500" dirty="0">
                        <a:latin typeface="Arial" charset="0"/>
                        <a:ea typeface="Arial" charset="0"/>
                        <a:cs typeface="Arial" charset="0"/>
                      </a:endParaRPr>
                    </a:p>
                  </a:txBody>
                  <a:tcPr marL="66675" marR="66675" marT="66675" marB="66675" anchor="t">
                    <a:lnL w="12700" cap="flat" cmpd="sng" algn="ctr">
                      <a:solidFill>
                        <a:srgbClr val="BBC0BE"/>
                      </a:solidFill>
                      <a:prstDash val="solid"/>
                      <a:round/>
                      <a:headEnd type="none" w="med" len="med"/>
                      <a:tailEnd type="none" w="med" len="med"/>
                    </a:lnL>
                    <a:lnR w="12700" cap="flat" cmpd="sng" algn="ctr">
                      <a:solidFill>
                        <a:srgbClr val="BBC0BE"/>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BC0BE"/>
                      </a:solidFill>
                      <a:prstDash val="solid"/>
                      <a:round/>
                      <a:headEnd type="none" w="med" len="med"/>
                      <a:tailEnd type="none" w="med" len="med"/>
                    </a:lnB>
                    <a:solidFill>
                      <a:srgbClr val="EAF0EE"/>
                    </a:solidFill>
                  </a:tcPr>
                </a:tc>
              </a:tr>
            </a:tbl>
          </a:graphicData>
        </a:graphic>
      </p:graphicFrame>
      <p:sp>
        <p:nvSpPr>
          <p:cNvPr id="5" name="Text 2"/>
          <p:cNvSpPr/>
          <p:nvPr/>
        </p:nvSpPr>
        <p:spPr>
          <a:xfrm>
            <a:off x="812800" y="5556250"/>
            <a:ext cx="1088339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B2533"/>
                </a:solidFill>
                <a:latin typeface="Arial" pitchFamily="34" charset="0"/>
                <a:ea typeface="Arial" pitchFamily="34" charset="-122"/>
                <a:cs typeface="Arial" pitchFamily="34" charset="-120"/>
              </a:rPr>
              <a:t>LLM을 밀어내는 자리보다 LLM의 앞이나 옆에 놓이는 자리가 많습니다. 어느 LLM으로 보낼지 정하는 모델 라우팅이 그 예예요.</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두 조건으로 묶은 것은 필자의 해석입니다. 출처: TypeSafe “Use case map”, “Intent routing”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LLM의 앞이나 옆에 놓이는 자리</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의도 라우팅</a:t>
            </a:r>
            <a:endParaRPr lang="en-US" sz="3200" dirty="0"/>
          </a:p>
        </p:txBody>
      </p:sp>
      <p:sp>
        <p:nvSpPr>
          <p:cNvPr id="4" name="Shape 2"/>
          <p:cNvSpPr/>
          <p:nvPr/>
        </p:nvSpPr>
        <p:spPr>
          <a:xfrm>
            <a:off x="815975" y="2987675"/>
            <a:ext cx="1898650" cy="1009650"/>
          </a:xfrm>
          <a:prstGeom prst="roundRect">
            <a:avLst>
              <a:gd name="adj" fmla="val 9748"/>
            </a:avLst>
          </a:prstGeom>
          <a:solidFill>
            <a:srgbClr val="EAF0EE"/>
          </a:solidFill>
          <a:ln w="6350">
            <a:solidFill>
              <a:srgbClr val="D3DDD9"/>
            </a:solidFill>
            <a:prstDash val="solid"/>
          </a:ln>
        </p:spPr>
      </p:sp>
      <p:sp>
        <p:nvSpPr>
          <p:cNvPr id="5" name="Text 3"/>
          <p:cNvSpPr/>
          <p:nvPr/>
        </p:nvSpPr>
        <p:spPr>
          <a:xfrm>
            <a:off x="996950" y="3242965"/>
            <a:ext cx="15875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고객 메시지</a:t>
            </a:r>
            <a:endParaRPr lang="en-US" sz="1500" dirty="0"/>
          </a:p>
        </p:txBody>
      </p:sp>
      <p:sp>
        <p:nvSpPr>
          <p:cNvPr id="6" name="Text 4"/>
          <p:cNvSpPr/>
          <p:nvPr/>
        </p:nvSpPr>
        <p:spPr>
          <a:xfrm>
            <a:off x="996950" y="3528715"/>
            <a:ext cx="1587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들어온 요청 하나</a:t>
            </a:r>
            <a:endParaRPr lang="en-US" sz="1200" dirty="0"/>
          </a:p>
        </p:txBody>
      </p:sp>
      <p:sp>
        <p:nvSpPr>
          <p:cNvPr id="7" name="Shape 5"/>
          <p:cNvSpPr/>
          <p:nvPr/>
        </p:nvSpPr>
        <p:spPr>
          <a:xfrm>
            <a:off x="3565525" y="2803525"/>
            <a:ext cx="2393950" cy="1377950"/>
          </a:xfrm>
          <a:prstGeom prst="roundRect">
            <a:avLst>
              <a:gd name="adj" fmla="val 6682"/>
            </a:avLst>
          </a:prstGeom>
          <a:solidFill>
            <a:srgbClr val="E4EEEA"/>
          </a:solidFill>
          <a:ln w="19050">
            <a:solidFill>
              <a:srgbClr val="117964"/>
            </a:solidFill>
            <a:prstDash val="solid"/>
          </a:ln>
        </p:spPr>
      </p:sp>
      <p:sp>
        <p:nvSpPr>
          <p:cNvPr id="8" name="Text 6"/>
          <p:cNvSpPr/>
          <p:nvPr/>
        </p:nvSpPr>
        <p:spPr>
          <a:xfrm>
            <a:off x="3752850" y="3117255"/>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7964"/>
                </a:solidFill>
                <a:latin typeface="Arial" pitchFamily="34" charset="0"/>
                <a:ea typeface="Arial" pitchFamily="34" charset="-122"/>
                <a:cs typeface="Arial" pitchFamily="34" charset="-120"/>
              </a:rPr>
              <a:t>모델</a:t>
            </a:r>
            <a:endParaRPr lang="en-US" sz="1200" dirty="0"/>
          </a:p>
        </p:txBody>
      </p:sp>
      <p:sp>
        <p:nvSpPr>
          <p:cNvPr id="9" name="Text 7"/>
          <p:cNvSpPr/>
          <p:nvPr/>
        </p:nvSpPr>
        <p:spPr>
          <a:xfrm>
            <a:off x="3752850" y="3368675"/>
            <a:ext cx="207987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Jev: 의도 분류</a:t>
            </a:r>
            <a:endParaRPr lang="en-US" sz="1500" dirty="0"/>
          </a:p>
        </p:txBody>
      </p:sp>
      <p:sp>
        <p:nvSpPr>
          <p:cNvPr id="10" name="Text 8"/>
          <p:cNvSpPr/>
          <p:nvPr/>
        </p:nvSpPr>
        <p:spPr>
          <a:xfrm>
            <a:off x="3752850" y="3654425"/>
            <a:ext cx="20798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533"/>
                </a:solidFill>
                <a:latin typeface="Arial" pitchFamily="34" charset="0"/>
                <a:ea typeface="Arial" pitchFamily="34" charset="-122"/>
                <a:cs typeface="Arial" pitchFamily="34" charset="-120"/>
              </a:rPr>
              <a:t>Choice 하나와 확신도</a:t>
            </a:r>
            <a:endParaRPr lang="en-US" sz="1200" dirty="0"/>
          </a:p>
        </p:txBody>
      </p:sp>
      <p:sp>
        <p:nvSpPr>
          <p:cNvPr id="11" name="Shape 9"/>
          <p:cNvSpPr/>
          <p:nvPr/>
        </p:nvSpPr>
        <p:spPr>
          <a:xfrm>
            <a:off x="6864350" y="1911350"/>
            <a:ext cx="4508500" cy="812800"/>
          </a:xfrm>
          <a:prstGeom prst="roundRect">
            <a:avLst>
              <a:gd name="adj" fmla="val 11719"/>
            </a:avLst>
          </a:prstGeom>
          <a:solidFill>
            <a:srgbClr val="F6E9DA"/>
          </a:solidFill>
          <a:ln w="12700">
            <a:solidFill>
              <a:srgbClr val="A64B0B"/>
            </a:solidFill>
            <a:prstDash val="solid"/>
          </a:ln>
        </p:spPr>
      </p:sp>
      <p:sp>
        <p:nvSpPr>
          <p:cNvPr id="12" name="Text 10"/>
          <p:cNvSpPr/>
          <p:nvPr/>
        </p:nvSpPr>
        <p:spPr>
          <a:xfrm>
            <a:off x="7073900" y="2068215"/>
            <a:ext cx="421208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결정적 코드</a:t>
            </a:r>
            <a:endParaRPr lang="en-US" sz="1500" dirty="0"/>
          </a:p>
        </p:txBody>
      </p:sp>
      <p:sp>
        <p:nvSpPr>
          <p:cNvPr id="13" name="Text 11"/>
          <p:cNvSpPr/>
          <p:nvPr/>
        </p:nvSpPr>
        <p:spPr>
          <a:xfrm>
            <a:off x="7073900" y="2353965"/>
            <a:ext cx="42120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주문 상태 문의</a:t>
            </a:r>
            <a:endParaRPr lang="en-US" sz="1200" dirty="0"/>
          </a:p>
        </p:txBody>
      </p:sp>
      <p:sp>
        <p:nvSpPr>
          <p:cNvPr id="14" name="Shape 12"/>
          <p:cNvSpPr/>
          <p:nvPr/>
        </p:nvSpPr>
        <p:spPr>
          <a:xfrm>
            <a:off x="6864350" y="3086100"/>
            <a:ext cx="4508500" cy="812800"/>
          </a:xfrm>
          <a:prstGeom prst="roundRect">
            <a:avLst>
              <a:gd name="adj" fmla="val 11719"/>
            </a:avLst>
          </a:prstGeom>
          <a:solidFill>
            <a:srgbClr val="E4EEEA"/>
          </a:solidFill>
          <a:ln w="12700">
            <a:solidFill>
              <a:srgbClr val="117964"/>
            </a:solidFill>
            <a:prstDash val="solid"/>
          </a:ln>
        </p:spPr>
      </p:sp>
      <p:sp>
        <p:nvSpPr>
          <p:cNvPr id="15" name="Text 13"/>
          <p:cNvSpPr/>
          <p:nvPr/>
        </p:nvSpPr>
        <p:spPr>
          <a:xfrm>
            <a:off x="7073900" y="3242965"/>
            <a:ext cx="421208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전문 LLM</a:t>
            </a:r>
            <a:endParaRPr lang="en-US" sz="1500" dirty="0"/>
          </a:p>
        </p:txBody>
      </p:sp>
      <p:sp>
        <p:nvSpPr>
          <p:cNvPr id="16" name="Text 14"/>
          <p:cNvSpPr/>
          <p:nvPr/>
        </p:nvSpPr>
        <p:spPr>
          <a:xfrm>
            <a:off x="7073900" y="3528715"/>
            <a:ext cx="42120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상품 질문, 반품과 교환 문의</a:t>
            </a:r>
            <a:endParaRPr lang="en-US" sz="1200" dirty="0"/>
          </a:p>
        </p:txBody>
      </p:sp>
      <p:sp>
        <p:nvSpPr>
          <p:cNvPr id="17" name="Shape 15"/>
          <p:cNvSpPr/>
          <p:nvPr/>
        </p:nvSpPr>
        <p:spPr>
          <a:xfrm>
            <a:off x="6864350" y="4260850"/>
            <a:ext cx="4508500" cy="812800"/>
          </a:xfrm>
          <a:prstGeom prst="roundRect">
            <a:avLst>
              <a:gd name="adj" fmla="val 11719"/>
            </a:avLst>
          </a:prstGeom>
          <a:solidFill>
            <a:srgbClr val="EAF0EE"/>
          </a:solidFill>
          <a:ln w="12700">
            <a:solidFill>
              <a:srgbClr val="4A5568"/>
            </a:solidFill>
            <a:prstDash val="solid"/>
          </a:ln>
        </p:spPr>
      </p:sp>
      <p:sp>
        <p:nvSpPr>
          <p:cNvPr id="18" name="Text 16"/>
          <p:cNvSpPr/>
          <p:nvPr/>
        </p:nvSpPr>
        <p:spPr>
          <a:xfrm>
            <a:off x="7073900" y="4417715"/>
            <a:ext cx="421208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B2533"/>
                </a:solidFill>
                <a:latin typeface="Arial" pitchFamily="34" charset="0"/>
                <a:ea typeface="Arial" pitchFamily="34" charset="-122"/>
                <a:cs typeface="Arial" pitchFamily="34" charset="-120"/>
              </a:rPr>
              <a:t>사람</a:t>
            </a:r>
            <a:endParaRPr lang="en-US" sz="1500" dirty="0"/>
          </a:p>
        </p:txBody>
      </p:sp>
      <p:sp>
        <p:nvSpPr>
          <p:cNvPr id="19" name="Text 17"/>
          <p:cNvSpPr/>
          <p:nvPr/>
        </p:nvSpPr>
        <p:spPr>
          <a:xfrm>
            <a:off x="7073900" y="4703465"/>
            <a:ext cx="42120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확신도가 낮은 메시지</a:t>
            </a:r>
            <a:endParaRPr lang="en-US" sz="1200" dirty="0"/>
          </a:p>
        </p:txBody>
      </p:sp>
      <p:pic>
        <p:nvPicPr>
          <p:cNvPr id="20" name="Image 0" descr="connector">    </p:cNvPr>
          <p:cNvPicPr>
            <a:picLocks noChangeAspect="1"/>
          </p:cNvPicPr>
          <p:nvPr/>
        </p:nvPicPr>
        <p:blipFill>
          <a:blip r:embed="rId1"/>
          <a:srcRect l="0" r="0" t="0" b="0"/>
          <a:stretch/>
        </p:blipFill>
        <p:spPr>
          <a:xfrm>
            <a:off x="2667000" y="3441700"/>
            <a:ext cx="939800" cy="101600"/>
          </a:xfrm>
          <a:prstGeom prst="rect">
            <a:avLst/>
          </a:prstGeom>
        </p:spPr>
      </p:pic>
      <p:pic>
        <p:nvPicPr>
          <p:cNvPr id="21" name="Image 1" descr="connector">    </p:cNvPr>
          <p:cNvPicPr>
            <a:picLocks noChangeAspect="1"/>
          </p:cNvPicPr>
          <p:nvPr/>
        </p:nvPicPr>
        <p:blipFill>
          <a:blip r:embed="rId2"/>
          <a:srcRect l="0" r="0" t="0" b="0"/>
          <a:stretch/>
        </p:blipFill>
        <p:spPr>
          <a:xfrm>
            <a:off x="5918200" y="3441700"/>
            <a:ext cx="546100" cy="101600"/>
          </a:xfrm>
          <a:prstGeom prst="rect">
            <a:avLst/>
          </a:prstGeom>
        </p:spPr>
      </p:pic>
      <p:pic>
        <p:nvPicPr>
          <p:cNvPr id="22" name="Image 2" descr="connector">    </p:cNvPr>
          <p:cNvPicPr>
            <a:picLocks noChangeAspect="1"/>
          </p:cNvPicPr>
          <p:nvPr/>
        </p:nvPicPr>
        <p:blipFill>
          <a:blip r:embed="rId3"/>
          <a:srcRect l="0" r="0" t="0" b="0"/>
          <a:stretch/>
        </p:blipFill>
        <p:spPr>
          <a:xfrm>
            <a:off x="6362700" y="2266950"/>
            <a:ext cx="101600" cy="2451100"/>
          </a:xfrm>
          <a:prstGeom prst="rect">
            <a:avLst/>
          </a:prstGeom>
        </p:spPr>
      </p:pic>
      <p:pic>
        <p:nvPicPr>
          <p:cNvPr id="23" name="Image 3" descr="connector">    </p:cNvPr>
          <p:cNvPicPr>
            <a:picLocks noChangeAspect="1"/>
          </p:cNvPicPr>
          <p:nvPr/>
        </p:nvPicPr>
        <p:blipFill>
          <a:blip r:embed="rId4"/>
          <a:srcRect l="0" r="0" t="0" b="0"/>
          <a:stretch/>
        </p:blipFill>
        <p:spPr>
          <a:xfrm>
            <a:off x="6362700" y="2266950"/>
            <a:ext cx="546100" cy="101600"/>
          </a:xfrm>
          <a:prstGeom prst="rect">
            <a:avLst/>
          </a:prstGeom>
        </p:spPr>
      </p:pic>
      <p:pic>
        <p:nvPicPr>
          <p:cNvPr id="24" name="Image 4" descr="connector">    </p:cNvPr>
          <p:cNvPicPr>
            <a:picLocks noChangeAspect="1"/>
          </p:cNvPicPr>
          <p:nvPr/>
        </p:nvPicPr>
        <p:blipFill>
          <a:blip r:embed="rId5"/>
          <a:srcRect l="0" r="0" t="0" b="0"/>
          <a:stretch/>
        </p:blipFill>
        <p:spPr>
          <a:xfrm>
            <a:off x="6362700" y="3441700"/>
            <a:ext cx="546100" cy="101600"/>
          </a:xfrm>
          <a:prstGeom prst="rect">
            <a:avLst/>
          </a:prstGeom>
        </p:spPr>
      </p:pic>
      <p:pic>
        <p:nvPicPr>
          <p:cNvPr id="25" name="Image 5" descr="connector">    </p:cNvPr>
          <p:cNvPicPr>
            <a:picLocks noChangeAspect="1"/>
          </p:cNvPicPr>
          <p:nvPr/>
        </p:nvPicPr>
        <p:blipFill>
          <a:blip r:embed="rId6"/>
          <a:srcRect l="0" r="0" t="0" b="0"/>
          <a:stretch/>
        </p:blipFill>
        <p:spPr>
          <a:xfrm>
            <a:off x="6362700" y="4616450"/>
            <a:ext cx="546100" cy="101600"/>
          </a:xfrm>
          <a:prstGeom prst="rect">
            <a:avLst/>
          </a:prstGeom>
        </p:spPr>
      </p:pic>
      <p:sp>
        <p:nvSpPr>
          <p:cNvPr id="26" name="Text 18"/>
          <p:cNvSpPr/>
          <p:nvPr/>
        </p:nvSpPr>
        <p:spPr>
          <a:xfrm>
            <a:off x="812800" y="53086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533"/>
                </a:solidFill>
                <a:latin typeface="Arial" pitchFamily="34" charset="0"/>
                <a:ea typeface="Arial" pitchFamily="34" charset="-122"/>
                <a:cs typeface="Arial" pitchFamily="34" charset="-120"/>
              </a:rPr>
              <a:t>Jev가 맡는 것은 어느 처리기로 보낼지라는 판단 하나이고, 답을 쓰는 일은 LLM의 몫입니다</a:t>
            </a:r>
            <a:endParaRPr lang="en-US" sz="1500" dirty="0"/>
          </a:p>
        </p:txBody>
      </p:sp>
      <p:sp>
        <p:nvSpPr>
          <p:cNvPr id="27"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출처: TypeSafe 문서 “Intent routing”, “Use case map”</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A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B6A0"/>
                </a:solidFill>
                <a:latin typeface="Arial" pitchFamily="34" charset="0"/>
                <a:ea typeface="Arial" pitchFamily="34" charset="-122"/>
                <a:cs typeface="Arial" pitchFamily="34" charset="-120"/>
              </a:rPr>
              <a:t>두 조건을 뒤집으면 나오는 자리</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8F7"/>
                </a:solidFill>
                <a:latin typeface="Arial" pitchFamily="34" charset="0"/>
                <a:ea typeface="Arial" pitchFamily="34" charset="-122"/>
                <a:cs typeface="Arial" pitchFamily="34" charset="-120"/>
              </a:rPr>
              <a:t>맞지 않는 자리</a:t>
            </a:r>
            <a:endParaRPr lang="en-US" sz="3200" dirty="0"/>
          </a:p>
        </p:txBody>
      </p:sp>
      <p:sp>
        <p:nvSpPr>
          <p:cNvPr id="4" name="Shape 2"/>
          <p:cNvSpPr/>
          <p:nvPr/>
        </p:nvSpPr>
        <p:spPr>
          <a:xfrm>
            <a:off x="815975" y="2556470"/>
            <a:ext cx="3380284" cy="2012950"/>
          </a:xfrm>
          <a:prstGeom prst="roundRect">
            <a:avLst>
              <a:gd name="adj" fmla="val 4890"/>
            </a:avLst>
          </a:prstGeom>
          <a:solidFill>
            <a:srgbClr val="1B2638"/>
          </a:solidFill>
          <a:ln w="6350">
            <a:solidFill>
              <a:srgbClr val="2E3C52"/>
            </a:solidFill>
            <a:prstDash val="solid"/>
          </a:ln>
        </p:spPr>
      </p:sp>
      <p:sp>
        <p:nvSpPr>
          <p:cNvPr id="5" name="Text 3"/>
          <p:cNvSpPr/>
          <p:nvPr/>
        </p:nvSpPr>
        <p:spPr>
          <a:xfrm>
            <a:off x="1047750" y="2788245"/>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8F7"/>
                </a:solidFill>
                <a:latin typeface="Arial" pitchFamily="34" charset="0"/>
                <a:ea typeface="Arial" pitchFamily="34" charset="-122"/>
                <a:cs typeface="Arial" pitchFamily="34" charset="-120"/>
              </a:rPr>
              <a:t>열린 답의 공간</a:t>
            </a:r>
            <a:endParaRPr lang="en-US" sz="2000" dirty="0"/>
          </a:p>
        </p:txBody>
      </p:sp>
      <p:sp>
        <p:nvSpPr>
          <p:cNvPr id="6" name="Text 4"/>
          <p:cNvSpPr/>
          <p:nvPr/>
        </p:nvSpPr>
        <p:spPr>
          <a:xfrm>
            <a:off x="1047750" y="3194645"/>
            <a:ext cx="3004236"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CF2"/>
                </a:solidFill>
                <a:latin typeface="Arial" pitchFamily="34" charset="0"/>
                <a:ea typeface="Arial" pitchFamily="34" charset="-122"/>
                <a:cs typeface="Arial" pitchFamily="34" charset="-120"/>
              </a:rPr>
              <a:t>문장 생성은 하지 않도록 만들어졌습니다. 코딩 에이전트의 모델을 바꿔 끼우는 용도도 아니에요. 추출은 후보를 먼저 뽑고 Jev가 고르게 합니다.</a:t>
            </a:r>
            <a:endParaRPr lang="en-US" sz="1500" dirty="0"/>
          </a:p>
        </p:txBody>
      </p:sp>
      <p:sp>
        <p:nvSpPr>
          <p:cNvPr id="7" name="Shape 5"/>
          <p:cNvSpPr/>
          <p:nvPr/>
        </p:nvSpPr>
        <p:spPr>
          <a:xfrm>
            <a:off x="4405809" y="2556470"/>
            <a:ext cx="3380333" cy="2012950"/>
          </a:xfrm>
          <a:prstGeom prst="roundRect">
            <a:avLst>
              <a:gd name="adj" fmla="val 4890"/>
            </a:avLst>
          </a:prstGeom>
          <a:solidFill>
            <a:srgbClr val="1B2638"/>
          </a:solidFill>
          <a:ln w="6350">
            <a:solidFill>
              <a:srgbClr val="2E3C52"/>
            </a:solidFill>
            <a:prstDash val="solid"/>
          </a:ln>
        </p:spPr>
      </p:sp>
      <p:sp>
        <p:nvSpPr>
          <p:cNvPr id="8" name="Text 6"/>
          <p:cNvSpPr/>
          <p:nvPr/>
        </p:nvSpPr>
        <p:spPr>
          <a:xfrm>
            <a:off x="4637584" y="2788245"/>
            <a:ext cx="30042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8F7"/>
                </a:solidFill>
                <a:latin typeface="Arial" pitchFamily="34" charset="0"/>
                <a:ea typeface="Arial" pitchFamily="34" charset="-122"/>
                <a:cs typeface="Arial" pitchFamily="34" charset="-120"/>
              </a:rPr>
              <a:t>판단이 아닌 일</a:t>
            </a:r>
            <a:endParaRPr lang="en-US" sz="2000" dirty="0"/>
          </a:p>
        </p:txBody>
      </p:sp>
      <p:sp>
        <p:nvSpPr>
          <p:cNvPr id="9" name="Text 7"/>
          <p:cNvSpPr/>
          <p:nvPr/>
        </p:nvSpPr>
        <p:spPr>
          <a:xfrm>
            <a:off x="4637584" y="3194645"/>
            <a:ext cx="3004287"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CF2"/>
                </a:solidFill>
                <a:latin typeface="Arial" pitchFamily="34" charset="0"/>
                <a:ea typeface="Arial" pitchFamily="34" charset="-122"/>
                <a:cs typeface="Arial" pitchFamily="34" charset="-120"/>
              </a:rPr>
              <a:t>수 세기, 산수, 날짜 비교는 코드에 둡니다. 정규식이나 파서가 찾을 수 있는 단위의 개수는 모델이 더할 것이 없습니다.</a:t>
            </a:r>
            <a:endParaRPr lang="en-US" sz="1500" dirty="0"/>
          </a:p>
        </p:txBody>
      </p:sp>
      <p:sp>
        <p:nvSpPr>
          <p:cNvPr id="10" name="Shape 8"/>
          <p:cNvSpPr/>
          <p:nvPr/>
        </p:nvSpPr>
        <p:spPr>
          <a:xfrm>
            <a:off x="7995692" y="2556470"/>
            <a:ext cx="3380333" cy="2012950"/>
          </a:xfrm>
          <a:prstGeom prst="roundRect">
            <a:avLst>
              <a:gd name="adj" fmla="val 4890"/>
            </a:avLst>
          </a:prstGeom>
          <a:solidFill>
            <a:srgbClr val="1B2638"/>
          </a:solidFill>
          <a:ln w="6350">
            <a:solidFill>
              <a:srgbClr val="2E3C52"/>
            </a:solidFill>
            <a:prstDash val="solid"/>
          </a:ln>
        </p:spPr>
      </p:sp>
      <p:sp>
        <p:nvSpPr>
          <p:cNvPr id="11" name="Text 9"/>
          <p:cNvSpPr/>
          <p:nvPr/>
        </p:nvSpPr>
        <p:spPr>
          <a:xfrm>
            <a:off x="8227467" y="2788245"/>
            <a:ext cx="30042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8F7"/>
                </a:solidFill>
                <a:latin typeface="Arial" pitchFamily="34" charset="0"/>
                <a:ea typeface="Arial" pitchFamily="34" charset="-122"/>
                <a:cs typeface="Arial" pitchFamily="34" charset="-120"/>
              </a:rPr>
              <a:t>1초를 넘는 판단</a:t>
            </a:r>
            <a:endParaRPr lang="en-US" sz="2000" dirty="0"/>
          </a:p>
        </p:txBody>
      </p:sp>
      <p:sp>
        <p:nvSpPr>
          <p:cNvPr id="12" name="Text 10"/>
          <p:cNvSpPr/>
          <p:nvPr/>
        </p:nvSpPr>
        <p:spPr>
          <a:xfrm>
            <a:off x="8227467" y="3194645"/>
            <a:ext cx="3004287"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CF2"/>
                </a:solidFill>
                <a:latin typeface="Arial" pitchFamily="34" charset="0"/>
                <a:ea typeface="Arial" pitchFamily="34" charset="-122"/>
                <a:cs typeface="Arial" pitchFamily="34" charset="-120"/>
              </a:rPr>
              <a:t>한 단계 건너 추론해야 하는 질문에서 고전할 수 있습니다. state에 관계없는 내용이 섞이면 정확도가 떨어져요.</a:t>
            </a:r>
            <a:endParaRPr lang="en-US" sz="1500" dirty="0"/>
          </a:p>
        </p:txBody>
      </p:sp>
      <p:sp>
        <p:nvSpPr>
          <p:cNvPr id="13" name="Text 11"/>
          <p:cNvSpPr/>
          <p:nvPr/>
        </p:nvSpPr>
        <p:spPr>
          <a:xfrm>
            <a:off x="812800" y="5556250"/>
            <a:ext cx="1088339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6F8F7"/>
                </a:solidFill>
                <a:latin typeface="Arial" pitchFamily="34" charset="0"/>
                <a:ea typeface="Arial" pitchFamily="34" charset="-122"/>
                <a:cs typeface="Arial" pitchFamily="34" charset="-120"/>
              </a:rPr>
              <a:t>질문은 늘려도 되지만, state는 질문에 필요한 만큼으로 줄여야 합니다</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출처: TypeSafe 문서 “Jev 1.13 jaggedness”, “Coding agents”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7964"/>
                </a:solidFill>
                <a:latin typeface="Arial" pitchFamily="34" charset="0"/>
                <a:ea typeface="Arial" pitchFamily="34" charset="-122"/>
                <a:cs typeface="Arial" pitchFamily="34" charset="-120"/>
              </a:rPr>
              <a:t>한국어로 서비스를 만든다면</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533"/>
                </a:solidFill>
                <a:latin typeface="Arial" pitchFamily="34" charset="0"/>
                <a:ea typeface="Arial" pitchFamily="34" charset="-122"/>
                <a:cs typeface="Arial" pitchFamily="34" charset="-120"/>
              </a:rPr>
              <a:t>제품 조건</a:t>
            </a:r>
            <a:endParaRPr lang="en-US" sz="3200" dirty="0"/>
          </a:p>
        </p:txBody>
      </p:sp>
      <p:sp>
        <p:nvSpPr>
          <p:cNvPr id="4" name="Shape 2"/>
          <p:cNvSpPr/>
          <p:nvPr/>
        </p:nvSpPr>
        <p:spPr>
          <a:xfrm>
            <a:off x="815975" y="2797175"/>
            <a:ext cx="5200650" cy="1441450"/>
          </a:xfrm>
          <a:prstGeom prst="roundRect">
            <a:avLst>
              <a:gd name="adj" fmla="val 6828"/>
            </a:avLst>
          </a:prstGeom>
          <a:solidFill>
            <a:srgbClr val="EAF0EE"/>
          </a:solidFill>
          <a:ln w="6350">
            <a:solidFill>
              <a:srgbClr val="D3DDD9"/>
            </a:solidFill>
            <a:prstDash val="solid"/>
          </a:ln>
        </p:spPr>
      </p:sp>
      <p:sp>
        <p:nvSpPr>
          <p:cNvPr id="5" name="Text 3"/>
          <p:cNvSpPr/>
          <p:nvPr/>
        </p:nvSpPr>
        <p:spPr>
          <a:xfrm>
            <a:off x="1047750" y="3028950"/>
            <a:ext cx="48792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입력은 텍스트뿐</a:t>
            </a:r>
            <a:endParaRPr lang="en-US" sz="2000" dirty="0"/>
          </a:p>
        </p:txBody>
      </p:sp>
      <p:sp>
        <p:nvSpPr>
          <p:cNvPr id="6" name="Text 4"/>
          <p:cNvSpPr/>
          <p:nvPr/>
        </p:nvSpPr>
        <p:spPr>
          <a:xfrm>
            <a:off x="1047750" y="3435350"/>
            <a:ext cx="487921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이미지, 오디오, 영상, 바이너리는 텍스트나 구조화 필드로 먼저 바꿔 보냅니다</a:t>
            </a:r>
            <a:endParaRPr lang="en-US" sz="1500" dirty="0"/>
          </a:p>
        </p:txBody>
      </p:sp>
      <p:sp>
        <p:nvSpPr>
          <p:cNvPr id="7" name="Shape 5"/>
          <p:cNvSpPr/>
          <p:nvPr/>
        </p:nvSpPr>
        <p:spPr>
          <a:xfrm>
            <a:off x="6172200" y="2794000"/>
            <a:ext cx="5207000" cy="1447800"/>
          </a:xfrm>
          <a:prstGeom prst="roundRect">
            <a:avLst>
              <a:gd name="adj" fmla="val 7018"/>
            </a:avLst>
          </a:prstGeom>
          <a:solidFill>
            <a:srgbClr val="117964"/>
          </a:solidFill>
          <a:ln/>
        </p:spPr>
      </p:sp>
      <p:sp>
        <p:nvSpPr>
          <p:cNvPr id="8" name="Text 6"/>
          <p:cNvSpPr/>
          <p:nvPr/>
        </p:nvSpPr>
        <p:spPr>
          <a:xfrm>
            <a:off x="6400800" y="3022600"/>
            <a:ext cx="489229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8F7"/>
                </a:solidFill>
                <a:latin typeface="Arial" pitchFamily="34" charset="0"/>
                <a:ea typeface="Arial" pitchFamily="34" charset="-122"/>
                <a:cs typeface="Arial" pitchFamily="34" charset="-120"/>
              </a:rPr>
              <a:t>영어가 가장 정확</a:t>
            </a:r>
            <a:endParaRPr lang="en-US" sz="2000" dirty="0"/>
          </a:p>
        </p:txBody>
      </p:sp>
      <p:sp>
        <p:nvSpPr>
          <p:cNvPr id="9" name="Text 7"/>
          <p:cNvSpPr/>
          <p:nvPr/>
        </p:nvSpPr>
        <p:spPr>
          <a:xfrm>
            <a:off x="6400800" y="3429000"/>
            <a:ext cx="489229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6F8F7"/>
                </a:solidFill>
                <a:latin typeface="Arial" pitchFamily="34" charset="0"/>
                <a:ea typeface="Arial" pitchFamily="34" charset="-122"/>
                <a:cs typeface="Arial" pitchFamily="34" charset="-120"/>
              </a:rPr>
              <a:t>영어가 주 학습 언어입니다. 한국어를 포함한 CJK는 처리하지만 같은 정도는 아니라고 벤더가 밝혔어요</a:t>
            </a:r>
            <a:endParaRPr lang="en-US" sz="1500" dirty="0"/>
          </a:p>
        </p:txBody>
      </p:sp>
      <p:sp>
        <p:nvSpPr>
          <p:cNvPr id="10" name="Shape 8"/>
          <p:cNvSpPr/>
          <p:nvPr/>
        </p:nvSpPr>
        <p:spPr>
          <a:xfrm>
            <a:off x="815975" y="4397375"/>
            <a:ext cx="5200650" cy="1441450"/>
          </a:xfrm>
          <a:prstGeom prst="roundRect">
            <a:avLst>
              <a:gd name="adj" fmla="val 6828"/>
            </a:avLst>
          </a:prstGeom>
          <a:solidFill>
            <a:srgbClr val="EAF0EE"/>
          </a:solidFill>
          <a:ln w="6350">
            <a:solidFill>
              <a:srgbClr val="D3DDD9"/>
            </a:solidFill>
            <a:prstDash val="solid"/>
          </a:ln>
        </p:spPr>
      </p:sp>
      <p:sp>
        <p:nvSpPr>
          <p:cNvPr id="11" name="Text 9"/>
          <p:cNvSpPr/>
          <p:nvPr/>
        </p:nvSpPr>
        <p:spPr>
          <a:xfrm>
            <a:off x="1047750" y="4629150"/>
            <a:ext cx="48792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입력을 적대적으로 보지 않음</a:t>
            </a:r>
            <a:endParaRPr lang="en-US" sz="2000" dirty="0"/>
          </a:p>
        </p:txBody>
      </p:sp>
      <p:sp>
        <p:nvSpPr>
          <p:cNvPr id="12" name="Text 10"/>
          <p:cNvSpPr/>
          <p:nvPr/>
        </p:nvSpPr>
        <p:spPr>
          <a:xfrm>
            <a:off x="1047750" y="5035550"/>
            <a:ext cx="487921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state는 데이터로 다루며 적대적 입력으로 가정하지 않습니다. 기준을 명시하고 배포 전에 시험하세요</a:t>
            </a:r>
            <a:endParaRPr lang="en-US" sz="1500" dirty="0"/>
          </a:p>
        </p:txBody>
      </p:sp>
      <p:sp>
        <p:nvSpPr>
          <p:cNvPr id="13" name="Shape 11"/>
          <p:cNvSpPr/>
          <p:nvPr/>
        </p:nvSpPr>
        <p:spPr>
          <a:xfrm>
            <a:off x="6175375" y="4397375"/>
            <a:ext cx="5200650" cy="1441450"/>
          </a:xfrm>
          <a:prstGeom prst="roundRect">
            <a:avLst>
              <a:gd name="adj" fmla="val 6828"/>
            </a:avLst>
          </a:prstGeom>
          <a:solidFill>
            <a:srgbClr val="EAF0EE"/>
          </a:solidFill>
          <a:ln w="6350">
            <a:solidFill>
              <a:srgbClr val="D3DDD9"/>
            </a:solidFill>
            <a:prstDash val="solid"/>
          </a:ln>
        </p:spPr>
      </p:sp>
      <p:sp>
        <p:nvSpPr>
          <p:cNvPr id="14" name="Text 12"/>
          <p:cNvSpPr/>
          <p:nvPr/>
        </p:nvSpPr>
        <p:spPr>
          <a:xfrm>
            <a:off x="6407150" y="4629150"/>
            <a:ext cx="48792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7964"/>
                </a:solidFill>
                <a:latin typeface="Arial" pitchFamily="34" charset="0"/>
                <a:ea typeface="Arial" pitchFamily="34" charset="-122"/>
                <a:cs typeface="Arial" pitchFamily="34" charset="-120"/>
              </a:rPr>
              <a:t>공개 범위가 좁음</a:t>
            </a:r>
            <a:endParaRPr lang="en-US" sz="2000" dirty="0"/>
          </a:p>
        </p:txBody>
      </p:sp>
      <p:sp>
        <p:nvSpPr>
          <p:cNvPr id="15" name="Text 13"/>
          <p:cNvSpPr/>
          <p:nvPr/>
        </p:nvSpPr>
        <p:spPr>
          <a:xfrm>
            <a:off x="6407150" y="5035550"/>
            <a:ext cx="487921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533"/>
                </a:solidFill>
                <a:latin typeface="Arial" pitchFamily="34" charset="0"/>
                <a:ea typeface="Arial" pitchFamily="34" charset="-122"/>
                <a:cs typeface="Arial" pitchFamily="34" charset="-120"/>
              </a:rPr>
              <a:t>API로만 쓸 수 있고 공개 가중치는 없습니다. 2026-09-29 기준 공개 모델은 jev-1.13.0 하나입니다</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출처: TypeSafe 문서 “Models”, “Jev 1.13 jaggedness”. 대기자 명단 필요 여부는 확인하지 못했습니다</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A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B6A0"/>
                </a:solidFill>
                <a:latin typeface="Arial" pitchFamily="34" charset="0"/>
                <a:ea typeface="Arial" pitchFamily="34" charset="-122"/>
                <a:cs typeface="Arial" pitchFamily="34" charset="-120"/>
              </a:rPr>
              <a:t>입문의 끝에서</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8F7"/>
                </a:solidFill>
                <a:latin typeface="Arial" pitchFamily="34" charset="0"/>
                <a:ea typeface="Arial" pitchFamily="34" charset="-122"/>
                <a:cs typeface="Arial" pitchFamily="34" charset="-120"/>
              </a:rPr>
              <a:t>정리와 남은 질문</a:t>
            </a:r>
            <a:endParaRPr lang="en-US" sz="3200" dirty="0"/>
          </a:p>
        </p:txBody>
      </p:sp>
      <p:sp>
        <p:nvSpPr>
          <p:cNvPr id="4" name="Shape 2"/>
          <p:cNvSpPr/>
          <p:nvPr/>
        </p:nvSpPr>
        <p:spPr>
          <a:xfrm>
            <a:off x="838200" y="1813520"/>
            <a:ext cx="0" cy="742950"/>
          </a:xfrm>
          <a:prstGeom prst="line">
            <a:avLst/>
          </a:prstGeom>
          <a:noFill/>
          <a:ln w="50800">
            <a:solidFill>
              <a:srgbClr val="4DB6A0"/>
            </a:solidFill>
            <a:prstDash val="solid"/>
          </a:ln>
        </p:spPr>
      </p:sp>
      <p:sp>
        <p:nvSpPr>
          <p:cNvPr id="5" name="Text 3"/>
          <p:cNvSpPr/>
          <p:nvPr/>
        </p:nvSpPr>
        <p:spPr>
          <a:xfrm>
            <a:off x="1117600" y="1864320"/>
            <a:ext cx="105694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8F7"/>
                </a:solidFill>
                <a:latin typeface="Arial" pitchFamily="34" charset="0"/>
                <a:ea typeface="Arial" pitchFamily="34" charset="-122"/>
                <a:cs typeface="Arial" pitchFamily="34" charset="-120"/>
              </a:rPr>
              <a:t>문장 대신 판단을 돌려받는 모델</a:t>
            </a:r>
            <a:endParaRPr lang="en-US" sz="2000" dirty="0"/>
          </a:p>
        </p:txBody>
      </p:sp>
      <p:sp>
        <p:nvSpPr>
          <p:cNvPr id="6" name="Text 4"/>
          <p:cNvSpPr/>
          <p:nvPr/>
        </p:nvSpPr>
        <p:spPr>
          <a:xfrm>
            <a:off x="1117600" y="2219920"/>
            <a:ext cx="10569448"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CF2"/>
                </a:solidFill>
                <a:latin typeface="Arial" pitchFamily="34" charset="0"/>
                <a:ea typeface="Arial" pitchFamily="34" charset="-122"/>
                <a:cs typeface="Arial" pitchFamily="34" charset="-120"/>
              </a:rPr>
              <a:t>후보 위의 확률을 돌려주고, 답은 파싱 없이 조건식으로 들어갑니다</a:t>
            </a:r>
            <a:endParaRPr lang="en-US" sz="1500" dirty="0"/>
          </a:p>
        </p:txBody>
      </p:sp>
      <p:sp>
        <p:nvSpPr>
          <p:cNvPr id="7" name="Shape 5"/>
          <p:cNvSpPr/>
          <p:nvPr/>
        </p:nvSpPr>
        <p:spPr>
          <a:xfrm>
            <a:off x="838200" y="2683470"/>
            <a:ext cx="0" cy="742950"/>
          </a:xfrm>
          <a:prstGeom prst="line">
            <a:avLst/>
          </a:prstGeom>
          <a:noFill/>
          <a:ln w="50800">
            <a:solidFill>
              <a:srgbClr val="4DB6A0"/>
            </a:solidFill>
            <a:prstDash val="solid"/>
          </a:ln>
        </p:spPr>
      </p:sp>
      <p:sp>
        <p:nvSpPr>
          <p:cNvPr id="8" name="Text 6"/>
          <p:cNvSpPr/>
          <p:nvPr/>
        </p:nvSpPr>
        <p:spPr>
          <a:xfrm>
            <a:off x="1117600" y="2734270"/>
            <a:ext cx="105694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8F7"/>
                </a:solidFill>
                <a:latin typeface="Arial" pitchFamily="34" charset="0"/>
                <a:ea typeface="Arial" pitchFamily="34" charset="-122"/>
                <a:cs typeface="Arial" pitchFamily="34" charset="-120"/>
              </a:rPr>
              <a:t>질문을 설계하는 건 호출하는 쪽</a:t>
            </a:r>
            <a:endParaRPr lang="en-US" sz="2000" dirty="0"/>
          </a:p>
        </p:txBody>
      </p:sp>
      <p:sp>
        <p:nvSpPr>
          <p:cNvPr id="9" name="Text 7"/>
          <p:cNvSpPr/>
          <p:nvPr/>
        </p:nvSpPr>
        <p:spPr>
          <a:xfrm>
            <a:off x="1117600" y="3089870"/>
            <a:ext cx="10569448"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CF2"/>
                </a:solidFill>
                <a:latin typeface="Arial" pitchFamily="34" charset="0"/>
                <a:ea typeface="Arial" pitchFamily="34" charset="-122"/>
                <a:cs typeface="Arial" pitchFamily="34" charset="-120"/>
              </a:rPr>
              <a:t>후보, 질문 문장, 합치는 규칙, 동작은 전부 코드에 있습니다</a:t>
            </a:r>
            <a:endParaRPr lang="en-US" sz="1500" dirty="0"/>
          </a:p>
        </p:txBody>
      </p:sp>
      <p:sp>
        <p:nvSpPr>
          <p:cNvPr id="10" name="Shape 8"/>
          <p:cNvSpPr/>
          <p:nvPr/>
        </p:nvSpPr>
        <p:spPr>
          <a:xfrm>
            <a:off x="838200" y="3553420"/>
            <a:ext cx="0" cy="742950"/>
          </a:xfrm>
          <a:prstGeom prst="line">
            <a:avLst/>
          </a:prstGeom>
          <a:noFill/>
          <a:ln w="50800">
            <a:solidFill>
              <a:srgbClr val="4DB6A0"/>
            </a:solidFill>
            <a:prstDash val="solid"/>
          </a:ln>
        </p:spPr>
      </p:sp>
      <p:sp>
        <p:nvSpPr>
          <p:cNvPr id="11" name="Text 9"/>
          <p:cNvSpPr/>
          <p:nvPr/>
        </p:nvSpPr>
        <p:spPr>
          <a:xfrm>
            <a:off x="1117600" y="3604220"/>
            <a:ext cx="105694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8F7"/>
                </a:solidFill>
                <a:latin typeface="Arial" pitchFamily="34" charset="0"/>
                <a:ea typeface="Arial" pitchFamily="34" charset="-122"/>
                <a:cs typeface="Arial" pitchFamily="34" charset="-120"/>
              </a:rPr>
              <a:t>맞는 자리와 맞지 않는 자리</a:t>
            </a:r>
            <a:endParaRPr lang="en-US" sz="2000" dirty="0"/>
          </a:p>
        </p:txBody>
      </p:sp>
      <p:sp>
        <p:nvSpPr>
          <p:cNvPr id="12" name="Text 10"/>
          <p:cNvSpPr/>
          <p:nvPr/>
        </p:nvSpPr>
        <p:spPr>
          <a:xfrm>
            <a:off x="1117600" y="3959820"/>
            <a:ext cx="10569448"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CF2"/>
                </a:solidFill>
                <a:latin typeface="Arial" pitchFamily="34" charset="0"/>
                <a:ea typeface="Arial" pitchFamily="34" charset="-122"/>
                <a:cs typeface="Arial" pitchFamily="34" charset="-120"/>
              </a:rPr>
              <a:t>닫힌 답의 공간과 1초짜리 판단에는 맞고, 생성과 계산과 긴 추론에는 맞지 않습니다</a:t>
            </a:r>
            <a:endParaRPr lang="en-US" sz="1500" dirty="0"/>
          </a:p>
        </p:txBody>
      </p:sp>
      <p:sp>
        <p:nvSpPr>
          <p:cNvPr id="13" name="Shape 11"/>
          <p:cNvSpPr/>
          <p:nvPr/>
        </p:nvSpPr>
        <p:spPr>
          <a:xfrm>
            <a:off x="815975" y="4543425"/>
            <a:ext cx="10560050" cy="1295400"/>
          </a:xfrm>
          <a:prstGeom prst="roundRect">
            <a:avLst>
              <a:gd name="adj" fmla="val 7598"/>
            </a:avLst>
          </a:prstGeom>
          <a:solidFill>
            <a:srgbClr val="1B2638"/>
          </a:solidFill>
          <a:ln w="6350">
            <a:solidFill>
              <a:srgbClr val="2E3C52"/>
            </a:solidFill>
            <a:prstDash val="solid"/>
          </a:ln>
        </p:spPr>
      </p:sp>
      <p:sp>
        <p:nvSpPr>
          <p:cNvPr id="14" name="Text 12"/>
          <p:cNvSpPr/>
          <p:nvPr/>
        </p:nvSpPr>
        <p:spPr>
          <a:xfrm>
            <a:off x="1047750" y="4724400"/>
            <a:ext cx="1039939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CF2"/>
                </a:solidFill>
                <a:latin typeface="Arial" pitchFamily="34" charset="0"/>
                <a:ea typeface="Arial" pitchFamily="34" charset="-122"/>
                <a:cs typeface="Arial" pitchFamily="34" charset="-120"/>
              </a:rPr>
              <a:t>이 발표가 다루지 않은 질문: 문턱을 무엇으로 재야 하는지, 그 숫자가 틀렸다는 걸 무엇이 알려 주는지, 확신도가 높으면 사람 확인 없이 실행해도 되는지</a:t>
            </a:r>
            <a:endParaRPr lang="en-US" sz="1500" dirty="0"/>
          </a:p>
        </p:txBody>
      </p:sp>
      <p:sp>
        <p:nvSpPr>
          <p:cNvPr id="15" name="Text 13"/>
          <p:cNvSpPr/>
          <p:nvPr/>
        </p:nvSpPr>
        <p:spPr>
          <a:xfrm>
            <a:off x="1047750" y="5372100"/>
            <a:ext cx="10399395"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4DB6A0"/>
                </a:solidFill>
                <a:latin typeface="Arial" pitchFamily="34" charset="0"/>
                <a:ea typeface="Arial" pitchFamily="34" charset="-122"/>
                <a:cs typeface="Arial" pitchFamily="34" charset="-120"/>
              </a:rPr>
              <a:t>심화편 「확률을 돌려받는 순간, 틀렸다는 걸 알아낼 책임도 넘어왔다」가 이어받습니다</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Arial" pitchFamily="34" charset="0"/>
                <a:ea typeface="Arial" pitchFamily="34" charset="-122"/>
                <a:cs typeface="Arial" pitchFamily="34" charset="-120"/>
              </a:rPr>
              <a:t>자료 시점: 2026-09-29, 공개 모델 jev-1.13.0 하나 | 버전이 바뀌면 맞지 않는 자리는 달라질 수 있습니다</a:t>
            </a:r>
            <a:endParaRPr lang="en-US" sz="1200" dirty="0"/>
          </a:p>
        </p:txBody>
      </p:sp>
    </p:spTree>
  </p:cSld>
  <p:clrMapOvr>
    <a:masterClrMapping/>
  </p:clrMapOvr>
</p:sld>
</file>

<file path=ppt/theme/theme1.xml><?xml version="1.0" encoding="utf-8"?>
<a:theme xmlns:a="http://schemas.openxmlformats.org/drawingml/2006/main" name="Jev 입문 발표">
  <a:themeElements>
    <a:clrScheme name="Jev 입문 발표">
      <a:dk1>
        <a:srgbClr val="1B2533"/>
      </a:dk1>
      <a:lt1>
        <a:srgbClr val="F6F8F7"/>
      </a:lt1>
      <a:dk2>
        <a:srgbClr val="525A64"/>
      </a:dk2>
      <a:lt2>
        <a:srgbClr val="E0E3E3"/>
      </a:lt2>
      <a:accent1>
        <a:srgbClr val="117964"/>
      </a:accent1>
      <a:accent2>
        <a:srgbClr val="4DB6A0"/>
      </a:accent2>
      <a:accent3>
        <a:srgbClr val="F0A04B"/>
      </a:accent3>
      <a:accent4>
        <a:srgbClr val="A64B0B"/>
      </a:accent4>
      <a:accent5>
        <a:srgbClr val="7FB8AB"/>
      </a:accent5>
      <a:accent6>
        <a:srgbClr val="4A5568"/>
      </a:accent6>
      <a:hlink>
        <a:srgbClr val="0563C1"/>
      </a:hlink>
      <a:folHlink>
        <a:srgbClr val="954F72"/>
      </a:folHlink>
    </a:clrScheme>
    <a:fontScheme name="Jev 입문 발표">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Jev 입문 발표</dc:title>
  <dc:subject/>
  <dc:creator/>
  <cp:lastModifiedBy/>
  <cp:revision>1</cp:revision>
  <dcterms:created xsi:type="dcterms:W3CDTF">2026-10-06T05:34:00Z</dcterms:created>
  <dcterms:modified xsi:type="dcterms:W3CDTF">2026-10-06T05:34:00Z</dcterms:modified>
</cp:coreProperties>
</file>